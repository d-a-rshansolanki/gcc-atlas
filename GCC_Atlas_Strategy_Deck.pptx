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Build a source-of-truth workflow, not simply a company list. First user: GCC-facing service-provider GTM teams; design partners: market-entry advisers. All market facts are dated and linked in the final source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Market baseline from Nasscom–Zinnov report FY2026: 2,117 GCCs across 3,728 units; $98.4B revenue and 2.36M professionals. JLL reported about 31 million sq ft of GCC leasing in calendar 2025. The 200+ entry figure is JLL-reported across the last two years. These measures describe different things and should not be added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claim that the ecosystem has no data. The problem is inconsistent definitions, no joinable entity model, ambiguous statuses, limited provenance and disconnected workflows. Measure the pain during discovery rather than inventing a monetary cost-of-information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single source-of-truth product serves multiple parties but should not start with all of them. Prioritise one recurring workflow for an initial buyer, while maintaining an open evidence layer that other stakeholders can reuse.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KPMG FY2024 published 1,700 GCCs and over 2,975 centres. The FY2026 Nasscom–Zinnov report has 2,117 GCCs across 3,728 units. The numbers move over time and use distinct entities. New commercial sites also publish different coverage claims. The product should model this rather than flatten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start with public signals and source-backed entities. Location and policy comparison is an adjacent workflow. Provider quality requires independent evidence. Cost benchmarks should only follow when data can be sourced and normalised. Marketplace comes after trust, not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user choice is a product strategy hypothesis. Service providers are potential repeat buyers because they prospect GCC accounts. Existing direct competitors prove that GCC intelligence has demand but also make generic listing data hard to differentiate. The wedge must emphasize signal-level provenance, status transitions, workflow, and linked location/provider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prototype contains functional navigation, filters, signal details, source links, confidence/caveat display, city comparison, provider directory and a local AI research brief. A live model can be configured in the optional server using the operator’s own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Competition checked against vendor pages as of October 2026: Bamboo Reports markets GCC GTM/account intelligence; GCC Index markets public-signal tracking; Sansovi offers a directory and profiles. ANSR is a GCC setup/operations provider. Do not claim “no competitors”; compete through evidence lineage, joined operating decisions and independent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architecture is proposed, not implemented by the static demo: fetch/ingestion, structured extraction, entity resolution, evidence graph, human review and retrieval-augmented generation. The optional server demonstrates source-context injection for AI summaries, but the default demo remains deterministic and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 public directory/market definitions build reach and correction loops. Provider-facing teams pay for alerts, segmentation, saved workspaces, exports and AI briefs. Later, corporate location diligence, custom research and APIs support larger contracts. Provider enhanced profiles may be paid but must be clearly labelled and must not change ranking.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GTM experiment: first month discovers the true workflow, second month ships the narrow product and human QA loop, third month tests value with actual account work and paid pilots. Set target thresholds after baseline; do not present prototype performance as production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sample is grounded in the Invest Telangana page dated 16 April 2026, which reports Protolabs will establish a Hyderabad GCC scaling to 200–300 employees. It is an announced plan, not verified actual hiring. The provider-needs step is a hypothesis and should be qualified before outreach.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list and URLs are shown in the source register and in the prototype Sources &amp; Method section. The market thesis intentionally treats source disagreement as part of the product problem. The product should retain multiple claims with as-of dates and scope rather than silently harmonise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7F8"/>
        </a:solidFill>
      </p:bgPr>
    </p:bg>
    <p:spTree>
      <p:nvGrpSpPr>
        <p:cNvPr id="1" name=""/>
        <p:cNvGrpSpPr/>
        <p:nvPr/>
      </p:nvGrpSpPr>
      <p:grpSpPr>
        <a:xfrm>
          <a:off x="0" y="0"/>
          <a:ext cx="0" cy="0"/>
          <a:chOff x="0" y="0"/>
          <a:chExt cx="0" cy="0"/>
        </a:xfrm>
      </p:grpSpPr>
      <p:sp>
        <p:nvSpPr>
          <p:cNvPr id="2" name="Shape 0"/>
          <p:cNvSpPr/>
          <p:nvPr/>
        </p:nvSpPr>
        <p:spPr>
          <a:xfrm>
            <a:off x="502920" y="6510528"/>
            <a:ext cx="11201400" cy="0"/>
          </a:xfrm>
          <a:prstGeom prst="line">
            <a:avLst/>
          </a:prstGeom>
          <a:noFill/>
          <a:ln w="8890">
            <a:solidFill>
              <a:srgbClr val="DDE5EA"/>
            </a:solidFill>
            <a:prstDash val="solid"/>
          </a:ln>
        </p:spPr>
      </p:sp>
      <p:sp>
        <p:nvSpPr>
          <p:cNvPr id="3" name="Text 1"/>
          <p:cNvSpPr/>
          <p:nvPr/>
        </p:nvSpPr>
        <p:spPr>
          <a:xfrm>
            <a:off x="530352" y="6565392"/>
            <a:ext cx="4206240" cy="146304"/>
          </a:xfrm>
          <a:prstGeom prst="rect">
            <a:avLst/>
          </a:prstGeom>
          <a:noFill/>
          <a:ln/>
        </p:spPr>
        <p:txBody>
          <a:bodyPr wrap="square" lIns="0" tIns="0" rIns="0" bIns="0" rtlCol="0" anchor="ctr"/>
          <a:lstStyle/>
          <a:p>
            <a:pPr indent="0" marL="0">
              <a:buNone/>
            </a:pPr>
            <a:r>
              <a:rPr lang="en-US" sz="750" spc="110" kern="0" dirty="0">
                <a:solidFill>
                  <a:srgbClr val="728195"/>
                </a:solidFill>
                <a:latin typeface="Aptos" pitchFamily="34" charset="0"/>
                <a:ea typeface="Aptos" pitchFamily="34" charset="-122"/>
                <a:cs typeface="Aptos" pitchFamily="34" charset="-120"/>
              </a:rPr>
              <a:t>GCC ATLAS  /  PRODUCT STRATEGY</a:t>
            </a:r>
            <a:endParaRPr lang="en-US" sz="750" dirty="0"/>
          </a:p>
        </p:txBody>
      </p:sp>
      <p:sp>
        <p:nvSpPr>
          <p:cNvPr id="4" name="Text 2"/>
          <p:cNvSpPr/>
          <p:nvPr/>
        </p:nvSpPr>
        <p:spPr>
          <a:xfrm>
            <a:off x="10012680" y="6565392"/>
            <a:ext cx="1143000" cy="146304"/>
          </a:xfrm>
          <a:prstGeom prst="rect">
            <a:avLst/>
          </a:prstGeom>
          <a:noFill/>
          <a:ln/>
        </p:spPr>
        <p:txBody>
          <a:bodyPr wrap="square" lIns="0" tIns="0" rIns="0" bIns="0" rtlCol="0" anchor="ctr"/>
          <a:lstStyle/>
          <a:p>
            <a:pPr algn="r" indent="0" marL="0">
              <a:buNone/>
            </a:pPr>
            <a:r>
              <a:rPr lang="en-US" sz="750" spc="100" kern="0" dirty="0">
                <a:solidFill>
                  <a:srgbClr val="728195"/>
                </a:solidFill>
                <a:latin typeface="Aptos" pitchFamily="34" charset="0"/>
                <a:ea typeface="Aptos" pitchFamily="34" charset="-122"/>
                <a:cs typeface="Aptos" pitchFamily="34" charset="-120"/>
              </a:rPr>
              <a:t>OCTOBER 2026</a:t>
            </a:r>
            <a:endParaRPr lang="en-US" sz="75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invest.telangana.gov.in/hyderabad-emerging-as-global-hub-for-advanced-engineering-digital-manufacturing-minister-sridhar-babu/" TargetMode="External"/><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zinnov.com/centers-of-excellence/zinnov-nasscom-india-gcc-landscape-2026-report/" TargetMode="External"/><Relationship Id="rId2" Type="http://schemas.openxmlformats.org/officeDocument/2006/relationships/hyperlink" Target="https://www.jll.com/en-in/newsroom/india-s-gcc-expansion-hits-record-31-million" TargetMode="External"/><Relationship Id="rId3" Type="http://schemas.openxmlformats.org/officeDocument/2006/relationships/hyperlink" Target="https://www.jll.com/en-in/newsroom/india-s-office-market-scales-unprecedented-highs-with-gross-leasing-activity-at-83-3-million-sq-ft-for-the-year-2025-jll" TargetMode="External"/><Relationship Id="rId4" Type="http://schemas.openxmlformats.org/officeDocument/2006/relationships/hyperlink" Target="https://kpmg.com/in/en/insights/2025/09/gccs-in-india-key-tax-insights.html" TargetMode="External"/><Relationship Id="rId5" Type="http://schemas.openxmlformats.org/officeDocument/2006/relationships/hyperlink" Target="https://www.cbre.co.in/press-releases/leasing-by-global-capability-centres-hits-an-all-time-high-crossing-29-mn-sq-ft-in-cy-2024" TargetMode="External"/><Relationship Id="rId6" Type="http://schemas.openxmlformats.org/officeDocument/2006/relationships/hyperlink" Target="https://dst.gujarat.gov.in/Home/GujaratGlobalCapabilityCenter" TargetMode="External"/><Relationship Id="rId7" Type="http://schemas.openxmlformats.org/officeDocument/2006/relationships/hyperlink" Target="https://invest.telangana.gov.in/hyderabad-emerging-as-global-hub-for-advanced-engineering-digital-manufacturing-minister-sridhar-babu/" TargetMode="External"/><Relationship Id="rId8" Type="http://schemas.openxmlformats.org/officeDocument/2006/relationships/hyperlink" Target="https://timesofindia.indiatimes.com/city/hyderabad/investments-in-hyderabad-gccs-vaccine-rd-facilities-announced-at-bioasia-2026/amp_articleshow/128470415.cms" TargetMode="External"/><Relationship Id="rId9" Type="http://schemas.openxmlformats.org/officeDocument/2006/relationships/hyperlink" Target="https://news.cognizant.com/Citizens-Financial-Group-Partners-with-Cognizant-to-Open-Global-Capability-Center-in-Hyderabad" TargetMode="External"/><Relationship Id="rId10" Type="http://schemas.openxmlformats.org/officeDocument/2006/relationships/hyperlink" Target="https://bambooreports.com/" TargetMode="External"/><Relationship Id="rId11" Type="http://schemas.openxmlformats.org/officeDocument/2006/relationships/hyperlink" Target="https://gccindex.in/about" TargetMode="External"/><Relationship Id="rId12" Type="http://schemas.openxmlformats.org/officeDocument/2006/relationships/hyperlink" Target="https://www.sansovi.com/gcc/" TargetMode="External"/><Relationship Id="rId13" Type="http://schemas.openxmlformats.org/officeDocument/2006/relationships/hyperlink" Target="https://ansr.com/about-us/" TargetMode="External"/><Relationship Id="rId14" Type="http://schemas.openxmlformats.org/officeDocument/2006/relationships/hyperlink" Target="https://www.mercer.com/en-in/solutions/talent-and-rewards/GCCPay/" TargetMode="External"/><Relationship Id="rId15" Type="http://schemas.openxmlformats.org/officeDocument/2006/relationships/slideLayout" Target="../slideLayouts/slideLayout2.xml"/><Relationship Id="rId16"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D31"/>
        </a:solidFill>
      </p:bgPr>
    </p:bg>
    <p:spTree>
      <p:nvGrpSpPr>
        <p:cNvPr id="1" name=""/>
        <p:cNvGrpSpPr/>
        <p:nvPr/>
      </p:nvGrpSpPr>
      <p:grpSpPr>
        <a:xfrm>
          <a:off x="0" y="0"/>
          <a:ext cx="0" cy="0"/>
          <a:chOff x="0" y="0"/>
          <a:chExt cx="0" cy="0"/>
        </a:xfrm>
      </p:grpSpPr>
      <p:sp>
        <p:nvSpPr>
          <p:cNvPr id="2" name="Shape 0"/>
          <p:cNvSpPr/>
          <p:nvPr/>
        </p:nvSpPr>
        <p:spPr>
          <a:xfrm>
            <a:off x="621792" y="530352"/>
            <a:ext cx="438912" cy="438912"/>
          </a:xfrm>
          <a:prstGeom prst="roundRect">
            <a:avLst>
              <a:gd name="adj" fmla="val 20833"/>
            </a:avLst>
          </a:prstGeom>
          <a:solidFill>
            <a:srgbClr val="00A994"/>
          </a:solidFill>
          <a:ln w="10160">
            <a:solidFill>
              <a:srgbClr val="00A994">
                <a:alpha val="0"/>
              </a:srgbClr>
            </a:solidFill>
            <a:prstDash val="solid"/>
          </a:ln>
        </p:spPr>
      </p:sp>
      <p:sp>
        <p:nvSpPr>
          <p:cNvPr id="3" name="Text 1"/>
          <p:cNvSpPr/>
          <p:nvPr/>
        </p:nvSpPr>
        <p:spPr>
          <a:xfrm>
            <a:off x="621792" y="530352"/>
            <a:ext cx="438912" cy="438912"/>
          </a:xfrm>
          <a:prstGeom prst="rect">
            <a:avLst/>
          </a:prstGeom>
          <a:noFill/>
          <a:ln/>
        </p:spPr>
        <p:txBody>
          <a:bodyPr wrap="square" lIns="0" tIns="0" rIns="0" bIns="0" rtlCol="0" anchor="ctr">
            <a:normAutofit/>
          </a:bodyPr>
          <a:lstStyle/>
          <a:p>
            <a:pPr algn="ctr" indent="0" marL="0">
              <a:buNone/>
            </a:pPr>
            <a:r>
              <a:rPr lang="en-US" sz="2400" b="1" dirty="0">
                <a:solidFill>
                  <a:srgbClr val="101D31"/>
                </a:solidFill>
                <a:latin typeface="Aptos" pitchFamily="34" charset="0"/>
                <a:ea typeface="Aptos" pitchFamily="34" charset="-122"/>
                <a:cs typeface="Aptos" pitchFamily="34" charset="-120"/>
              </a:rPr>
              <a:t>G</a:t>
            </a:r>
            <a:endParaRPr lang="en-US" sz="2400" dirty="0"/>
          </a:p>
        </p:txBody>
      </p:sp>
      <p:sp>
        <p:nvSpPr>
          <p:cNvPr id="4" name="Text 2"/>
          <p:cNvSpPr/>
          <p:nvPr/>
        </p:nvSpPr>
        <p:spPr>
          <a:xfrm>
            <a:off x="1188720" y="557784"/>
            <a:ext cx="2103120" cy="164592"/>
          </a:xfrm>
          <a:prstGeom prst="rect">
            <a:avLst/>
          </a:prstGeom>
          <a:noFill/>
          <a:ln/>
        </p:spPr>
        <p:txBody>
          <a:bodyPr wrap="square" lIns="0" tIns="0" rIns="0" bIns="0" rtlCol="0" anchor="ctr">
            <a:normAutofit/>
          </a:bodyPr>
          <a:lstStyle/>
          <a:p>
            <a:pPr algn="l" indent="0" marL="0">
              <a:buNone/>
            </a:pPr>
            <a:r>
              <a:rPr lang="en-US" sz="1150" b="1" spc="200" kern="0" dirty="0">
                <a:solidFill>
                  <a:srgbClr val="FFFFFF"/>
                </a:solidFill>
                <a:latin typeface="Aptos" pitchFamily="34" charset="0"/>
                <a:ea typeface="Aptos" pitchFamily="34" charset="-122"/>
                <a:cs typeface="Aptos" pitchFamily="34" charset="-120"/>
              </a:rPr>
              <a:t>GCC ATLAS</a:t>
            </a:r>
            <a:endParaRPr lang="en-US" sz="1150" dirty="0"/>
          </a:p>
        </p:txBody>
      </p:sp>
      <p:sp>
        <p:nvSpPr>
          <p:cNvPr id="5" name="Text 3"/>
          <p:cNvSpPr/>
          <p:nvPr/>
        </p:nvSpPr>
        <p:spPr>
          <a:xfrm>
            <a:off x="1188720" y="758952"/>
            <a:ext cx="2926080" cy="146304"/>
          </a:xfrm>
          <a:prstGeom prst="rect">
            <a:avLst/>
          </a:prstGeom>
          <a:noFill/>
          <a:ln/>
        </p:spPr>
        <p:txBody>
          <a:bodyPr wrap="square" lIns="0" tIns="0" rIns="0" bIns="0" rtlCol="0" anchor="ctr">
            <a:normAutofit/>
          </a:bodyPr>
          <a:lstStyle/>
          <a:p>
            <a:pPr algn="l" indent="0" marL="0">
              <a:buNone/>
            </a:pPr>
            <a:r>
              <a:rPr lang="en-US" sz="750" spc="140" kern="0" dirty="0">
                <a:solidFill>
                  <a:srgbClr val="A9BBCF"/>
                </a:solidFill>
                <a:latin typeface="Aptos" pitchFamily="34" charset="0"/>
                <a:ea typeface="Aptos" pitchFamily="34" charset="-122"/>
                <a:cs typeface="Aptos" pitchFamily="34" charset="-120"/>
              </a:rPr>
              <a:t>INDIA GCC INTELLIGENCE</a:t>
            </a:r>
            <a:endParaRPr lang="en-US" sz="750" dirty="0"/>
          </a:p>
        </p:txBody>
      </p:sp>
      <p:sp>
        <p:nvSpPr>
          <p:cNvPr id="6" name="Shape 4"/>
          <p:cNvSpPr/>
          <p:nvPr/>
        </p:nvSpPr>
        <p:spPr>
          <a:xfrm>
            <a:off x="640080" y="1463040"/>
            <a:ext cx="2423160" cy="237744"/>
          </a:xfrm>
          <a:prstGeom prst="roundRect">
            <a:avLst>
              <a:gd name="adj" fmla="val 38462"/>
            </a:avLst>
          </a:prstGeom>
          <a:solidFill>
            <a:srgbClr val="20394A"/>
          </a:solidFill>
          <a:ln w="10160">
            <a:solidFill>
              <a:srgbClr val="20394A">
                <a:alpha val="0"/>
              </a:srgbClr>
            </a:solidFill>
            <a:prstDash val="solid"/>
          </a:ln>
        </p:spPr>
      </p:sp>
      <p:sp>
        <p:nvSpPr>
          <p:cNvPr id="7" name="Text 5"/>
          <p:cNvSpPr/>
          <p:nvPr/>
        </p:nvSpPr>
        <p:spPr>
          <a:xfrm>
            <a:off x="704088" y="1481328"/>
            <a:ext cx="2295144" cy="173736"/>
          </a:xfrm>
          <a:prstGeom prst="rect">
            <a:avLst/>
          </a:prstGeom>
          <a:noFill/>
          <a:ln/>
        </p:spPr>
        <p:txBody>
          <a:bodyPr wrap="square" lIns="0" tIns="0" rIns="0" bIns="0" rtlCol="0" anchor="ctr">
            <a:normAutofit/>
          </a:bodyPr>
          <a:lstStyle/>
          <a:p>
            <a:pPr algn="ctr" indent="0" marL="0">
              <a:buNone/>
            </a:pPr>
            <a:r>
              <a:rPr lang="en-US" sz="780" b="1" dirty="0">
                <a:solidFill>
                  <a:srgbClr val="91F0DF"/>
                </a:solidFill>
                <a:latin typeface="Aptos" pitchFamily="34" charset="0"/>
                <a:ea typeface="Aptos" pitchFamily="34" charset="-122"/>
                <a:cs typeface="Aptos" pitchFamily="34" charset="-120"/>
              </a:rPr>
              <a:t>PRODUCT STRATEGY  /  OCTOBER 2026</a:t>
            </a:r>
            <a:endParaRPr lang="en-US" sz="780" dirty="0"/>
          </a:p>
        </p:txBody>
      </p:sp>
      <p:sp>
        <p:nvSpPr>
          <p:cNvPr id="8" name="Text 6"/>
          <p:cNvSpPr/>
          <p:nvPr/>
        </p:nvSpPr>
        <p:spPr>
          <a:xfrm>
            <a:off x="640080" y="1938528"/>
            <a:ext cx="6400800" cy="1389888"/>
          </a:xfrm>
          <a:prstGeom prst="rect">
            <a:avLst/>
          </a:prstGeom>
          <a:noFill/>
          <a:ln/>
        </p:spPr>
        <p:txBody>
          <a:bodyPr wrap="square" lIns="0" tIns="0" rIns="0" bIns="0" rtlCol="0" anchor="ctr">
            <a:normAutofit/>
          </a:bodyPr>
          <a:lstStyle/>
          <a:p>
            <a:pPr algn="l" indent="0" marL="0">
              <a:buNone/>
            </a:pPr>
            <a:r>
              <a:rPr lang="en-US" sz="3300" b="1" dirty="0">
                <a:solidFill>
                  <a:srgbClr val="FFFFFF"/>
                </a:solidFill>
                <a:latin typeface="Aptos Display" pitchFamily="34" charset="0"/>
                <a:ea typeface="Aptos Display" pitchFamily="34" charset="-122"/>
                <a:cs typeface="Aptos Display" pitchFamily="34" charset="-120"/>
              </a:rPr>
              <a:t>From fragmented signals</a:t>
            </a:r>
            <a:endParaRPr lang="en-US" sz="3300" dirty="0"/>
          </a:p>
          <a:p>
            <a:pPr algn="l" indent="0" marL="0">
              <a:buNone/>
            </a:pPr>
            <a:r>
              <a:rPr lang="en-US" sz="3300" b="1" dirty="0">
                <a:solidFill>
                  <a:srgbClr val="FFFFFF"/>
                </a:solidFill>
                <a:latin typeface="Aptos Display" pitchFamily="34" charset="0"/>
                <a:ea typeface="Aptos Display" pitchFamily="34" charset="-122"/>
                <a:cs typeface="Aptos Display" pitchFamily="34" charset="-120"/>
              </a:rPr>
              <a:t>to confident decisions.</a:t>
            </a:r>
            <a:endParaRPr lang="en-US" sz="3300" dirty="0"/>
          </a:p>
        </p:txBody>
      </p:sp>
      <p:sp>
        <p:nvSpPr>
          <p:cNvPr id="9" name="Text 7"/>
          <p:cNvSpPr/>
          <p:nvPr/>
        </p:nvSpPr>
        <p:spPr>
          <a:xfrm>
            <a:off x="667512" y="3584448"/>
            <a:ext cx="5349240" cy="685800"/>
          </a:xfrm>
          <a:prstGeom prst="rect">
            <a:avLst/>
          </a:prstGeom>
          <a:noFill/>
          <a:ln/>
        </p:spPr>
        <p:txBody>
          <a:bodyPr wrap="square" lIns="0" tIns="0" rIns="0" bIns="0" rtlCol="0" anchor="ctr">
            <a:normAutofit/>
          </a:bodyPr>
          <a:lstStyle/>
          <a:p>
            <a:pPr algn="l" indent="0" marL="0">
              <a:lnSpc>
                <a:spcPct val="118000"/>
              </a:lnSpc>
              <a:buNone/>
            </a:pPr>
            <a:r>
              <a:rPr lang="en-US" sz="1500" dirty="0">
                <a:solidFill>
                  <a:srgbClr val="B6C7D8"/>
                </a:solidFill>
                <a:latin typeface="Aptos" pitchFamily="34" charset="0"/>
                <a:ea typeface="Aptos" pitchFamily="34" charset="-122"/>
                <a:cs typeface="Aptos" pitchFamily="34" charset="-120"/>
              </a:rPr>
              <a:t>A source-linked intelligence workspace for the companies building, serving and studying India’s Global Capability Centres.</a:t>
            </a:r>
            <a:endParaRPr lang="en-US" sz="1500" dirty="0"/>
          </a:p>
        </p:txBody>
      </p:sp>
      <p:sp>
        <p:nvSpPr>
          <p:cNvPr id="10" name="Shape 8"/>
          <p:cNvSpPr/>
          <p:nvPr/>
        </p:nvSpPr>
        <p:spPr>
          <a:xfrm>
            <a:off x="667512" y="4709160"/>
            <a:ext cx="4498848" cy="0"/>
          </a:xfrm>
          <a:prstGeom prst="line">
            <a:avLst/>
          </a:prstGeom>
          <a:noFill/>
          <a:ln w="12700">
            <a:solidFill>
              <a:srgbClr val="3A4F67"/>
            </a:solidFill>
            <a:prstDash val="solid"/>
            <a:headEnd type="none"/>
            <a:tailEnd type="none"/>
          </a:ln>
        </p:spPr>
      </p:sp>
      <p:sp>
        <p:nvSpPr>
          <p:cNvPr id="11" name="Text 9"/>
          <p:cNvSpPr/>
          <p:nvPr/>
        </p:nvSpPr>
        <p:spPr>
          <a:xfrm>
            <a:off x="667512" y="4956048"/>
            <a:ext cx="1005840" cy="146304"/>
          </a:xfrm>
          <a:prstGeom prst="rect">
            <a:avLst/>
          </a:prstGeom>
          <a:noFill/>
          <a:ln/>
        </p:spPr>
        <p:txBody>
          <a:bodyPr wrap="square" lIns="0" tIns="0" rIns="0" bIns="0" rtlCol="0" anchor="ctr">
            <a:normAutofit/>
          </a:bodyPr>
          <a:lstStyle/>
          <a:p>
            <a:pPr algn="l" indent="0" marL="0">
              <a:buNone/>
            </a:pPr>
            <a:r>
              <a:rPr lang="en-US" sz="800" b="1" spc="160" kern="0" dirty="0">
                <a:solidFill>
                  <a:srgbClr val="6DDBCA"/>
                </a:solidFill>
                <a:latin typeface="Aptos" pitchFamily="34" charset="0"/>
                <a:ea typeface="Aptos" pitchFamily="34" charset="-122"/>
                <a:cs typeface="Aptos" pitchFamily="34" charset="-120"/>
              </a:rPr>
              <a:t>THE THESIS</a:t>
            </a:r>
            <a:endParaRPr lang="en-US" sz="800" dirty="0"/>
          </a:p>
        </p:txBody>
      </p:sp>
      <p:sp>
        <p:nvSpPr>
          <p:cNvPr id="12" name="Text 10"/>
          <p:cNvSpPr/>
          <p:nvPr/>
        </p:nvSpPr>
        <p:spPr>
          <a:xfrm>
            <a:off x="667512" y="5212080"/>
            <a:ext cx="5074920" cy="621792"/>
          </a:xfrm>
          <a:prstGeom prst="rect">
            <a:avLst/>
          </a:prstGeom>
          <a:noFill/>
          <a:ln/>
        </p:spPr>
        <p:txBody>
          <a:bodyPr wrap="square" lIns="0" tIns="0" rIns="0" bIns="0" rtlCol="0" anchor="ctr">
            <a:normAutofit/>
          </a:bodyPr>
          <a:lstStyle/>
          <a:p>
            <a:pPr algn="l" indent="0" marL="0">
              <a:buNone/>
            </a:pPr>
            <a:r>
              <a:rPr lang="en-US" sz="1400" b="1" dirty="0">
                <a:solidFill>
                  <a:srgbClr val="FFFFFF"/>
                </a:solidFill>
                <a:latin typeface="Aptos" pitchFamily="34" charset="0"/>
                <a:ea typeface="Aptos" pitchFamily="34" charset="-122"/>
                <a:cs typeface="Aptos" pitchFamily="34" charset="-120"/>
              </a:rPr>
              <a:t>Don’t sell another directory. Build the evidence layer behind market-entry and ecosystem decisions.</a:t>
            </a:r>
            <a:endParaRPr lang="en-US" sz="1400" dirty="0"/>
          </a:p>
        </p:txBody>
      </p:sp>
      <p:sp>
        <p:nvSpPr>
          <p:cNvPr id="13" name="Shape 11"/>
          <p:cNvSpPr/>
          <p:nvPr/>
        </p:nvSpPr>
        <p:spPr>
          <a:xfrm>
            <a:off x="8595360" y="2084832"/>
            <a:ext cx="1325880" cy="246888"/>
          </a:xfrm>
          <a:prstGeom prst="line">
            <a:avLst/>
          </a:prstGeom>
          <a:noFill/>
          <a:ln w="19050">
            <a:solidFill>
              <a:srgbClr val="2F8C8A"/>
            </a:solidFill>
            <a:prstDash val="solid"/>
            <a:headEnd type="none"/>
            <a:tailEnd type="none"/>
          </a:ln>
        </p:spPr>
      </p:sp>
      <p:sp>
        <p:nvSpPr>
          <p:cNvPr id="14" name="Shape 12"/>
          <p:cNvSpPr/>
          <p:nvPr/>
        </p:nvSpPr>
        <p:spPr>
          <a:xfrm>
            <a:off x="9921240" y="3081528"/>
            <a:ext cx="-1508760" cy="256032"/>
          </a:xfrm>
          <a:prstGeom prst="line">
            <a:avLst/>
          </a:prstGeom>
          <a:noFill/>
          <a:ln w="19050">
            <a:solidFill>
              <a:srgbClr val="2F8C8A"/>
            </a:solidFill>
            <a:prstDash val="solid"/>
            <a:headEnd type="none"/>
            <a:tailEnd type="none"/>
          </a:ln>
        </p:spPr>
      </p:sp>
      <p:sp>
        <p:nvSpPr>
          <p:cNvPr id="15" name="Shape 13"/>
          <p:cNvSpPr/>
          <p:nvPr/>
        </p:nvSpPr>
        <p:spPr>
          <a:xfrm>
            <a:off x="9372600" y="4087368"/>
            <a:ext cx="1005840" cy="347472"/>
          </a:xfrm>
          <a:prstGeom prst="line">
            <a:avLst/>
          </a:prstGeom>
          <a:noFill/>
          <a:ln w="19050">
            <a:solidFill>
              <a:srgbClr val="2F8C8A"/>
            </a:solidFill>
            <a:prstDash val="solid"/>
            <a:headEnd type="none"/>
            <a:tailEnd type="none"/>
          </a:ln>
        </p:spPr>
      </p:sp>
      <p:sp>
        <p:nvSpPr>
          <p:cNvPr id="16" name="Shape 14"/>
          <p:cNvSpPr/>
          <p:nvPr/>
        </p:nvSpPr>
        <p:spPr>
          <a:xfrm>
            <a:off x="7406640" y="1335024"/>
            <a:ext cx="2057400" cy="749808"/>
          </a:xfrm>
          <a:prstGeom prst="roundRect">
            <a:avLst>
              <a:gd name="adj" fmla="val 12195"/>
            </a:avLst>
          </a:prstGeom>
          <a:solidFill>
            <a:srgbClr val="1A3048"/>
          </a:solidFill>
          <a:ln w="8890">
            <a:solidFill>
              <a:srgbClr val="2F5165"/>
            </a:solidFill>
            <a:prstDash val="solid"/>
          </a:ln>
        </p:spPr>
      </p:sp>
      <p:sp>
        <p:nvSpPr>
          <p:cNvPr id="17" name="Shape 15"/>
          <p:cNvSpPr/>
          <p:nvPr/>
        </p:nvSpPr>
        <p:spPr>
          <a:xfrm>
            <a:off x="7552944" y="1508760"/>
            <a:ext cx="109728" cy="109728"/>
          </a:xfrm>
          <a:prstGeom prst="ellipse">
            <a:avLst/>
          </a:prstGeom>
          <a:solidFill>
            <a:srgbClr val="6DDBCA"/>
          </a:solidFill>
          <a:ln w="12700">
            <a:solidFill>
              <a:srgbClr val="6DDBCA">
                <a:alpha val="0"/>
              </a:srgbClr>
            </a:solidFill>
            <a:prstDash val="solid"/>
          </a:ln>
        </p:spPr>
      </p:sp>
      <p:sp>
        <p:nvSpPr>
          <p:cNvPr id="18" name="Text 16"/>
          <p:cNvSpPr/>
          <p:nvPr/>
        </p:nvSpPr>
        <p:spPr>
          <a:xfrm>
            <a:off x="7754112" y="1472184"/>
            <a:ext cx="1600200"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PUBLIC SIGNALS</a:t>
            </a:r>
            <a:endParaRPr lang="en-US" sz="900" dirty="0"/>
          </a:p>
        </p:txBody>
      </p:sp>
      <p:sp>
        <p:nvSpPr>
          <p:cNvPr id="19" name="Text 17"/>
          <p:cNvSpPr/>
          <p:nvPr/>
        </p:nvSpPr>
        <p:spPr>
          <a:xfrm>
            <a:off x="7754112" y="1737360"/>
            <a:ext cx="1600200" cy="155448"/>
          </a:xfrm>
          <a:prstGeom prst="rect">
            <a:avLst/>
          </a:prstGeom>
          <a:noFill/>
          <a:ln/>
        </p:spPr>
        <p:txBody>
          <a:bodyPr wrap="square" lIns="0" tIns="0" rIns="0" bIns="0" rtlCol="0" anchor="ctr">
            <a:normAutofit/>
          </a:bodyPr>
          <a:lstStyle/>
          <a:p>
            <a:pPr algn="l" indent="0" marL="0">
              <a:buNone/>
            </a:pPr>
            <a:r>
              <a:rPr lang="en-US" sz="800" dirty="0">
                <a:solidFill>
                  <a:srgbClr val="A8BED0"/>
                </a:solidFill>
                <a:latin typeface="Aptos" pitchFamily="34" charset="0"/>
                <a:ea typeface="Aptos" pitchFamily="34" charset="-122"/>
                <a:cs typeface="Aptos" pitchFamily="34" charset="-120"/>
              </a:rPr>
              <a:t>announcements · filings</a:t>
            </a:r>
            <a:endParaRPr lang="en-US" sz="800" dirty="0"/>
          </a:p>
        </p:txBody>
      </p:sp>
      <p:sp>
        <p:nvSpPr>
          <p:cNvPr id="20" name="Shape 18"/>
          <p:cNvSpPr/>
          <p:nvPr/>
        </p:nvSpPr>
        <p:spPr>
          <a:xfrm>
            <a:off x="9619488" y="2331720"/>
            <a:ext cx="1965960" cy="749808"/>
          </a:xfrm>
          <a:prstGeom prst="roundRect">
            <a:avLst>
              <a:gd name="adj" fmla="val 12195"/>
            </a:avLst>
          </a:prstGeom>
          <a:solidFill>
            <a:srgbClr val="1A3048"/>
          </a:solidFill>
          <a:ln w="8890">
            <a:solidFill>
              <a:srgbClr val="2F5165"/>
            </a:solidFill>
            <a:prstDash val="solid"/>
          </a:ln>
        </p:spPr>
      </p:sp>
      <p:sp>
        <p:nvSpPr>
          <p:cNvPr id="21" name="Shape 19"/>
          <p:cNvSpPr/>
          <p:nvPr/>
        </p:nvSpPr>
        <p:spPr>
          <a:xfrm>
            <a:off x="9765792" y="2505456"/>
            <a:ext cx="109728" cy="109728"/>
          </a:xfrm>
          <a:prstGeom prst="ellipse">
            <a:avLst/>
          </a:prstGeom>
          <a:solidFill>
            <a:srgbClr val="6DDBCA"/>
          </a:solidFill>
          <a:ln w="12700">
            <a:solidFill>
              <a:srgbClr val="6DDBCA">
                <a:alpha val="0"/>
              </a:srgbClr>
            </a:solidFill>
            <a:prstDash val="solid"/>
          </a:ln>
        </p:spPr>
      </p:sp>
      <p:sp>
        <p:nvSpPr>
          <p:cNvPr id="22" name="Text 20"/>
          <p:cNvSpPr/>
          <p:nvPr/>
        </p:nvSpPr>
        <p:spPr>
          <a:xfrm>
            <a:off x="9966960" y="2468880"/>
            <a:ext cx="1508760"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ENTITY GRAPH</a:t>
            </a:r>
            <a:endParaRPr lang="en-US" sz="900" dirty="0"/>
          </a:p>
        </p:txBody>
      </p:sp>
      <p:sp>
        <p:nvSpPr>
          <p:cNvPr id="23" name="Text 21"/>
          <p:cNvSpPr/>
          <p:nvPr/>
        </p:nvSpPr>
        <p:spPr>
          <a:xfrm>
            <a:off x="9966960" y="2734056"/>
            <a:ext cx="1508760" cy="155448"/>
          </a:xfrm>
          <a:prstGeom prst="rect">
            <a:avLst/>
          </a:prstGeom>
          <a:noFill/>
          <a:ln/>
        </p:spPr>
        <p:txBody>
          <a:bodyPr wrap="square" lIns="0" tIns="0" rIns="0" bIns="0" rtlCol="0" anchor="ctr">
            <a:normAutofit/>
          </a:bodyPr>
          <a:lstStyle/>
          <a:p>
            <a:pPr algn="l" indent="0" marL="0">
              <a:buNone/>
            </a:pPr>
            <a:r>
              <a:rPr lang="en-US" sz="800" dirty="0">
                <a:solidFill>
                  <a:srgbClr val="A8BED0"/>
                </a:solidFill>
                <a:latin typeface="Aptos" pitchFamily="34" charset="0"/>
                <a:ea typeface="Aptos" pitchFamily="34" charset="-122"/>
                <a:cs typeface="Aptos" pitchFamily="34" charset="-120"/>
              </a:rPr>
              <a:t>company · unit · site</a:t>
            </a:r>
            <a:endParaRPr lang="en-US" sz="800" dirty="0"/>
          </a:p>
        </p:txBody>
      </p:sp>
      <p:sp>
        <p:nvSpPr>
          <p:cNvPr id="24" name="Shape 22"/>
          <p:cNvSpPr/>
          <p:nvPr/>
        </p:nvSpPr>
        <p:spPr>
          <a:xfrm>
            <a:off x="7269480" y="3337560"/>
            <a:ext cx="2157984" cy="749808"/>
          </a:xfrm>
          <a:prstGeom prst="roundRect">
            <a:avLst>
              <a:gd name="adj" fmla="val 12195"/>
            </a:avLst>
          </a:prstGeom>
          <a:solidFill>
            <a:srgbClr val="1A3048"/>
          </a:solidFill>
          <a:ln w="8890">
            <a:solidFill>
              <a:srgbClr val="2F5165"/>
            </a:solidFill>
            <a:prstDash val="solid"/>
          </a:ln>
        </p:spPr>
      </p:sp>
      <p:sp>
        <p:nvSpPr>
          <p:cNvPr id="25" name="Shape 23"/>
          <p:cNvSpPr/>
          <p:nvPr/>
        </p:nvSpPr>
        <p:spPr>
          <a:xfrm>
            <a:off x="7415784" y="3511296"/>
            <a:ext cx="109728" cy="109728"/>
          </a:xfrm>
          <a:prstGeom prst="ellipse">
            <a:avLst/>
          </a:prstGeom>
          <a:solidFill>
            <a:srgbClr val="6DDBCA"/>
          </a:solidFill>
          <a:ln w="12700">
            <a:solidFill>
              <a:srgbClr val="6DDBCA">
                <a:alpha val="0"/>
              </a:srgbClr>
            </a:solidFill>
            <a:prstDash val="solid"/>
          </a:ln>
        </p:spPr>
      </p:sp>
      <p:sp>
        <p:nvSpPr>
          <p:cNvPr id="26" name="Text 24"/>
          <p:cNvSpPr/>
          <p:nvPr/>
        </p:nvSpPr>
        <p:spPr>
          <a:xfrm>
            <a:off x="7616952" y="3474720"/>
            <a:ext cx="1700784"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PROVENANCE</a:t>
            </a:r>
            <a:endParaRPr lang="en-US" sz="900" dirty="0"/>
          </a:p>
        </p:txBody>
      </p:sp>
      <p:sp>
        <p:nvSpPr>
          <p:cNvPr id="27" name="Text 25"/>
          <p:cNvSpPr/>
          <p:nvPr/>
        </p:nvSpPr>
        <p:spPr>
          <a:xfrm>
            <a:off x="7616952" y="3739896"/>
            <a:ext cx="1700784" cy="155448"/>
          </a:xfrm>
          <a:prstGeom prst="rect">
            <a:avLst/>
          </a:prstGeom>
          <a:noFill/>
          <a:ln/>
        </p:spPr>
        <p:txBody>
          <a:bodyPr wrap="square" lIns="0" tIns="0" rIns="0" bIns="0" rtlCol="0" anchor="ctr">
            <a:normAutofit/>
          </a:bodyPr>
          <a:lstStyle/>
          <a:p>
            <a:pPr algn="l" indent="0" marL="0">
              <a:buNone/>
            </a:pPr>
            <a:r>
              <a:rPr lang="en-US" sz="800" dirty="0">
                <a:solidFill>
                  <a:srgbClr val="A8BED0"/>
                </a:solidFill>
                <a:latin typeface="Aptos" pitchFamily="34" charset="0"/>
                <a:ea typeface="Aptos" pitchFamily="34" charset="-122"/>
                <a:cs typeface="Aptos" pitchFamily="34" charset="-120"/>
              </a:rPr>
              <a:t>source · date · confidence</a:t>
            </a:r>
            <a:endParaRPr lang="en-US" sz="800" dirty="0"/>
          </a:p>
        </p:txBody>
      </p:sp>
      <p:sp>
        <p:nvSpPr>
          <p:cNvPr id="28" name="Shape 26"/>
          <p:cNvSpPr/>
          <p:nvPr/>
        </p:nvSpPr>
        <p:spPr>
          <a:xfrm>
            <a:off x="9491472" y="4434840"/>
            <a:ext cx="2148840" cy="749808"/>
          </a:xfrm>
          <a:prstGeom prst="roundRect">
            <a:avLst>
              <a:gd name="adj" fmla="val 12195"/>
            </a:avLst>
          </a:prstGeom>
          <a:solidFill>
            <a:srgbClr val="1A3048"/>
          </a:solidFill>
          <a:ln w="8890">
            <a:solidFill>
              <a:srgbClr val="2F5165"/>
            </a:solidFill>
            <a:prstDash val="solid"/>
          </a:ln>
        </p:spPr>
      </p:sp>
      <p:sp>
        <p:nvSpPr>
          <p:cNvPr id="29" name="Shape 27"/>
          <p:cNvSpPr/>
          <p:nvPr/>
        </p:nvSpPr>
        <p:spPr>
          <a:xfrm>
            <a:off x="9637776" y="4608576"/>
            <a:ext cx="109728" cy="109728"/>
          </a:xfrm>
          <a:prstGeom prst="ellipse">
            <a:avLst/>
          </a:prstGeom>
          <a:solidFill>
            <a:srgbClr val="6DDBCA"/>
          </a:solidFill>
          <a:ln w="12700">
            <a:solidFill>
              <a:srgbClr val="6DDBCA">
                <a:alpha val="0"/>
              </a:srgbClr>
            </a:solidFill>
            <a:prstDash val="solid"/>
          </a:ln>
        </p:spPr>
      </p:sp>
      <p:sp>
        <p:nvSpPr>
          <p:cNvPr id="30" name="Text 28"/>
          <p:cNvSpPr/>
          <p:nvPr/>
        </p:nvSpPr>
        <p:spPr>
          <a:xfrm>
            <a:off x="9838944" y="4572000"/>
            <a:ext cx="1691640" cy="201168"/>
          </a:xfrm>
          <a:prstGeom prst="rect">
            <a:avLst/>
          </a:prstGeom>
          <a:noFill/>
          <a:ln/>
        </p:spPr>
        <p:txBody>
          <a:bodyPr wrap="square" lIns="0" tIns="0" rIns="0" bIns="0" rtlCol="0" anchor="ctr">
            <a:normAutofit/>
          </a:bodyPr>
          <a:lstStyle/>
          <a:p>
            <a:pPr algn="l" indent="0" marL="0">
              <a:buNone/>
            </a:pPr>
            <a:r>
              <a:rPr lang="en-US" sz="900" b="1" spc="50" kern="0" dirty="0">
                <a:solidFill>
                  <a:srgbClr val="FFFFFF"/>
                </a:solidFill>
                <a:latin typeface="Aptos" pitchFamily="34" charset="0"/>
                <a:ea typeface="Aptos" pitchFamily="34" charset="-122"/>
                <a:cs typeface="Aptos" pitchFamily="34" charset="-120"/>
              </a:rPr>
              <a:t>DECISION WORKSPACE</a:t>
            </a:r>
            <a:endParaRPr lang="en-US" sz="900" dirty="0"/>
          </a:p>
        </p:txBody>
      </p:sp>
      <p:sp>
        <p:nvSpPr>
          <p:cNvPr id="31" name="Text 29"/>
          <p:cNvSpPr/>
          <p:nvPr/>
        </p:nvSpPr>
        <p:spPr>
          <a:xfrm>
            <a:off x="9838944" y="4837176"/>
            <a:ext cx="1691640" cy="155448"/>
          </a:xfrm>
          <a:prstGeom prst="rect">
            <a:avLst/>
          </a:prstGeom>
          <a:noFill/>
          <a:ln/>
        </p:spPr>
        <p:txBody>
          <a:bodyPr wrap="square" lIns="0" tIns="0" rIns="0" bIns="0" rtlCol="0" anchor="ctr">
            <a:normAutofit/>
          </a:bodyPr>
          <a:lstStyle/>
          <a:p>
            <a:pPr algn="l" indent="0" marL="0">
              <a:buNone/>
            </a:pPr>
            <a:r>
              <a:rPr lang="en-US" sz="800" dirty="0">
                <a:solidFill>
                  <a:srgbClr val="A8BED0"/>
                </a:solidFill>
                <a:latin typeface="Aptos" pitchFamily="34" charset="0"/>
                <a:ea typeface="Aptos" pitchFamily="34" charset="-122"/>
                <a:cs typeface="Aptos" pitchFamily="34" charset="-120"/>
              </a:rPr>
              <a:t>where · who · why now</a:t>
            </a:r>
            <a:endParaRPr lang="en-US" sz="800" dirty="0"/>
          </a:p>
        </p:txBody>
      </p:sp>
      <p:sp>
        <p:nvSpPr>
          <p:cNvPr id="32" name="Text 30"/>
          <p:cNvSpPr/>
          <p:nvPr/>
        </p:nvSpPr>
        <p:spPr>
          <a:xfrm>
            <a:off x="658368" y="6419088"/>
            <a:ext cx="7772400" cy="146304"/>
          </a:xfrm>
          <a:prstGeom prst="rect">
            <a:avLst/>
          </a:prstGeom>
          <a:noFill/>
          <a:ln/>
        </p:spPr>
        <p:txBody>
          <a:bodyPr wrap="square" lIns="0" tIns="0" rIns="0" bIns="0" rtlCol="0" anchor="ctr">
            <a:normAutofit/>
          </a:bodyPr>
          <a:lstStyle/>
          <a:p>
            <a:pPr algn="l" indent="0" marL="0">
              <a:buNone/>
            </a:pPr>
            <a:r>
              <a:rPr lang="en-US" sz="750" spc="110" kern="0" dirty="0">
                <a:solidFill>
                  <a:srgbClr val="8298B1"/>
                </a:solidFill>
                <a:latin typeface="Aptos" pitchFamily="34" charset="0"/>
                <a:ea typeface="Aptos" pitchFamily="34" charset="-122"/>
                <a:cs typeface="Aptos" pitchFamily="34" charset="-120"/>
              </a:rPr>
              <a:t>PREPARED BY DARSHAN SOLANKI  •  PRODUCT STRATEGY + WORKING PROTOTYPE</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01 · WHY NOW</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A $98.4B ecosystem is scaling faster than the information around it.</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The market has crossed the “interesting niche” threshold. Decision data has not yet become consistently comparable.</a:t>
            </a:r>
            <a:endParaRPr lang="en-US" sz="1120" dirty="0"/>
          </a:p>
        </p:txBody>
      </p:sp>
      <p:sp>
        <p:nvSpPr>
          <p:cNvPr id="5" name="Shape 3"/>
          <p:cNvSpPr/>
          <p:nvPr/>
        </p:nvSpPr>
        <p:spPr>
          <a:xfrm>
            <a:off x="585216" y="1709928"/>
            <a:ext cx="2633472" cy="1298448"/>
          </a:xfrm>
          <a:prstGeom prst="roundRect">
            <a:avLst>
              <a:gd name="adj" fmla="val 7042"/>
            </a:avLst>
          </a:prstGeom>
          <a:solidFill>
            <a:srgbClr val="FFFFFF"/>
          </a:solidFill>
          <a:ln w="8890">
            <a:solidFill>
              <a:srgbClr val="DEE6EC"/>
            </a:solidFill>
            <a:prstDash val="solid"/>
          </a:ln>
        </p:spPr>
      </p:sp>
      <p:sp>
        <p:nvSpPr>
          <p:cNvPr id="6" name="Text 4"/>
          <p:cNvSpPr/>
          <p:nvPr/>
        </p:nvSpPr>
        <p:spPr>
          <a:xfrm>
            <a:off x="749808" y="1901952"/>
            <a:ext cx="2286000" cy="393192"/>
          </a:xfrm>
          <a:prstGeom prst="rect">
            <a:avLst/>
          </a:prstGeom>
          <a:noFill/>
          <a:ln/>
        </p:spPr>
        <p:txBody>
          <a:bodyPr wrap="square" lIns="0" tIns="0" rIns="0" bIns="0" rtlCol="0" anchor="ctr">
            <a:normAutofit/>
          </a:bodyPr>
          <a:lstStyle/>
          <a:p>
            <a:pPr algn="l" indent="0" marL="0">
              <a:buNone/>
            </a:pPr>
            <a:r>
              <a:rPr lang="en-US" sz="2900" b="1" dirty="0">
                <a:solidFill>
                  <a:srgbClr val="17283F"/>
                </a:solidFill>
                <a:latin typeface="Aptos Display" pitchFamily="34" charset="0"/>
                <a:ea typeface="Aptos Display" pitchFamily="34" charset="-122"/>
                <a:cs typeface="Aptos Display" pitchFamily="34" charset="-120"/>
              </a:rPr>
              <a:t>2,117</a:t>
            </a:r>
            <a:endParaRPr lang="en-US" sz="2900" dirty="0"/>
          </a:p>
        </p:txBody>
      </p:sp>
      <p:sp>
        <p:nvSpPr>
          <p:cNvPr id="7" name="Text 5"/>
          <p:cNvSpPr/>
          <p:nvPr/>
        </p:nvSpPr>
        <p:spPr>
          <a:xfrm>
            <a:off x="749808" y="2395728"/>
            <a:ext cx="2331720" cy="201168"/>
          </a:xfrm>
          <a:prstGeom prst="rect">
            <a:avLst/>
          </a:prstGeom>
          <a:noFill/>
          <a:ln/>
        </p:spPr>
        <p:txBody>
          <a:bodyPr wrap="square" lIns="0" tIns="0" rIns="0" bIns="0" rtlCol="0" anchor="ctr">
            <a:normAutofit/>
          </a:bodyPr>
          <a:lstStyle/>
          <a:p>
            <a:pPr algn="l" indent="0" marL="0">
              <a:buNone/>
            </a:pPr>
            <a:r>
              <a:rPr lang="en-US" sz="1050" b="1" dirty="0">
                <a:solidFill>
                  <a:srgbClr val="00A994"/>
                </a:solidFill>
                <a:latin typeface="Aptos" pitchFamily="34" charset="0"/>
                <a:ea typeface="Aptos" pitchFamily="34" charset="-122"/>
                <a:cs typeface="Aptos" pitchFamily="34" charset="-120"/>
              </a:rPr>
              <a:t>GCCs in India</a:t>
            </a:r>
            <a:endParaRPr lang="en-US" sz="1050" dirty="0"/>
          </a:p>
        </p:txBody>
      </p:sp>
      <p:sp>
        <p:nvSpPr>
          <p:cNvPr id="8" name="Text 6"/>
          <p:cNvSpPr/>
          <p:nvPr/>
        </p:nvSpPr>
        <p:spPr>
          <a:xfrm>
            <a:off x="749808" y="2651760"/>
            <a:ext cx="2359152" cy="228600"/>
          </a:xfrm>
          <a:prstGeom prst="rect">
            <a:avLst/>
          </a:prstGeom>
          <a:noFill/>
          <a:ln/>
        </p:spPr>
        <p:txBody>
          <a:bodyPr wrap="square" lIns="0" tIns="0" rIns="0" bIns="0" rtlCol="0" anchor="ctr">
            <a:normAutofit/>
          </a:bodyPr>
          <a:lstStyle/>
          <a:p>
            <a:pPr algn="l" indent="0" marL="0">
              <a:buNone/>
            </a:pPr>
            <a:r>
              <a:rPr lang="en-US" sz="810" dirty="0">
                <a:solidFill>
                  <a:srgbClr val="718196"/>
                </a:solidFill>
                <a:latin typeface="Aptos" pitchFamily="34" charset="0"/>
                <a:ea typeface="Aptos" pitchFamily="34" charset="-122"/>
                <a:cs typeface="Aptos" pitchFamily="34" charset="-120"/>
              </a:rPr>
              <a:t>FY2026 · company-level count</a:t>
            </a:r>
            <a:endParaRPr lang="en-US" sz="810" dirty="0"/>
          </a:p>
        </p:txBody>
      </p:sp>
      <p:sp>
        <p:nvSpPr>
          <p:cNvPr id="9" name="Shape 7"/>
          <p:cNvSpPr/>
          <p:nvPr/>
        </p:nvSpPr>
        <p:spPr>
          <a:xfrm>
            <a:off x="3447288" y="1709928"/>
            <a:ext cx="2633472" cy="1298448"/>
          </a:xfrm>
          <a:prstGeom prst="roundRect">
            <a:avLst>
              <a:gd name="adj" fmla="val 7042"/>
            </a:avLst>
          </a:prstGeom>
          <a:solidFill>
            <a:srgbClr val="FFFFFF"/>
          </a:solidFill>
          <a:ln w="8890">
            <a:solidFill>
              <a:srgbClr val="DEE6EC"/>
            </a:solidFill>
            <a:prstDash val="solid"/>
          </a:ln>
        </p:spPr>
      </p:sp>
      <p:sp>
        <p:nvSpPr>
          <p:cNvPr id="10" name="Text 8"/>
          <p:cNvSpPr/>
          <p:nvPr/>
        </p:nvSpPr>
        <p:spPr>
          <a:xfrm>
            <a:off x="3611880" y="1901952"/>
            <a:ext cx="2286000" cy="393192"/>
          </a:xfrm>
          <a:prstGeom prst="rect">
            <a:avLst/>
          </a:prstGeom>
          <a:noFill/>
          <a:ln/>
        </p:spPr>
        <p:txBody>
          <a:bodyPr wrap="square" lIns="0" tIns="0" rIns="0" bIns="0" rtlCol="0" anchor="ctr">
            <a:normAutofit/>
          </a:bodyPr>
          <a:lstStyle/>
          <a:p>
            <a:pPr algn="l" indent="0" marL="0">
              <a:buNone/>
            </a:pPr>
            <a:r>
              <a:rPr lang="en-US" sz="2900" b="1" dirty="0">
                <a:solidFill>
                  <a:srgbClr val="17283F"/>
                </a:solidFill>
                <a:latin typeface="Aptos Display" pitchFamily="34" charset="0"/>
                <a:ea typeface="Aptos Display" pitchFamily="34" charset="-122"/>
                <a:cs typeface="Aptos Display" pitchFamily="34" charset="-120"/>
              </a:rPr>
              <a:t>3,728</a:t>
            </a:r>
            <a:endParaRPr lang="en-US" sz="2900" dirty="0"/>
          </a:p>
        </p:txBody>
      </p:sp>
      <p:sp>
        <p:nvSpPr>
          <p:cNvPr id="11" name="Text 9"/>
          <p:cNvSpPr/>
          <p:nvPr/>
        </p:nvSpPr>
        <p:spPr>
          <a:xfrm>
            <a:off x="3611880" y="2395728"/>
            <a:ext cx="2331720" cy="201168"/>
          </a:xfrm>
          <a:prstGeom prst="rect">
            <a:avLst/>
          </a:prstGeom>
          <a:noFill/>
          <a:ln/>
        </p:spPr>
        <p:txBody>
          <a:bodyPr wrap="square" lIns="0" tIns="0" rIns="0" bIns="0" rtlCol="0" anchor="ctr">
            <a:normAutofit/>
          </a:bodyPr>
          <a:lstStyle/>
          <a:p>
            <a:pPr algn="l" indent="0" marL="0">
              <a:buNone/>
            </a:pPr>
            <a:r>
              <a:rPr lang="en-US" sz="1050" b="1" dirty="0">
                <a:solidFill>
                  <a:srgbClr val="00A994"/>
                </a:solidFill>
                <a:latin typeface="Aptos" pitchFamily="34" charset="0"/>
                <a:ea typeface="Aptos" pitchFamily="34" charset="-122"/>
                <a:cs typeface="Aptos" pitchFamily="34" charset="-120"/>
              </a:rPr>
              <a:t>GCC units</a:t>
            </a:r>
            <a:endParaRPr lang="en-US" sz="1050" dirty="0"/>
          </a:p>
        </p:txBody>
      </p:sp>
      <p:sp>
        <p:nvSpPr>
          <p:cNvPr id="12" name="Text 10"/>
          <p:cNvSpPr/>
          <p:nvPr/>
        </p:nvSpPr>
        <p:spPr>
          <a:xfrm>
            <a:off x="3611880" y="2651760"/>
            <a:ext cx="2359152" cy="228600"/>
          </a:xfrm>
          <a:prstGeom prst="rect">
            <a:avLst/>
          </a:prstGeom>
          <a:noFill/>
          <a:ln/>
        </p:spPr>
        <p:txBody>
          <a:bodyPr wrap="square" lIns="0" tIns="0" rIns="0" bIns="0" rtlCol="0" anchor="ctr">
            <a:normAutofit/>
          </a:bodyPr>
          <a:lstStyle/>
          <a:p>
            <a:pPr algn="l" indent="0" marL="0">
              <a:buNone/>
            </a:pPr>
            <a:r>
              <a:rPr lang="en-US" sz="810" dirty="0">
                <a:solidFill>
                  <a:srgbClr val="718196"/>
                </a:solidFill>
                <a:latin typeface="Aptos" pitchFamily="34" charset="0"/>
                <a:ea typeface="Aptos" pitchFamily="34" charset="-122"/>
                <a:cs typeface="Aptos" pitchFamily="34" charset="-120"/>
              </a:rPr>
              <a:t>Multiple centres / units can sit under one GCC</a:t>
            </a:r>
            <a:endParaRPr lang="en-US" sz="810" dirty="0"/>
          </a:p>
        </p:txBody>
      </p:sp>
      <p:sp>
        <p:nvSpPr>
          <p:cNvPr id="13" name="Shape 11"/>
          <p:cNvSpPr/>
          <p:nvPr/>
        </p:nvSpPr>
        <p:spPr>
          <a:xfrm>
            <a:off x="6309360" y="1709928"/>
            <a:ext cx="2633472" cy="1298448"/>
          </a:xfrm>
          <a:prstGeom prst="roundRect">
            <a:avLst>
              <a:gd name="adj" fmla="val 7042"/>
            </a:avLst>
          </a:prstGeom>
          <a:solidFill>
            <a:srgbClr val="FFFFFF"/>
          </a:solidFill>
          <a:ln w="8890">
            <a:solidFill>
              <a:srgbClr val="DEE6EC"/>
            </a:solidFill>
            <a:prstDash val="solid"/>
          </a:ln>
        </p:spPr>
      </p:sp>
      <p:sp>
        <p:nvSpPr>
          <p:cNvPr id="14" name="Text 12"/>
          <p:cNvSpPr/>
          <p:nvPr/>
        </p:nvSpPr>
        <p:spPr>
          <a:xfrm>
            <a:off x="6473952" y="1901952"/>
            <a:ext cx="2286000" cy="393192"/>
          </a:xfrm>
          <a:prstGeom prst="rect">
            <a:avLst/>
          </a:prstGeom>
          <a:noFill/>
          <a:ln/>
        </p:spPr>
        <p:txBody>
          <a:bodyPr wrap="square" lIns="0" tIns="0" rIns="0" bIns="0" rtlCol="0" anchor="ctr">
            <a:normAutofit/>
          </a:bodyPr>
          <a:lstStyle/>
          <a:p>
            <a:pPr algn="l" indent="0" marL="0">
              <a:buNone/>
            </a:pPr>
            <a:r>
              <a:rPr lang="en-US" sz="2900" b="1" dirty="0">
                <a:solidFill>
                  <a:srgbClr val="17283F"/>
                </a:solidFill>
                <a:latin typeface="Aptos Display" pitchFamily="34" charset="0"/>
                <a:ea typeface="Aptos Display" pitchFamily="34" charset="-122"/>
                <a:cs typeface="Aptos Display" pitchFamily="34" charset="-120"/>
              </a:rPr>
              <a:t>$98.4B</a:t>
            </a:r>
            <a:endParaRPr lang="en-US" sz="2900" dirty="0"/>
          </a:p>
        </p:txBody>
      </p:sp>
      <p:sp>
        <p:nvSpPr>
          <p:cNvPr id="15" name="Text 13"/>
          <p:cNvSpPr/>
          <p:nvPr/>
        </p:nvSpPr>
        <p:spPr>
          <a:xfrm>
            <a:off x="6473952" y="2395728"/>
            <a:ext cx="2331720" cy="201168"/>
          </a:xfrm>
          <a:prstGeom prst="rect">
            <a:avLst/>
          </a:prstGeom>
          <a:noFill/>
          <a:ln/>
        </p:spPr>
        <p:txBody>
          <a:bodyPr wrap="square" lIns="0" tIns="0" rIns="0" bIns="0" rtlCol="0" anchor="ctr">
            <a:normAutofit/>
          </a:bodyPr>
          <a:lstStyle/>
          <a:p>
            <a:pPr algn="l" indent="0" marL="0">
              <a:buNone/>
            </a:pPr>
            <a:r>
              <a:rPr lang="en-US" sz="1050" b="1" dirty="0">
                <a:solidFill>
                  <a:srgbClr val="00A994"/>
                </a:solidFill>
                <a:latin typeface="Aptos" pitchFamily="34" charset="0"/>
                <a:ea typeface="Aptos" pitchFamily="34" charset="-122"/>
                <a:cs typeface="Aptos" pitchFamily="34" charset="-120"/>
              </a:rPr>
              <a:t>Market revenue</a:t>
            </a:r>
            <a:endParaRPr lang="en-US" sz="1050" dirty="0"/>
          </a:p>
        </p:txBody>
      </p:sp>
      <p:sp>
        <p:nvSpPr>
          <p:cNvPr id="16" name="Text 14"/>
          <p:cNvSpPr/>
          <p:nvPr/>
        </p:nvSpPr>
        <p:spPr>
          <a:xfrm>
            <a:off x="6473952" y="2651760"/>
            <a:ext cx="2359152" cy="228600"/>
          </a:xfrm>
          <a:prstGeom prst="rect">
            <a:avLst/>
          </a:prstGeom>
          <a:noFill/>
          <a:ln/>
        </p:spPr>
        <p:txBody>
          <a:bodyPr wrap="square" lIns="0" tIns="0" rIns="0" bIns="0" rtlCol="0" anchor="ctr">
            <a:normAutofit/>
          </a:bodyPr>
          <a:lstStyle/>
          <a:p>
            <a:pPr algn="l" indent="0" marL="0">
              <a:buNone/>
            </a:pPr>
            <a:r>
              <a:rPr lang="en-US" sz="810" dirty="0">
                <a:solidFill>
                  <a:srgbClr val="718196"/>
                </a:solidFill>
                <a:latin typeface="Aptos" pitchFamily="34" charset="0"/>
                <a:ea typeface="Aptos" pitchFamily="34" charset="-122"/>
                <a:cs typeface="Aptos" pitchFamily="34" charset="-120"/>
              </a:rPr>
              <a:t>FY2026 Nasscom–Zinnov estimate</a:t>
            </a:r>
            <a:endParaRPr lang="en-US" sz="810" dirty="0"/>
          </a:p>
        </p:txBody>
      </p:sp>
      <p:sp>
        <p:nvSpPr>
          <p:cNvPr id="17" name="Shape 15"/>
          <p:cNvSpPr/>
          <p:nvPr/>
        </p:nvSpPr>
        <p:spPr>
          <a:xfrm>
            <a:off x="9171432" y="1709928"/>
            <a:ext cx="2633472" cy="1298448"/>
          </a:xfrm>
          <a:prstGeom prst="roundRect">
            <a:avLst>
              <a:gd name="adj" fmla="val 7042"/>
            </a:avLst>
          </a:prstGeom>
          <a:solidFill>
            <a:srgbClr val="FFFFFF"/>
          </a:solidFill>
          <a:ln w="8890">
            <a:solidFill>
              <a:srgbClr val="DEE6EC"/>
            </a:solidFill>
            <a:prstDash val="solid"/>
          </a:ln>
        </p:spPr>
      </p:sp>
      <p:sp>
        <p:nvSpPr>
          <p:cNvPr id="18" name="Text 16"/>
          <p:cNvSpPr/>
          <p:nvPr/>
        </p:nvSpPr>
        <p:spPr>
          <a:xfrm>
            <a:off x="9336024" y="1901952"/>
            <a:ext cx="2286000" cy="393192"/>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31M sq. ft.</a:t>
            </a:r>
            <a:endParaRPr lang="en-US" sz="2500" dirty="0"/>
          </a:p>
        </p:txBody>
      </p:sp>
      <p:sp>
        <p:nvSpPr>
          <p:cNvPr id="19" name="Text 17"/>
          <p:cNvSpPr/>
          <p:nvPr/>
        </p:nvSpPr>
        <p:spPr>
          <a:xfrm>
            <a:off x="9336024" y="2395728"/>
            <a:ext cx="2331720" cy="201168"/>
          </a:xfrm>
          <a:prstGeom prst="rect">
            <a:avLst/>
          </a:prstGeom>
          <a:noFill/>
          <a:ln/>
        </p:spPr>
        <p:txBody>
          <a:bodyPr wrap="square" lIns="0" tIns="0" rIns="0" bIns="0" rtlCol="0" anchor="ctr">
            <a:normAutofit/>
          </a:bodyPr>
          <a:lstStyle/>
          <a:p>
            <a:pPr algn="l" indent="0" marL="0">
              <a:buNone/>
            </a:pPr>
            <a:r>
              <a:rPr lang="en-US" sz="1050" b="1" dirty="0">
                <a:solidFill>
                  <a:srgbClr val="00A994"/>
                </a:solidFill>
                <a:latin typeface="Aptos" pitchFamily="34" charset="0"/>
                <a:ea typeface="Aptos" pitchFamily="34" charset="-122"/>
                <a:cs typeface="Aptos" pitchFamily="34" charset="-120"/>
              </a:rPr>
              <a:t>GCC leasing in 2025</a:t>
            </a:r>
            <a:endParaRPr lang="en-US" sz="1050" dirty="0"/>
          </a:p>
        </p:txBody>
      </p:sp>
      <p:sp>
        <p:nvSpPr>
          <p:cNvPr id="20" name="Text 18"/>
          <p:cNvSpPr/>
          <p:nvPr/>
        </p:nvSpPr>
        <p:spPr>
          <a:xfrm>
            <a:off x="9336024" y="2651760"/>
            <a:ext cx="2359152" cy="228600"/>
          </a:xfrm>
          <a:prstGeom prst="rect">
            <a:avLst/>
          </a:prstGeom>
          <a:noFill/>
          <a:ln/>
        </p:spPr>
        <p:txBody>
          <a:bodyPr wrap="square" lIns="0" tIns="0" rIns="0" bIns="0" rtlCol="0" anchor="ctr">
            <a:normAutofit/>
          </a:bodyPr>
          <a:lstStyle/>
          <a:p>
            <a:pPr algn="l" indent="0" marL="0">
              <a:buNone/>
            </a:pPr>
            <a:r>
              <a:rPr lang="en-US" sz="810" dirty="0">
                <a:solidFill>
                  <a:srgbClr val="718196"/>
                </a:solidFill>
                <a:latin typeface="Aptos" pitchFamily="34" charset="0"/>
                <a:ea typeface="Aptos" pitchFamily="34" charset="-122"/>
                <a:cs typeface="Aptos" pitchFamily="34" charset="-120"/>
              </a:rPr>
              <a:t>Record annual volume reported by JLL</a:t>
            </a:r>
            <a:endParaRPr lang="en-US" sz="810" dirty="0"/>
          </a:p>
        </p:txBody>
      </p:sp>
      <p:sp>
        <p:nvSpPr>
          <p:cNvPr id="21" name="Shape 19"/>
          <p:cNvSpPr/>
          <p:nvPr/>
        </p:nvSpPr>
        <p:spPr>
          <a:xfrm>
            <a:off x="585216" y="3273552"/>
            <a:ext cx="6583680" cy="2468880"/>
          </a:xfrm>
          <a:prstGeom prst="roundRect">
            <a:avLst>
              <a:gd name="adj" fmla="val 3704"/>
            </a:avLst>
          </a:prstGeom>
          <a:solidFill>
            <a:srgbClr val="101D31"/>
          </a:solidFill>
          <a:ln w="8890">
            <a:solidFill>
              <a:srgbClr val="101D31"/>
            </a:solidFill>
            <a:prstDash val="solid"/>
          </a:ln>
        </p:spPr>
      </p:sp>
      <p:sp>
        <p:nvSpPr>
          <p:cNvPr id="22" name="Text 20"/>
          <p:cNvSpPr/>
          <p:nvPr/>
        </p:nvSpPr>
        <p:spPr>
          <a:xfrm>
            <a:off x="832104" y="3547872"/>
            <a:ext cx="2743200" cy="182880"/>
          </a:xfrm>
          <a:prstGeom prst="rect">
            <a:avLst/>
          </a:prstGeom>
          <a:noFill/>
          <a:ln/>
        </p:spPr>
        <p:txBody>
          <a:bodyPr wrap="square" lIns="0" tIns="0" rIns="0" bIns="0" rtlCol="0" anchor="ctr">
            <a:normAutofit/>
          </a:bodyPr>
          <a:lstStyle/>
          <a:p>
            <a:pPr algn="l" indent="0" marL="0">
              <a:buNone/>
            </a:pPr>
            <a:r>
              <a:rPr lang="en-US" sz="860" b="1" spc="150" kern="0" dirty="0">
                <a:solidFill>
                  <a:srgbClr val="6DDBCA"/>
                </a:solidFill>
                <a:latin typeface="Aptos" pitchFamily="34" charset="0"/>
                <a:ea typeface="Aptos" pitchFamily="34" charset="-122"/>
                <a:cs typeface="Aptos" pitchFamily="34" charset="-120"/>
              </a:rPr>
              <a:t>WHY THE WINDOW IS OPEN</a:t>
            </a:r>
            <a:endParaRPr lang="en-US" sz="860" dirty="0"/>
          </a:p>
        </p:txBody>
      </p:sp>
      <p:sp>
        <p:nvSpPr>
          <p:cNvPr id="23" name="Text 21"/>
          <p:cNvSpPr/>
          <p:nvPr/>
        </p:nvSpPr>
        <p:spPr>
          <a:xfrm>
            <a:off x="832104" y="3858768"/>
            <a:ext cx="5623560" cy="649224"/>
          </a:xfrm>
          <a:prstGeom prst="rect">
            <a:avLst/>
          </a:prstGeom>
          <a:noFill/>
          <a:ln/>
        </p:spPr>
        <p:txBody>
          <a:bodyPr wrap="square" lIns="0" tIns="0" rIns="0" bIns="0" rtlCol="0" anchor="ctr">
            <a:normAutofit/>
          </a:bodyPr>
          <a:lstStyle/>
          <a:p>
            <a:pPr algn="l" indent="0" marL="0">
              <a:buNone/>
            </a:pPr>
            <a:r>
              <a:rPr lang="en-US" sz="2200" b="1" dirty="0">
                <a:solidFill>
                  <a:srgbClr val="FFFFFF"/>
                </a:solidFill>
                <a:latin typeface="Aptos Display" pitchFamily="34" charset="0"/>
                <a:ea typeface="Aptos Display" pitchFamily="34" charset="-122"/>
                <a:cs typeface="Aptos Display" pitchFamily="34" charset="-120"/>
              </a:rPr>
              <a:t>GCC strategy is moving from low-cost delivery to enterprise capability.</a:t>
            </a:r>
            <a:endParaRPr lang="en-US" sz="2200" dirty="0"/>
          </a:p>
        </p:txBody>
      </p:sp>
      <p:sp>
        <p:nvSpPr>
          <p:cNvPr id="24" name="Text 22"/>
          <p:cNvSpPr/>
          <p:nvPr/>
        </p:nvSpPr>
        <p:spPr>
          <a:xfrm>
            <a:off x="859536" y="4736592"/>
            <a:ext cx="5669280" cy="585216"/>
          </a:xfrm>
          <a:prstGeom prst="rect">
            <a:avLst/>
          </a:prstGeom>
          <a:noFill/>
          <a:ln/>
        </p:spPr>
        <p:txBody>
          <a:bodyPr wrap="square" lIns="0" tIns="0" rIns="0" bIns="0" rtlCol="0" anchor="ctr">
            <a:normAutofit/>
          </a:bodyPr>
          <a:lstStyle/>
          <a:p>
            <a:pPr algn="l" indent="0" marL="0">
              <a:buNone/>
            </a:pPr>
            <a:r>
              <a:rPr lang="en-US" sz="1100" dirty="0">
                <a:solidFill>
                  <a:srgbClr val="C4D1DF"/>
                </a:solidFill>
                <a:latin typeface="Aptos" pitchFamily="34" charset="0"/>
                <a:ea typeface="Aptos" pitchFamily="34" charset="-122"/>
                <a:cs typeface="Aptos" pitchFamily="34" charset="-120"/>
              </a:rPr>
              <a:t>As operating mandates grow more specialised, a static company list is less useful than a continuously updated view of expansion, talent, city strengths and operating conditions.</a:t>
            </a:r>
            <a:endParaRPr lang="en-US" sz="1100" dirty="0"/>
          </a:p>
        </p:txBody>
      </p:sp>
      <p:sp>
        <p:nvSpPr>
          <p:cNvPr id="25" name="Shape 23"/>
          <p:cNvSpPr/>
          <p:nvPr/>
        </p:nvSpPr>
        <p:spPr>
          <a:xfrm>
            <a:off x="7543800" y="3355848"/>
            <a:ext cx="292608" cy="292608"/>
          </a:xfrm>
          <a:prstGeom prst="ellipse">
            <a:avLst/>
          </a:prstGeom>
          <a:solidFill>
            <a:srgbClr val="E2F7F3"/>
          </a:solidFill>
          <a:ln w="12700">
            <a:solidFill>
              <a:srgbClr val="E2F7F3">
                <a:alpha val="0"/>
              </a:srgbClr>
            </a:solidFill>
            <a:prstDash val="solid"/>
          </a:ln>
        </p:spPr>
      </p:sp>
      <p:sp>
        <p:nvSpPr>
          <p:cNvPr id="26" name="Text 24"/>
          <p:cNvSpPr/>
          <p:nvPr/>
        </p:nvSpPr>
        <p:spPr>
          <a:xfrm>
            <a:off x="7543800" y="3374136"/>
            <a:ext cx="292608" cy="201168"/>
          </a:xfrm>
          <a:prstGeom prst="rect">
            <a:avLst/>
          </a:prstGeom>
          <a:noFill/>
          <a:ln/>
        </p:spPr>
        <p:txBody>
          <a:bodyPr wrap="square" lIns="0" tIns="0" rIns="0" bIns="0" rtlCol="0" anchor="ctr">
            <a:normAutofit/>
          </a:bodyPr>
          <a:lstStyle/>
          <a:p>
            <a:pPr algn="ctr" indent="0" marL="0">
              <a:buNone/>
            </a:pPr>
            <a:r>
              <a:rPr lang="en-US" sz="800" b="1" dirty="0">
                <a:solidFill>
                  <a:srgbClr val="00A994"/>
                </a:solidFill>
                <a:latin typeface="Aptos" pitchFamily="34" charset="0"/>
                <a:ea typeface="Aptos" pitchFamily="34" charset="-122"/>
                <a:cs typeface="Aptos" pitchFamily="34" charset="-120"/>
              </a:rPr>
              <a:t>01</a:t>
            </a:r>
            <a:endParaRPr lang="en-US" sz="800" dirty="0"/>
          </a:p>
        </p:txBody>
      </p:sp>
      <p:sp>
        <p:nvSpPr>
          <p:cNvPr id="27" name="Text 25"/>
          <p:cNvSpPr/>
          <p:nvPr/>
        </p:nvSpPr>
        <p:spPr>
          <a:xfrm>
            <a:off x="7973568" y="3328416"/>
            <a:ext cx="3337560" cy="210312"/>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Activity compounds</a:t>
            </a:r>
            <a:endParaRPr lang="en-US" sz="1100" dirty="0"/>
          </a:p>
        </p:txBody>
      </p:sp>
      <p:sp>
        <p:nvSpPr>
          <p:cNvPr id="28" name="Text 26"/>
          <p:cNvSpPr/>
          <p:nvPr/>
        </p:nvSpPr>
        <p:spPr>
          <a:xfrm>
            <a:off x="7973568" y="3575304"/>
            <a:ext cx="3310128" cy="420624"/>
          </a:xfrm>
          <a:prstGeom prst="rect">
            <a:avLst/>
          </a:prstGeom>
          <a:noFill/>
          <a:ln/>
        </p:spPr>
        <p:txBody>
          <a:bodyPr wrap="square" lIns="0" tIns="0" rIns="0" bIns="0" rtlCol="0" anchor="ctr">
            <a:normAutofit/>
          </a:bodyPr>
          <a:lstStyle/>
          <a:p>
            <a:pPr algn="l" indent="0" marL="0">
              <a:buNone/>
            </a:pPr>
            <a:r>
              <a:rPr lang="en-US" sz="940" dirty="0">
                <a:solidFill>
                  <a:srgbClr val="718196"/>
                </a:solidFill>
                <a:latin typeface="Aptos" pitchFamily="34" charset="0"/>
                <a:ea typeface="Aptos" pitchFamily="34" charset="-122"/>
                <a:cs typeface="Aptos" pitchFamily="34" charset="-120"/>
              </a:rPr>
              <a:t>Over 200 new GCCs entered India in the last two years, per JLL.</a:t>
            </a:r>
            <a:endParaRPr lang="en-US" sz="940" dirty="0"/>
          </a:p>
        </p:txBody>
      </p:sp>
      <p:sp>
        <p:nvSpPr>
          <p:cNvPr id="29" name="Shape 27"/>
          <p:cNvSpPr/>
          <p:nvPr/>
        </p:nvSpPr>
        <p:spPr>
          <a:xfrm>
            <a:off x="7543800" y="4160520"/>
            <a:ext cx="292608" cy="292608"/>
          </a:xfrm>
          <a:prstGeom prst="ellipse">
            <a:avLst/>
          </a:prstGeom>
          <a:solidFill>
            <a:srgbClr val="E2F7F3"/>
          </a:solidFill>
          <a:ln w="12700">
            <a:solidFill>
              <a:srgbClr val="E2F7F3">
                <a:alpha val="0"/>
              </a:srgbClr>
            </a:solidFill>
            <a:prstDash val="solid"/>
          </a:ln>
        </p:spPr>
      </p:sp>
      <p:sp>
        <p:nvSpPr>
          <p:cNvPr id="30" name="Text 28"/>
          <p:cNvSpPr/>
          <p:nvPr/>
        </p:nvSpPr>
        <p:spPr>
          <a:xfrm>
            <a:off x="7543800" y="4178808"/>
            <a:ext cx="292608" cy="201168"/>
          </a:xfrm>
          <a:prstGeom prst="rect">
            <a:avLst/>
          </a:prstGeom>
          <a:noFill/>
          <a:ln/>
        </p:spPr>
        <p:txBody>
          <a:bodyPr wrap="square" lIns="0" tIns="0" rIns="0" bIns="0" rtlCol="0" anchor="ctr">
            <a:normAutofit/>
          </a:bodyPr>
          <a:lstStyle/>
          <a:p>
            <a:pPr algn="ctr" indent="0" marL="0">
              <a:buNone/>
            </a:pPr>
            <a:r>
              <a:rPr lang="en-US" sz="800" b="1" dirty="0">
                <a:solidFill>
                  <a:srgbClr val="00A994"/>
                </a:solidFill>
                <a:latin typeface="Aptos" pitchFamily="34" charset="0"/>
                <a:ea typeface="Aptos" pitchFamily="34" charset="-122"/>
                <a:cs typeface="Aptos" pitchFamily="34" charset="-120"/>
              </a:rPr>
              <a:t>02</a:t>
            </a:r>
            <a:endParaRPr lang="en-US" sz="800" dirty="0"/>
          </a:p>
        </p:txBody>
      </p:sp>
      <p:sp>
        <p:nvSpPr>
          <p:cNvPr id="31" name="Text 29"/>
          <p:cNvSpPr/>
          <p:nvPr/>
        </p:nvSpPr>
        <p:spPr>
          <a:xfrm>
            <a:off x="7973568" y="4133088"/>
            <a:ext cx="3337560" cy="210312"/>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Locations specialise</a:t>
            </a:r>
            <a:endParaRPr lang="en-US" sz="1100" dirty="0"/>
          </a:p>
        </p:txBody>
      </p:sp>
      <p:sp>
        <p:nvSpPr>
          <p:cNvPr id="32" name="Text 30"/>
          <p:cNvSpPr/>
          <p:nvPr/>
        </p:nvSpPr>
        <p:spPr>
          <a:xfrm>
            <a:off x="7973568" y="4379976"/>
            <a:ext cx="3310128" cy="420624"/>
          </a:xfrm>
          <a:prstGeom prst="rect">
            <a:avLst/>
          </a:prstGeom>
          <a:noFill/>
          <a:ln/>
        </p:spPr>
        <p:txBody>
          <a:bodyPr wrap="square" lIns="0" tIns="0" rIns="0" bIns="0" rtlCol="0" anchor="ctr">
            <a:normAutofit/>
          </a:bodyPr>
          <a:lstStyle/>
          <a:p>
            <a:pPr algn="l" indent="0" marL="0">
              <a:buNone/>
            </a:pPr>
            <a:r>
              <a:rPr lang="en-US" sz="940" dirty="0">
                <a:solidFill>
                  <a:srgbClr val="718196"/>
                </a:solidFill>
                <a:latin typeface="Aptos" pitchFamily="34" charset="0"/>
                <a:ea typeface="Aptos" pitchFamily="34" charset="-122"/>
                <a:cs typeface="Aptos" pitchFamily="34" charset="-120"/>
              </a:rPr>
              <a:t>Bengaluru leads on breadth; Hyderabad, Pune and Chennai have distinct vertical advantages.</a:t>
            </a:r>
            <a:endParaRPr lang="en-US" sz="940" dirty="0"/>
          </a:p>
        </p:txBody>
      </p:sp>
      <p:sp>
        <p:nvSpPr>
          <p:cNvPr id="33" name="Shape 31"/>
          <p:cNvSpPr/>
          <p:nvPr/>
        </p:nvSpPr>
        <p:spPr>
          <a:xfrm>
            <a:off x="7543800" y="4965192"/>
            <a:ext cx="292608" cy="292608"/>
          </a:xfrm>
          <a:prstGeom prst="ellipse">
            <a:avLst/>
          </a:prstGeom>
          <a:solidFill>
            <a:srgbClr val="E2F7F3"/>
          </a:solidFill>
          <a:ln w="12700">
            <a:solidFill>
              <a:srgbClr val="E2F7F3">
                <a:alpha val="0"/>
              </a:srgbClr>
            </a:solidFill>
            <a:prstDash val="solid"/>
          </a:ln>
        </p:spPr>
      </p:sp>
      <p:sp>
        <p:nvSpPr>
          <p:cNvPr id="34" name="Text 32"/>
          <p:cNvSpPr/>
          <p:nvPr/>
        </p:nvSpPr>
        <p:spPr>
          <a:xfrm>
            <a:off x="7543800" y="4983480"/>
            <a:ext cx="292608" cy="201168"/>
          </a:xfrm>
          <a:prstGeom prst="rect">
            <a:avLst/>
          </a:prstGeom>
          <a:noFill/>
          <a:ln/>
        </p:spPr>
        <p:txBody>
          <a:bodyPr wrap="square" lIns="0" tIns="0" rIns="0" bIns="0" rtlCol="0" anchor="ctr">
            <a:normAutofit/>
          </a:bodyPr>
          <a:lstStyle/>
          <a:p>
            <a:pPr algn="ctr" indent="0" marL="0">
              <a:buNone/>
            </a:pPr>
            <a:r>
              <a:rPr lang="en-US" sz="800" b="1" dirty="0">
                <a:solidFill>
                  <a:srgbClr val="00A994"/>
                </a:solidFill>
                <a:latin typeface="Aptos" pitchFamily="34" charset="0"/>
                <a:ea typeface="Aptos" pitchFamily="34" charset="-122"/>
                <a:cs typeface="Aptos" pitchFamily="34" charset="-120"/>
              </a:rPr>
              <a:t>03</a:t>
            </a:r>
            <a:endParaRPr lang="en-US" sz="800" dirty="0"/>
          </a:p>
        </p:txBody>
      </p:sp>
      <p:sp>
        <p:nvSpPr>
          <p:cNvPr id="35" name="Text 33"/>
          <p:cNvSpPr/>
          <p:nvPr/>
        </p:nvSpPr>
        <p:spPr>
          <a:xfrm>
            <a:off x="7973568" y="4937760"/>
            <a:ext cx="3337560" cy="210312"/>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Numbers need context</a:t>
            </a:r>
            <a:endParaRPr lang="en-US" sz="1100" dirty="0"/>
          </a:p>
        </p:txBody>
      </p:sp>
      <p:sp>
        <p:nvSpPr>
          <p:cNvPr id="36" name="Text 34"/>
          <p:cNvSpPr/>
          <p:nvPr/>
        </p:nvSpPr>
        <p:spPr>
          <a:xfrm>
            <a:off x="7973568" y="5184648"/>
            <a:ext cx="3310128" cy="420624"/>
          </a:xfrm>
          <a:prstGeom prst="rect">
            <a:avLst/>
          </a:prstGeom>
          <a:noFill/>
          <a:ln/>
        </p:spPr>
        <p:txBody>
          <a:bodyPr wrap="square" lIns="0" tIns="0" rIns="0" bIns="0" rtlCol="0" anchor="ctr">
            <a:normAutofit/>
          </a:bodyPr>
          <a:lstStyle/>
          <a:p>
            <a:pPr algn="l" indent="0" marL="0">
              <a:buNone/>
            </a:pPr>
            <a:r>
              <a:rPr lang="en-US" sz="940" dirty="0">
                <a:solidFill>
                  <a:srgbClr val="718196"/>
                </a:solidFill>
                <a:latin typeface="Aptos" pitchFamily="34" charset="0"/>
                <a:ea typeface="Aptos" pitchFamily="34" charset="-122"/>
                <a:cs typeface="Aptos" pitchFamily="34" charset="-120"/>
              </a:rPr>
              <a:t>Company count, centre count, office leasing and workforce are different units of analysis.</a:t>
            </a:r>
            <a:endParaRPr lang="en-US" sz="940" dirty="0"/>
          </a:p>
        </p:txBody>
      </p:sp>
      <p:sp>
        <p:nvSpPr>
          <p:cNvPr id="37" name="Text 35"/>
          <p:cNvSpPr/>
          <p:nvPr/>
        </p:nvSpPr>
        <p:spPr>
          <a:xfrm>
            <a:off x="621792" y="6099048"/>
            <a:ext cx="10789920" cy="192024"/>
          </a:xfrm>
          <a:prstGeom prst="rect">
            <a:avLst/>
          </a:prstGeom>
          <a:noFill/>
          <a:ln/>
        </p:spPr>
        <p:txBody>
          <a:bodyPr wrap="square" lIns="0" tIns="0" rIns="0" bIns="0" rtlCol="0" anchor="ctr">
            <a:normAutofit/>
          </a:bodyPr>
          <a:lstStyle/>
          <a:p>
            <a:pPr algn="l" indent="0" marL="0">
              <a:buNone/>
            </a:pPr>
            <a:r>
              <a:rPr lang="en-US" sz="730" i="1" dirty="0">
                <a:solidFill>
                  <a:srgbClr val="718196"/>
                </a:solidFill>
                <a:latin typeface="Aptos" pitchFamily="34" charset="0"/>
                <a:ea typeface="Aptos" pitchFamily="34" charset="-122"/>
                <a:cs typeface="Aptos" pitchFamily="34" charset="-120"/>
              </a:rPr>
              <a:t>Sources: S1 Nasscom–Zinnov FY2026 (published May 2026); S2 JLL India GCC Guide release (17 Feb 2026). Metrics use their stated periods / definitions.</a:t>
            </a:r>
            <a:endParaRPr lang="en-US" sz="73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02 · DEFINE THE PROBLEM</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The bottleneck is not information availability. It is trustworthy join-up.</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Government announcements, reports, filings and provider pages contain useful facts—but they do not share a common operating model.</a:t>
            </a:r>
            <a:endParaRPr lang="en-US" sz="1120" dirty="0"/>
          </a:p>
        </p:txBody>
      </p:sp>
      <p:sp>
        <p:nvSpPr>
          <p:cNvPr id="5" name="Shape 3"/>
          <p:cNvSpPr/>
          <p:nvPr/>
        </p:nvSpPr>
        <p:spPr>
          <a:xfrm>
            <a:off x="612648" y="1856232"/>
            <a:ext cx="1993392" cy="1938528"/>
          </a:xfrm>
          <a:prstGeom prst="roundRect">
            <a:avLst>
              <a:gd name="adj" fmla="val 4717"/>
            </a:avLst>
          </a:prstGeom>
          <a:solidFill>
            <a:srgbClr val="FFFFFF"/>
          </a:solidFill>
          <a:ln w="8890">
            <a:solidFill>
              <a:srgbClr val="DEE6EC"/>
            </a:solidFill>
            <a:prstDash val="solid"/>
          </a:ln>
        </p:spPr>
      </p:sp>
      <p:sp>
        <p:nvSpPr>
          <p:cNvPr id="6" name="Text 4"/>
          <p:cNvSpPr/>
          <p:nvPr/>
        </p:nvSpPr>
        <p:spPr>
          <a:xfrm>
            <a:off x="749808" y="2057400"/>
            <a:ext cx="1719072" cy="310896"/>
          </a:xfrm>
          <a:prstGeom prst="rect">
            <a:avLst/>
          </a:prstGeom>
          <a:noFill/>
          <a:ln/>
        </p:spPr>
        <p:txBody>
          <a:bodyPr wrap="square" lIns="0" tIns="0" rIns="0" bIns="0" rtlCol="0" anchor="ctr">
            <a:normAutofit/>
          </a:bodyPr>
          <a:lstStyle/>
          <a:p>
            <a:pPr algn="l" indent="0" marL="0">
              <a:buNone/>
            </a:pPr>
            <a:r>
              <a:rPr lang="en-US" sz="930" b="1" dirty="0">
                <a:solidFill>
                  <a:srgbClr val="17283F"/>
                </a:solidFill>
                <a:latin typeface="Aptos" pitchFamily="34" charset="0"/>
                <a:ea typeface="Aptos" pitchFamily="34" charset="-122"/>
                <a:cs typeface="Aptos" pitchFamily="34" charset="-120"/>
              </a:rPr>
              <a:t>SCATTERED INPUTS</a:t>
            </a:r>
            <a:endParaRPr lang="en-US" sz="930" dirty="0"/>
          </a:p>
        </p:txBody>
      </p:sp>
      <p:sp>
        <p:nvSpPr>
          <p:cNvPr id="7" name="Text 5"/>
          <p:cNvSpPr/>
          <p:nvPr/>
        </p:nvSpPr>
        <p:spPr>
          <a:xfrm>
            <a:off x="749808" y="2560320"/>
            <a:ext cx="1719072" cy="859536"/>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Press releases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Govt. portals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Consultant PDFs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Provider claims</a:t>
            </a:r>
            <a:endParaRPr lang="en-US" sz="1000" dirty="0"/>
          </a:p>
        </p:txBody>
      </p:sp>
      <p:sp>
        <p:nvSpPr>
          <p:cNvPr id="8" name="Shape 6"/>
          <p:cNvSpPr/>
          <p:nvPr/>
        </p:nvSpPr>
        <p:spPr>
          <a:xfrm>
            <a:off x="2642616" y="2816352"/>
            <a:ext cx="146304" cy="0"/>
          </a:xfrm>
          <a:prstGeom prst="line">
            <a:avLst/>
          </a:prstGeom>
          <a:noFill/>
          <a:ln w="17780">
            <a:solidFill>
              <a:srgbClr val="00A994"/>
            </a:solidFill>
            <a:prstDash val="solid"/>
            <a:headEnd type="none"/>
            <a:tailEnd type="none"/>
          </a:ln>
        </p:spPr>
      </p:sp>
      <p:sp>
        <p:nvSpPr>
          <p:cNvPr id="9" name="Text 7"/>
          <p:cNvSpPr/>
          <p:nvPr/>
        </p:nvSpPr>
        <p:spPr>
          <a:xfrm>
            <a:off x="2633472" y="2642616"/>
            <a:ext cx="164592" cy="228600"/>
          </a:xfrm>
          <a:prstGeom prst="rect">
            <a:avLst/>
          </a:prstGeom>
          <a:noFill/>
          <a:ln/>
        </p:spPr>
        <p:txBody>
          <a:bodyPr wrap="square" lIns="0" tIns="0" rIns="0" bIns="0" rtlCol="0" anchor="ctr">
            <a:normAutofit/>
          </a:bodyPr>
          <a:lstStyle/>
          <a:p>
            <a:pPr algn="ctr" indent="0" marL="0">
              <a:buNone/>
            </a:pPr>
            <a:r>
              <a:rPr lang="en-US" sz="2200" b="1" dirty="0">
                <a:solidFill>
                  <a:srgbClr val="00A994"/>
                </a:solidFill>
                <a:latin typeface="Aptos" pitchFamily="34" charset="0"/>
                <a:ea typeface="Aptos" pitchFamily="34" charset="-122"/>
                <a:cs typeface="Aptos" pitchFamily="34" charset="-120"/>
              </a:rPr>
              <a:t>›</a:t>
            </a:r>
            <a:endParaRPr lang="en-US" sz="2200" dirty="0"/>
          </a:p>
        </p:txBody>
      </p:sp>
      <p:sp>
        <p:nvSpPr>
          <p:cNvPr id="10" name="Shape 8"/>
          <p:cNvSpPr/>
          <p:nvPr/>
        </p:nvSpPr>
        <p:spPr>
          <a:xfrm>
            <a:off x="2880360" y="1856232"/>
            <a:ext cx="2011680" cy="1938528"/>
          </a:xfrm>
          <a:prstGeom prst="roundRect">
            <a:avLst>
              <a:gd name="adj" fmla="val 4717"/>
            </a:avLst>
          </a:prstGeom>
          <a:solidFill>
            <a:srgbClr val="FFFFFF"/>
          </a:solidFill>
          <a:ln w="8890">
            <a:solidFill>
              <a:srgbClr val="DEE6EC"/>
            </a:solidFill>
            <a:prstDash val="solid"/>
          </a:ln>
        </p:spPr>
      </p:sp>
      <p:sp>
        <p:nvSpPr>
          <p:cNvPr id="11" name="Text 9"/>
          <p:cNvSpPr/>
          <p:nvPr/>
        </p:nvSpPr>
        <p:spPr>
          <a:xfrm>
            <a:off x="3017520" y="2057400"/>
            <a:ext cx="1737360" cy="310896"/>
          </a:xfrm>
          <a:prstGeom prst="rect">
            <a:avLst/>
          </a:prstGeom>
          <a:noFill/>
          <a:ln/>
        </p:spPr>
        <p:txBody>
          <a:bodyPr wrap="square" lIns="0" tIns="0" rIns="0" bIns="0" rtlCol="0" anchor="ctr">
            <a:normAutofit/>
          </a:bodyPr>
          <a:lstStyle/>
          <a:p>
            <a:pPr algn="l" indent="0" marL="0">
              <a:buNone/>
            </a:pPr>
            <a:r>
              <a:rPr lang="en-US" sz="930" b="1" dirty="0">
                <a:solidFill>
                  <a:srgbClr val="17283F"/>
                </a:solidFill>
                <a:latin typeface="Aptos" pitchFamily="34" charset="0"/>
                <a:ea typeface="Aptos" pitchFamily="34" charset="-122"/>
                <a:cs typeface="Aptos" pitchFamily="34" charset="-120"/>
              </a:rPr>
              <a:t>FRAGMENTED RECORDS</a:t>
            </a:r>
            <a:endParaRPr lang="en-US" sz="930" dirty="0"/>
          </a:p>
        </p:txBody>
      </p:sp>
      <p:sp>
        <p:nvSpPr>
          <p:cNvPr id="12" name="Text 10"/>
          <p:cNvSpPr/>
          <p:nvPr/>
        </p:nvSpPr>
        <p:spPr>
          <a:xfrm>
            <a:off x="3017520" y="2560320"/>
            <a:ext cx="1737360" cy="859536"/>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Aliases &amp; duplicates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Company vs site</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Different time periods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No change history</a:t>
            </a:r>
            <a:endParaRPr lang="en-US" sz="1000" dirty="0"/>
          </a:p>
        </p:txBody>
      </p:sp>
      <p:sp>
        <p:nvSpPr>
          <p:cNvPr id="13" name="Shape 11"/>
          <p:cNvSpPr/>
          <p:nvPr/>
        </p:nvSpPr>
        <p:spPr>
          <a:xfrm>
            <a:off x="4928616" y="2816352"/>
            <a:ext cx="146304" cy="0"/>
          </a:xfrm>
          <a:prstGeom prst="line">
            <a:avLst/>
          </a:prstGeom>
          <a:noFill/>
          <a:ln w="17780">
            <a:solidFill>
              <a:srgbClr val="00A994"/>
            </a:solidFill>
            <a:prstDash val="solid"/>
            <a:headEnd type="none"/>
            <a:tailEnd type="none"/>
          </a:ln>
        </p:spPr>
      </p:sp>
      <p:sp>
        <p:nvSpPr>
          <p:cNvPr id="14" name="Text 12"/>
          <p:cNvSpPr/>
          <p:nvPr/>
        </p:nvSpPr>
        <p:spPr>
          <a:xfrm>
            <a:off x="4919472" y="2642616"/>
            <a:ext cx="164592" cy="228600"/>
          </a:xfrm>
          <a:prstGeom prst="rect">
            <a:avLst/>
          </a:prstGeom>
          <a:noFill/>
          <a:ln/>
        </p:spPr>
        <p:txBody>
          <a:bodyPr wrap="square" lIns="0" tIns="0" rIns="0" bIns="0" rtlCol="0" anchor="ctr">
            <a:normAutofit/>
          </a:bodyPr>
          <a:lstStyle/>
          <a:p>
            <a:pPr algn="ctr" indent="0" marL="0">
              <a:buNone/>
            </a:pPr>
            <a:r>
              <a:rPr lang="en-US" sz="2200" b="1" dirty="0">
                <a:solidFill>
                  <a:srgbClr val="00A994"/>
                </a:solidFill>
                <a:latin typeface="Aptos" pitchFamily="34" charset="0"/>
                <a:ea typeface="Aptos" pitchFamily="34" charset="-122"/>
                <a:cs typeface="Aptos" pitchFamily="34" charset="-120"/>
              </a:rPr>
              <a:t>›</a:t>
            </a:r>
            <a:endParaRPr lang="en-US" sz="2200" dirty="0"/>
          </a:p>
        </p:txBody>
      </p:sp>
      <p:sp>
        <p:nvSpPr>
          <p:cNvPr id="15" name="Shape 13"/>
          <p:cNvSpPr/>
          <p:nvPr/>
        </p:nvSpPr>
        <p:spPr>
          <a:xfrm>
            <a:off x="5166360" y="1856232"/>
            <a:ext cx="2011680" cy="1938528"/>
          </a:xfrm>
          <a:prstGeom prst="roundRect">
            <a:avLst>
              <a:gd name="adj" fmla="val 4717"/>
            </a:avLst>
          </a:prstGeom>
          <a:solidFill>
            <a:srgbClr val="FFF2D9"/>
          </a:solidFill>
          <a:ln w="8890">
            <a:solidFill>
              <a:srgbClr val="E8CC93"/>
            </a:solidFill>
            <a:prstDash val="solid"/>
          </a:ln>
        </p:spPr>
      </p:sp>
      <p:sp>
        <p:nvSpPr>
          <p:cNvPr id="16" name="Text 14"/>
          <p:cNvSpPr/>
          <p:nvPr/>
        </p:nvSpPr>
        <p:spPr>
          <a:xfrm>
            <a:off x="5303520" y="2057400"/>
            <a:ext cx="1737360" cy="310896"/>
          </a:xfrm>
          <a:prstGeom prst="rect">
            <a:avLst/>
          </a:prstGeom>
          <a:noFill/>
          <a:ln/>
        </p:spPr>
        <p:txBody>
          <a:bodyPr wrap="square" lIns="0" tIns="0" rIns="0" bIns="0" rtlCol="0" anchor="ctr">
            <a:normAutofit/>
          </a:bodyPr>
          <a:lstStyle/>
          <a:p>
            <a:pPr algn="l" indent="0" marL="0">
              <a:buNone/>
            </a:pPr>
            <a:r>
              <a:rPr lang="en-US" sz="930" b="1" dirty="0">
                <a:solidFill>
                  <a:srgbClr val="B87912"/>
                </a:solidFill>
                <a:latin typeface="Aptos" pitchFamily="34" charset="0"/>
                <a:ea typeface="Aptos" pitchFamily="34" charset="-122"/>
                <a:cs typeface="Aptos" pitchFamily="34" charset="-120"/>
              </a:rPr>
              <a:t>UNPROVEN SIGNALS</a:t>
            </a:r>
            <a:endParaRPr lang="en-US" sz="930" dirty="0"/>
          </a:p>
        </p:txBody>
      </p:sp>
      <p:sp>
        <p:nvSpPr>
          <p:cNvPr id="17" name="Text 15"/>
          <p:cNvSpPr/>
          <p:nvPr/>
        </p:nvSpPr>
        <p:spPr>
          <a:xfrm>
            <a:off x="5303520" y="2560320"/>
            <a:ext cx="1737360" cy="859536"/>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Plan ≠ execution</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Stale headcount</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No source excerpt</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Paid claims look equal</a:t>
            </a:r>
            <a:endParaRPr lang="en-US" sz="1000" dirty="0"/>
          </a:p>
        </p:txBody>
      </p:sp>
      <p:sp>
        <p:nvSpPr>
          <p:cNvPr id="18" name="Shape 16"/>
          <p:cNvSpPr/>
          <p:nvPr/>
        </p:nvSpPr>
        <p:spPr>
          <a:xfrm>
            <a:off x="7214616" y="2816352"/>
            <a:ext cx="146304" cy="0"/>
          </a:xfrm>
          <a:prstGeom prst="line">
            <a:avLst/>
          </a:prstGeom>
          <a:noFill/>
          <a:ln w="17780">
            <a:solidFill>
              <a:srgbClr val="00A994"/>
            </a:solidFill>
            <a:prstDash val="solid"/>
            <a:headEnd type="none"/>
            <a:tailEnd type="none"/>
          </a:ln>
        </p:spPr>
      </p:sp>
      <p:sp>
        <p:nvSpPr>
          <p:cNvPr id="19" name="Text 17"/>
          <p:cNvSpPr/>
          <p:nvPr/>
        </p:nvSpPr>
        <p:spPr>
          <a:xfrm>
            <a:off x="7205472" y="2642616"/>
            <a:ext cx="164592" cy="228600"/>
          </a:xfrm>
          <a:prstGeom prst="rect">
            <a:avLst/>
          </a:prstGeom>
          <a:noFill/>
          <a:ln/>
        </p:spPr>
        <p:txBody>
          <a:bodyPr wrap="square" lIns="0" tIns="0" rIns="0" bIns="0" rtlCol="0" anchor="ctr">
            <a:normAutofit/>
          </a:bodyPr>
          <a:lstStyle/>
          <a:p>
            <a:pPr algn="ctr" indent="0" marL="0">
              <a:buNone/>
            </a:pPr>
            <a:r>
              <a:rPr lang="en-US" sz="2200" b="1" dirty="0">
                <a:solidFill>
                  <a:srgbClr val="00A994"/>
                </a:solidFill>
                <a:latin typeface="Aptos" pitchFamily="34" charset="0"/>
                <a:ea typeface="Aptos" pitchFamily="34" charset="-122"/>
                <a:cs typeface="Aptos" pitchFamily="34" charset="-120"/>
              </a:rPr>
              <a:t>›</a:t>
            </a:r>
            <a:endParaRPr lang="en-US" sz="2200" dirty="0"/>
          </a:p>
        </p:txBody>
      </p:sp>
      <p:sp>
        <p:nvSpPr>
          <p:cNvPr id="20" name="Shape 18"/>
          <p:cNvSpPr/>
          <p:nvPr/>
        </p:nvSpPr>
        <p:spPr>
          <a:xfrm>
            <a:off x="7452360" y="1856232"/>
            <a:ext cx="2011680" cy="1938528"/>
          </a:xfrm>
          <a:prstGeom prst="roundRect">
            <a:avLst>
              <a:gd name="adj" fmla="val 4717"/>
            </a:avLst>
          </a:prstGeom>
          <a:solidFill>
            <a:srgbClr val="FFFFFF"/>
          </a:solidFill>
          <a:ln w="8890">
            <a:solidFill>
              <a:srgbClr val="DEE6EC"/>
            </a:solidFill>
            <a:prstDash val="solid"/>
          </a:ln>
        </p:spPr>
      </p:sp>
      <p:sp>
        <p:nvSpPr>
          <p:cNvPr id="21" name="Text 19"/>
          <p:cNvSpPr/>
          <p:nvPr/>
        </p:nvSpPr>
        <p:spPr>
          <a:xfrm>
            <a:off x="7589520" y="2057400"/>
            <a:ext cx="1737360" cy="310896"/>
          </a:xfrm>
          <a:prstGeom prst="rect">
            <a:avLst/>
          </a:prstGeom>
          <a:noFill/>
          <a:ln/>
        </p:spPr>
        <p:txBody>
          <a:bodyPr wrap="square" lIns="0" tIns="0" rIns="0" bIns="0" rtlCol="0" anchor="ctr">
            <a:normAutofit/>
          </a:bodyPr>
          <a:lstStyle/>
          <a:p>
            <a:pPr algn="l" indent="0" marL="0">
              <a:buNone/>
            </a:pPr>
            <a:r>
              <a:rPr lang="en-US" sz="930" b="1" dirty="0">
                <a:solidFill>
                  <a:srgbClr val="17283F"/>
                </a:solidFill>
                <a:latin typeface="Aptos" pitchFamily="34" charset="0"/>
                <a:ea typeface="Aptos" pitchFamily="34" charset="-122"/>
                <a:cs typeface="Aptos" pitchFamily="34" charset="-120"/>
              </a:rPr>
              <a:t>SLOW DECISIONS</a:t>
            </a:r>
            <a:endParaRPr lang="en-US" sz="930" dirty="0"/>
          </a:p>
        </p:txBody>
      </p:sp>
      <p:sp>
        <p:nvSpPr>
          <p:cNvPr id="22" name="Text 20"/>
          <p:cNvSpPr/>
          <p:nvPr/>
        </p:nvSpPr>
        <p:spPr>
          <a:xfrm>
            <a:off x="7589520" y="2560320"/>
            <a:ext cx="1737360" cy="859536"/>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Repeat research</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Referral dependence</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Hard to compare cities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Provider diligence gaps</a:t>
            </a:r>
            <a:endParaRPr lang="en-US" sz="1000" dirty="0"/>
          </a:p>
        </p:txBody>
      </p:sp>
      <p:sp>
        <p:nvSpPr>
          <p:cNvPr id="23" name="Shape 21"/>
          <p:cNvSpPr/>
          <p:nvPr/>
        </p:nvSpPr>
        <p:spPr>
          <a:xfrm>
            <a:off x="9500616" y="2816352"/>
            <a:ext cx="146304" cy="0"/>
          </a:xfrm>
          <a:prstGeom prst="line">
            <a:avLst/>
          </a:prstGeom>
          <a:noFill/>
          <a:ln w="17780">
            <a:solidFill>
              <a:srgbClr val="00A994"/>
            </a:solidFill>
            <a:prstDash val="solid"/>
            <a:headEnd type="none"/>
            <a:tailEnd type="none"/>
          </a:ln>
        </p:spPr>
      </p:sp>
      <p:sp>
        <p:nvSpPr>
          <p:cNvPr id="24" name="Text 22"/>
          <p:cNvSpPr/>
          <p:nvPr/>
        </p:nvSpPr>
        <p:spPr>
          <a:xfrm>
            <a:off x="9491472" y="2642616"/>
            <a:ext cx="164592" cy="228600"/>
          </a:xfrm>
          <a:prstGeom prst="rect">
            <a:avLst/>
          </a:prstGeom>
          <a:noFill/>
          <a:ln/>
        </p:spPr>
        <p:txBody>
          <a:bodyPr wrap="square" lIns="0" tIns="0" rIns="0" bIns="0" rtlCol="0" anchor="ctr">
            <a:normAutofit/>
          </a:bodyPr>
          <a:lstStyle/>
          <a:p>
            <a:pPr algn="ctr" indent="0" marL="0">
              <a:buNone/>
            </a:pPr>
            <a:r>
              <a:rPr lang="en-US" sz="2200" b="1" dirty="0">
                <a:solidFill>
                  <a:srgbClr val="00A994"/>
                </a:solidFill>
                <a:latin typeface="Aptos" pitchFamily="34" charset="0"/>
                <a:ea typeface="Aptos" pitchFamily="34" charset="-122"/>
                <a:cs typeface="Aptos" pitchFamily="34" charset="-120"/>
              </a:rPr>
              <a:t>›</a:t>
            </a:r>
            <a:endParaRPr lang="en-US" sz="2200" dirty="0"/>
          </a:p>
        </p:txBody>
      </p:sp>
      <p:sp>
        <p:nvSpPr>
          <p:cNvPr id="25" name="Shape 23"/>
          <p:cNvSpPr/>
          <p:nvPr/>
        </p:nvSpPr>
        <p:spPr>
          <a:xfrm>
            <a:off x="9738360" y="1856232"/>
            <a:ext cx="1828800" cy="1938528"/>
          </a:xfrm>
          <a:prstGeom prst="roundRect">
            <a:avLst>
              <a:gd name="adj" fmla="val 5000"/>
            </a:avLst>
          </a:prstGeom>
          <a:solidFill>
            <a:srgbClr val="101D31"/>
          </a:solidFill>
          <a:ln w="8890">
            <a:solidFill>
              <a:srgbClr val="101D31"/>
            </a:solidFill>
            <a:prstDash val="solid"/>
          </a:ln>
        </p:spPr>
      </p:sp>
      <p:sp>
        <p:nvSpPr>
          <p:cNvPr id="26" name="Text 24"/>
          <p:cNvSpPr/>
          <p:nvPr/>
        </p:nvSpPr>
        <p:spPr>
          <a:xfrm>
            <a:off x="9875520" y="2057400"/>
            <a:ext cx="1554480" cy="310896"/>
          </a:xfrm>
          <a:prstGeom prst="rect">
            <a:avLst/>
          </a:prstGeom>
          <a:noFill/>
          <a:ln/>
        </p:spPr>
        <p:txBody>
          <a:bodyPr wrap="square" lIns="0" tIns="0" rIns="0" bIns="0" rtlCol="0" anchor="ctr">
            <a:normAutofit/>
          </a:bodyPr>
          <a:lstStyle/>
          <a:p>
            <a:pPr algn="l" indent="0" marL="0">
              <a:buNone/>
            </a:pPr>
            <a:r>
              <a:rPr lang="en-US" sz="930" b="1" dirty="0">
                <a:solidFill>
                  <a:srgbClr val="FFFFFF"/>
                </a:solidFill>
                <a:latin typeface="Aptos" pitchFamily="34" charset="0"/>
                <a:ea typeface="Aptos" pitchFamily="34" charset="-122"/>
                <a:cs typeface="Aptos" pitchFamily="34" charset="-120"/>
              </a:rPr>
              <a:t>REAL COST</a:t>
            </a:r>
            <a:endParaRPr lang="en-US" sz="930" dirty="0"/>
          </a:p>
        </p:txBody>
      </p:sp>
      <p:sp>
        <p:nvSpPr>
          <p:cNvPr id="27" name="Text 25"/>
          <p:cNvSpPr/>
          <p:nvPr/>
        </p:nvSpPr>
        <p:spPr>
          <a:xfrm>
            <a:off x="9875520" y="2560320"/>
            <a:ext cx="1554480" cy="859536"/>
          </a:xfrm>
          <a:prstGeom prst="rect">
            <a:avLst/>
          </a:prstGeom>
          <a:noFill/>
          <a:ln/>
        </p:spPr>
        <p:txBody>
          <a:bodyPr wrap="square" lIns="0" tIns="0" rIns="0" bIns="0" rtlCol="0" anchor="t">
            <a:normAutofit/>
          </a:bodyPr>
          <a:lstStyle/>
          <a:p>
            <a:pPr algn="l" indent="0" marL="0">
              <a:buNone/>
            </a:pPr>
            <a:r>
              <a:rPr lang="en-US" sz="1000" dirty="0">
                <a:solidFill>
                  <a:srgbClr val="D4E2EC"/>
                </a:solidFill>
                <a:latin typeface="Aptos" pitchFamily="34" charset="0"/>
                <a:ea typeface="Aptos" pitchFamily="34" charset="-122"/>
                <a:cs typeface="Aptos" pitchFamily="34" charset="-120"/>
              </a:rPr>
              <a:t>Delayed shortlist</a:t>
            </a:r>
            <a:endParaRPr lang="en-US" sz="1000" dirty="0"/>
          </a:p>
          <a:p>
            <a:pPr algn="l" indent="0" marL="0">
              <a:buNone/>
            </a:pPr>
            <a:r>
              <a:rPr lang="en-US" sz="1000" dirty="0">
                <a:solidFill>
                  <a:srgbClr val="D4E2EC"/>
                </a:solidFill>
                <a:latin typeface="Aptos" pitchFamily="34" charset="0"/>
                <a:ea typeface="Aptos" pitchFamily="34" charset="-122"/>
                <a:cs typeface="Aptos" pitchFamily="34" charset="-120"/>
              </a:rPr>
              <a:t>Weak pipeline timing</a:t>
            </a:r>
            <a:endParaRPr lang="en-US" sz="1000" dirty="0"/>
          </a:p>
          <a:p>
            <a:pPr algn="l" indent="0" marL="0">
              <a:buNone/>
            </a:pPr>
            <a:r>
              <a:rPr lang="en-US" sz="1000" dirty="0">
                <a:solidFill>
                  <a:srgbClr val="D4E2EC"/>
                </a:solidFill>
                <a:latin typeface="Aptos" pitchFamily="34" charset="0"/>
                <a:ea typeface="Aptos" pitchFamily="34" charset="-122"/>
                <a:cs typeface="Aptos" pitchFamily="34" charset="-120"/>
              </a:rPr>
              <a:t>Poor site choice</a:t>
            </a:r>
            <a:endParaRPr lang="en-US" sz="1000" dirty="0"/>
          </a:p>
          <a:p>
            <a:pPr algn="l" indent="0" marL="0">
              <a:buNone/>
            </a:pPr>
            <a:r>
              <a:rPr lang="en-US" sz="1000" dirty="0">
                <a:solidFill>
                  <a:srgbClr val="D4E2EC"/>
                </a:solidFill>
                <a:latin typeface="Aptos" pitchFamily="34" charset="0"/>
                <a:ea typeface="Aptos" pitchFamily="34" charset="-122"/>
                <a:cs typeface="Aptos" pitchFamily="34" charset="-120"/>
              </a:rPr>
              <a:t>Rework &amp; risk</a:t>
            </a:r>
            <a:endParaRPr lang="en-US" sz="1000" dirty="0"/>
          </a:p>
        </p:txBody>
      </p:sp>
      <p:sp>
        <p:nvSpPr>
          <p:cNvPr id="28" name="Text 26"/>
          <p:cNvSpPr/>
          <p:nvPr/>
        </p:nvSpPr>
        <p:spPr>
          <a:xfrm>
            <a:off x="640080" y="4315968"/>
            <a:ext cx="1920240" cy="219456"/>
          </a:xfrm>
          <a:prstGeom prst="rect">
            <a:avLst/>
          </a:prstGeom>
          <a:noFill/>
          <a:ln/>
        </p:spPr>
        <p:txBody>
          <a:bodyPr wrap="square" lIns="0" tIns="0" rIns="0" bIns="0" rtlCol="0" anchor="ctr">
            <a:normAutofit/>
          </a:bodyPr>
          <a:lstStyle/>
          <a:p>
            <a:pPr algn="l" indent="0" marL="0">
              <a:buNone/>
            </a:pPr>
            <a:r>
              <a:rPr lang="en-US" sz="1300" b="1" dirty="0">
                <a:solidFill>
                  <a:srgbClr val="17283F"/>
                </a:solidFill>
                <a:latin typeface="Aptos" pitchFamily="34" charset="0"/>
                <a:ea typeface="Aptos" pitchFamily="34" charset="-122"/>
                <a:cs typeface="Aptos" pitchFamily="34" charset="-120"/>
              </a:rPr>
              <a:t>The missing layer</a:t>
            </a:r>
            <a:endParaRPr lang="en-US" sz="1300" dirty="0"/>
          </a:p>
        </p:txBody>
      </p:sp>
      <p:sp>
        <p:nvSpPr>
          <p:cNvPr id="29" name="Text 27"/>
          <p:cNvSpPr/>
          <p:nvPr/>
        </p:nvSpPr>
        <p:spPr>
          <a:xfrm>
            <a:off x="640080" y="4636008"/>
            <a:ext cx="6583680" cy="347472"/>
          </a:xfrm>
          <a:prstGeom prst="rect">
            <a:avLst/>
          </a:prstGeom>
          <a:noFill/>
          <a:ln/>
        </p:spPr>
        <p:txBody>
          <a:bodyPr wrap="square" lIns="0" tIns="0" rIns="0" bIns="0" rtlCol="0" anchor="ctr">
            <a:normAutofit/>
          </a:bodyPr>
          <a:lstStyle/>
          <a:p>
            <a:pPr algn="l" indent="0" marL="0">
              <a:buNone/>
            </a:pPr>
            <a:r>
              <a:rPr lang="en-US" sz="1700" b="1" dirty="0">
                <a:solidFill>
                  <a:srgbClr val="00A994"/>
                </a:solidFill>
                <a:latin typeface="Aptos Display" pitchFamily="34" charset="0"/>
                <a:ea typeface="Aptos Display" pitchFamily="34" charset="-122"/>
                <a:cs typeface="Aptos Display" pitchFamily="34" charset="-120"/>
              </a:rPr>
              <a:t>A maintained evidence graph: claim → source → entity → location / event → decision.</a:t>
            </a:r>
            <a:endParaRPr lang="en-US" sz="1700" dirty="0"/>
          </a:p>
        </p:txBody>
      </p:sp>
      <p:sp>
        <p:nvSpPr>
          <p:cNvPr id="30" name="Text 28"/>
          <p:cNvSpPr/>
          <p:nvPr/>
        </p:nvSpPr>
        <p:spPr>
          <a:xfrm>
            <a:off x="7744968" y="4334256"/>
            <a:ext cx="1005840" cy="182880"/>
          </a:xfrm>
          <a:prstGeom prst="rect">
            <a:avLst/>
          </a:prstGeom>
          <a:noFill/>
          <a:ln/>
        </p:spPr>
        <p:txBody>
          <a:bodyPr wrap="square" lIns="0" tIns="0" rIns="0" bIns="0" rtlCol="0" anchor="ctr">
            <a:normAutofit/>
          </a:bodyPr>
          <a:lstStyle/>
          <a:p>
            <a:pPr algn="l" indent="0" marL="0">
              <a:buNone/>
            </a:pPr>
            <a:r>
              <a:rPr lang="en-US" sz="810" b="1" spc="80" kern="0" dirty="0">
                <a:solidFill>
                  <a:srgbClr val="00A994"/>
                </a:solidFill>
                <a:latin typeface="Aptos" pitchFamily="34" charset="0"/>
                <a:ea typeface="Aptos" pitchFamily="34" charset="-122"/>
                <a:cs typeface="Aptos" pitchFamily="34" charset="-120"/>
              </a:rPr>
              <a:t>DEFINITION</a:t>
            </a:r>
            <a:endParaRPr lang="en-US" sz="810" dirty="0"/>
          </a:p>
        </p:txBody>
      </p:sp>
      <p:sp>
        <p:nvSpPr>
          <p:cNvPr id="31" name="Text 29"/>
          <p:cNvSpPr/>
          <p:nvPr/>
        </p:nvSpPr>
        <p:spPr>
          <a:xfrm>
            <a:off x="8796528" y="4334256"/>
            <a:ext cx="2834640" cy="182880"/>
          </a:xfrm>
          <a:prstGeom prst="rect">
            <a:avLst/>
          </a:prstGeom>
          <a:noFill/>
          <a:ln/>
        </p:spPr>
        <p:txBody>
          <a:bodyPr wrap="square" lIns="0" tIns="0" rIns="0" bIns="0" rtlCol="0" anchor="ctr">
            <a:normAutofit/>
          </a:bodyPr>
          <a:lstStyle/>
          <a:p>
            <a:pPr algn="l" indent="0" marL="0">
              <a:buNone/>
            </a:pPr>
            <a:r>
              <a:rPr lang="en-US" sz="940" dirty="0">
                <a:solidFill>
                  <a:srgbClr val="42566D"/>
                </a:solidFill>
                <a:latin typeface="Aptos" pitchFamily="34" charset="0"/>
                <a:ea typeface="Aptos" pitchFamily="34" charset="-122"/>
                <a:cs typeface="Aptos" pitchFamily="34" charset="-120"/>
              </a:rPr>
              <a:t>What is being counted—and when?</a:t>
            </a:r>
            <a:endParaRPr lang="en-US" sz="940" dirty="0"/>
          </a:p>
        </p:txBody>
      </p:sp>
      <p:sp>
        <p:nvSpPr>
          <p:cNvPr id="32" name="Text 30"/>
          <p:cNvSpPr/>
          <p:nvPr/>
        </p:nvSpPr>
        <p:spPr>
          <a:xfrm>
            <a:off x="7744968" y="4727448"/>
            <a:ext cx="1005840" cy="182880"/>
          </a:xfrm>
          <a:prstGeom prst="rect">
            <a:avLst/>
          </a:prstGeom>
          <a:noFill/>
          <a:ln/>
        </p:spPr>
        <p:txBody>
          <a:bodyPr wrap="square" lIns="0" tIns="0" rIns="0" bIns="0" rtlCol="0" anchor="ctr">
            <a:normAutofit/>
          </a:bodyPr>
          <a:lstStyle/>
          <a:p>
            <a:pPr algn="l" indent="0" marL="0">
              <a:buNone/>
            </a:pPr>
            <a:r>
              <a:rPr lang="en-US" sz="810" b="1" spc="80" kern="0" dirty="0">
                <a:solidFill>
                  <a:srgbClr val="00A994"/>
                </a:solidFill>
                <a:latin typeface="Aptos" pitchFamily="34" charset="0"/>
                <a:ea typeface="Aptos" pitchFamily="34" charset="-122"/>
                <a:cs typeface="Aptos" pitchFamily="34" charset="-120"/>
              </a:rPr>
              <a:t>PROVENANCE</a:t>
            </a:r>
            <a:endParaRPr lang="en-US" sz="810" dirty="0"/>
          </a:p>
        </p:txBody>
      </p:sp>
      <p:sp>
        <p:nvSpPr>
          <p:cNvPr id="33" name="Text 31"/>
          <p:cNvSpPr/>
          <p:nvPr/>
        </p:nvSpPr>
        <p:spPr>
          <a:xfrm>
            <a:off x="8796528" y="4727448"/>
            <a:ext cx="2834640" cy="182880"/>
          </a:xfrm>
          <a:prstGeom prst="rect">
            <a:avLst/>
          </a:prstGeom>
          <a:noFill/>
          <a:ln/>
        </p:spPr>
        <p:txBody>
          <a:bodyPr wrap="square" lIns="0" tIns="0" rIns="0" bIns="0" rtlCol="0" anchor="ctr">
            <a:normAutofit/>
          </a:bodyPr>
          <a:lstStyle/>
          <a:p>
            <a:pPr algn="l" indent="0" marL="0">
              <a:buNone/>
            </a:pPr>
            <a:r>
              <a:rPr lang="en-US" sz="940" dirty="0">
                <a:solidFill>
                  <a:srgbClr val="42566D"/>
                </a:solidFill>
                <a:latin typeface="Aptos" pitchFamily="34" charset="0"/>
                <a:ea typeface="Aptos" pitchFamily="34" charset="-122"/>
                <a:cs typeface="Aptos" pitchFamily="34" charset="-120"/>
              </a:rPr>
              <a:t>Who said it, where, and on what date?</a:t>
            </a:r>
            <a:endParaRPr lang="en-US" sz="940" dirty="0"/>
          </a:p>
        </p:txBody>
      </p:sp>
      <p:sp>
        <p:nvSpPr>
          <p:cNvPr id="34" name="Text 32"/>
          <p:cNvSpPr/>
          <p:nvPr/>
        </p:nvSpPr>
        <p:spPr>
          <a:xfrm>
            <a:off x="7744968" y="5120640"/>
            <a:ext cx="1005840" cy="182880"/>
          </a:xfrm>
          <a:prstGeom prst="rect">
            <a:avLst/>
          </a:prstGeom>
          <a:noFill/>
          <a:ln/>
        </p:spPr>
        <p:txBody>
          <a:bodyPr wrap="square" lIns="0" tIns="0" rIns="0" bIns="0" rtlCol="0" anchor="ctr">
            <a:normAutofit/>
          </a:bodyPr>
          <a:lstStyle/>
          <a:p>
            <a:pPr algn="l" indent="0" marL="0">
              <a:buNone/>
            </a:pPr>
            <a:r>
              <a:rPr lang="en-US" sz="810" b="1" spc="80" kern="0" dirty="0">
                <a:solidFill>
                  <a:srgbClr val="00A994"/>
                </a:solidFill>
                <a:latin typeface="Aptos" pitchFamily="34" charset="0"/>
                <a:ea typeface="Aptos" pitchFamily="34" charset="-122"/>
                <a:cs typeface="Aptos" pitchFamily="34" charset="-120"/>
              </a:rPr>
              <a:t>STATUS</a:t>
            </a:r>
            <a:endParaRPr lang="en-US" sz="810" dirty="0"/>
          </a:p>
        </p:txBody>
      </p:sp>
      <p:sp>
        <p:nvSpPr>
          <p:cNvPr id="35" name="Text 33"/>
          <p:cNvSpPr/>
          <p:nvPr/>
        </p:nvSpPr>
        <p:spPr>
          <a:xfrm>
            <a:off x="8796528" y="5120640"/>
            <a:ext cx="2834640" cy="182880"/>
          </a:xfrm>
          <a:prstGeom prst="rect">
            <a:avLst/>
          </a:prstGeom>
          <a:noFill/>
          <a:ln/>
        </p:spPr>
        <p:txBody>
          <a:bodyPr wrap="square" lIns="0" tIns="0" rIns="0" bIns="0" rtlCol="0" anchor="ctr">
            <a:normAutofit/>
          </a:bodyPr>
          <a:lstStyle/>
          <a:p>
            <a:pPr algn="l" indent="0" marL="0">
              <a:buNone/>
            </a:pPr>
            <a:r>
              <a:rPr lang="en-US" sz="940" dirty="0">
                <a:solidFill>
                  <a:srgbClr val="42566D"/>
                </a:solidFill>
                <a:latin typeface="Aptos" pitchFamily="34" charset="0"/>
                <a:ea typeface="Aptos" pitchFamily="34" charset="-122"/>
                <a:cs typeface="Aptos" pitchFamily="34" charset="-120"/>
              </a:rPr>
              <a:t>Is it planned, announced, launched or operating?</a:t>
            </a:r>
            <a:endParaRPr lang="en-US" sz="940" dirty="0"/>
          </a:p>
        </p:txBody>
      </p:sp>
      <p:sp>
        <p:nvSpPr>
          <p:cNvPr id="36" name="Text 34"/>
          <p:cNvSpPr/>
          <p:nvPr/>
        </p:nvSpPr>
        <p:spPr>
          <a:xfrm>
            <a:off x="7744968" y="5513832"/>
            <a:ext cx="1005840" cy="182880"/>
          </a:xfrm>
          <a:prstGeom prst="rect">
            <a:avLst/>
          </a:prstGeom>
          <a:noFill/>
          <a:ln/>
        </p:spPr>
        <p:txBody>
          <a:bodyPr wrap="square" lIns="0" tIns="0" rIns="0" bIns="0" rtlCol="0" anchor="ctr">
            <a:normAutofit/>
          </a:bodyPr>
          <a:lstStyle/>
          <a:p>
            <a:pPr algn="l" indent="0" marL="0">
              <a:buNone/>
            </a:pPr>
            <a:r>
              <a:rPr lang="en-US" sz="810" b="1" spc="80" kern="0" dirty="0">
                <a:solidFill>
                  <a:srgbClr val="00A994"/>
                </a:solidFill>
                <a:latin typeface="Aptos" pitchFamily="34" charset="0"/>
                <a:ea typeface="Aptos" pitchFamily="34" charset="-122"/>
                <a:cs typeface="Aptos" pitchFamily="34" charset="-120"/>
              </a:rPr>
              <a:t>DECISION</a:t>
            </a:r>
            <a:endParaRPr lang="en-US" sz="810" dirty="0"/>
          </a:p>
        </p:txBody>
      </p:sp>
      <p:sp>
        <p:nvSpPr>
          <p:cNvPr id="37" name="Text 35"/>
          <p:cNvSpPr/>
          <p:nvPr/>
        </p:nvSpPr>
        <p:spPr>
          <a:xfrm>
            <a:off x="8796528" y="5513832"/>
            <a:ext cx="2834640" cy="182880"/>
          </a:xfrm>
          <a:prstGeom prst="rect">
            <a:avLst/>
          </a:prstGeom>
          <a:noFill/>
          <a:ln/>
        </p:spPr>
        <p:txBody>
          <a:bodyPr wrap="square" lIns="0" tIns="0" rIns="0" bIns="0" rtlCol="0" anchor="ctr">
            <a:normAutofit/>
          </a:bodyPr>
          <a:lstStyle/>
          <a:p>
            <a:pPr algn="l" indent="0" marL="0">
              <a:buNone/>
            </a:pPr>
            <a:r>
              <a:rPr lang="en-US" sz="940" dirty="0">
                <a:solidFill>
                  <a:srgbClr val="42566D"/>
                </a:solidFill>
                <a:latin typeface="Aptos" pitchFamily="34" charset="0"/>
                <a:ea typeface="Aptos" pitchFamily="34" charset="-122"/>
                <a:cs typeface="Aptos" pitchFamily="34" charset="-120"/>
              </a:rPr>
              <a:t>Which action should this evidence change?</a:t>
            </a:r>
            <a:endParaRPr lang="en-US" sz="940" dirty="0"/>
          </a:p>
        </p:txBody>
      </p:sp>
      <p:sp>
        <p:nvSpPr>
          <p:cNvPr id="38" name="Text 36"/>
          <p:cNvSpPr/>
          <p:nvPr/>
        </p:nvSpPr>
        <p:spPr>
          <a:xfrm>
            <a:off x="649224" y="5870448"/>
            <a:ext cx="10789920" cy="310896"/>
          </a:xfrm>
          <a:prstGeom prst="rect">
            <a:avLst/>
          </a:prstGeom>
          <a:noFill/>
          <a:ln/>
        </p:spPr>
        <p:txBody>
          <a:bodyPr wrap="square" lIns="0" tIns="0" rIns="0" bIns="0" rtlCol="0" anchor="ctr">
            <a:normAutofit/>
          </a:bodyPr>
          <a:lstStyle/>
          <a:p>
            <a:pPr algn="l" indent="0" marL="0">
              <a:buNone/>
            </a:pPr>
            <a:r>
              <a:rPr lang="en-US" sz="870" i="1" dirty="0">
                <a:solidFill>
                  <a:srgbClr val="718196"/>
                </a:solidFill>
                <a:latin typeface="Aptos" pitchFamily="34" charset="0"/>
                <a:ea typeface="Aptos" pitchFamily="34" charset="-122"/>
                <a:cs typeface="Aptos" pitchFamily="34" charset="-120"/>
              </a:rPr>
              <a:t>Discovery hypothesis—not a market benchmark: initial market maps may require multiple reports, calls and several rounds of manual reconciliation. Validate time-to-shortlist and correction rates with actual users.</a:t>
            </a:r>
            <a:endParaRPr lang="en-US" sz="87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03 · WHO IS HURT</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The information gap sits between stakeholders—not inside just one team.</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The same missing fact creates different costs for market entrants, service providers, city teams and advisers.</a:t>
            </a:r>
            <a:endParaRPr lang="en-US" sz="1120" dirty="0"/>
          </a:p>
        </p:txBody>
      </p:sp>
      <p:sp>
        <p:nvSpPr>
          <p:cNvPr id="5" name="Text 3"/>
          <p:cNvSpPr/>
          <p:nvPr/>
        </p:nvSpPr>
        <p:spPr>
          <a:xfrm>
            <a:off x="621792" y="1719072"/>
            <a:ext cx="2139696" cy="201168"/>
          </a:xfrm>
          <a:prstGeom prst="rect">
            <a:avLst/>
          </a:prstGeom>
          <a:noFill/>
          <a:ln/>
        </p:spPr>
        <p:txBody>
          <a:bodyPr wrap="square" lIns="0" tIns="0" rIns="0" bIns="0" rtlCol="0" anchor="ctr">
            <a:normAutofit/>
          </a:bodyPr>
          <a:lstStyle/>
          <a:p>
            <a:pPr algn="l" indent="0" marL="0">
              <a:buNone/>
            </a:pPr>
            <a:r>
              <a:rPr lang="en-US" sz="810" b="1" spc="80" kern="0" dirty="0">
                <a:solidFill>
                  <a:srgbClr val="718196"/>
                </a:solidFill>
                <a:latin typeface="Aptos" pitchFamily="34" charset="0"/>
                <a:ea typeface="Aptos" pitchFamily="34" charset="-122"/>
                <a:cs typeface="Aptos" pitchFamily="34" charset="-120"/>
              </a:rPr>
              <a:t>STAKEHOLDER</a:t>
            </a:r>
            <a:endParaRPr lang="en-US" sz="810" dirty="0"/>
          </a:p>
        </p:txBody>
      </p:sp>
      <p:sp>
        <p:nvSpPr>
          <p:cNvPr id="6" name="Text 4"/>
          <p:cNvSpPr/>
          <p:nvPr/>
        </p:nvSpPr>
        <p:spPr>
          <a:xfrm>
            <a:off x="2880360" y="1719072"/>
            <a:ext cx="2139696" cy="201168"/>
          </a:xfrm>
          <a:prstGeom prst="rect">
            <a:avLst/>
          </a:prstGeom>
          <a:noFill/>
          <a:ln/>
        </p:spPr>
        <p:txBody>
          <a:bodyPr wrap="square" lIns="0" tIns="0" rIns="0" bIns="0" rtlCol="0" anchor="ctr">
            <a:normAutofit/>
          </a:bodyPr>
          <a:lstStyle/>
          <a:p>
            <a:pPr algn="l" indent="0" marL="0">
              <a:buNone/>
            </a:pPr>
            <a:r>
              <a:rPr lang="en-US" sz="810" b="1" spc="80" kern="0" dirty="0">
                <a:solidFill>
                  <a:srgbClr val="718196"/>
                </a:solidFill>
                <a:latin typeface="Aptos" pitchFamily="34" charset="0"/>
                <a:ea typeface="Aptos" pitchFamily="34" charset="-122"/>
                <a:cs typeface="Aptos" pitchFamily="34" charset="-120"/>
              </a:rPr>
              <a:t>DAY-TO-DAY OWNER</a:t>
            </a:r>
            <a:endParaRPr lang="en-US" sz="810" dirty="0"/>
          </a:p>
        </p:txBody>
      </p:sp>
      <p:sp>
        <p:nvSpPr>
          <p:cNvPr id="7" name="Text 5"/>
          <p:cNvSpPr/>
          <p:nvPr/>
        </p:nvSpPr>
        <p:spPr>
          <a:xfrm>
            <a:off x="5138928" y="1719072"/>
            <a:ext cx="2578608" cy="201168"/>
          </a:xfrm>
          <a:prstGeom prst="rect">
            <a:avLst/>
          </a:prstGeom>
          <a:noFill/>
          <a:ln/>
        </p:spPr>
        <p:txBody>
          <a:bodyPr wrap="square" lIns="0" tIns="0" rIns="0" bIns="0" rtlCol="0" anchor="ctr">
            <a:normAutofit/>
          </a:bodyPr>
          <a:lstStyle/>
          <a:p>
            <a:pPr algn="l" indent="0" marL="0">
              <a:buNone/>
            </a:pPr>
            <a:r>
              <a:rPr lang="en-US" sz="810" b="1" spc="80" kern="0" dirty="0">
                <a:solidFill>
                  <a:srgbClr val="718196"/>
                </a:solidFill>
                <a:latin typeface="Aptos" pitchFamily="34" charset="0"/>
                <a:ea typeface="Aptos" pitchFamily="34" charset="-122"/>
                <a:cs typeface="Aptos" pitchFamily="34" charset="-120"/>
              </a:rPr>
              <a:t>WHERE ASYMMETRY HURTS</a:t>
            </a:r>
            <a:endParaRPr lang="en-US" sz="810" dirty="0"/>
          </a:p>
        </p:txBody>
      </p:sp>
      <p:sp>
        <p:nvSpPr>
          <p:cNvPr id="8" name="Text 6"/>
          <p:cNvSpPr/>
          <p:nvPr/>
        </p:nvSpPr>
        <p:spPr>
          <a:xfrm>
            <a:off x="7827264" y="1719072"/>
            <a:ext cx="3730752" cy="201168"/>
          </a:xfrm>
          <a:prstGeom prst="rect">
            <a:avLst/>
          </a:prstGeom>
          <a:noFill/>
          <a:ln/>
        </p:spPr>
        <p:txBody>
          <a:bodyPr wrap="square" lIns="0" tIns="0" rIns="0" bIns="0" rtlCol="0" anchor="ctr">
            <a:normAutofit/>
          </a:bodyPr>
          <a:lstStyle/>
          <a:p>
            <a:pPr algn="l" indent="0" marL="0">
              <a:buNone/>
            </a:pPr>
            <a:r>
              <a:rPr lang="en-US" sz="810" b="1" spc="80" kern="0" dirty="0">
                <a:solidFill>
                  <a:srgbClr val="718196"/>
                </a:solidFill>
                <a:latin typeface="Aptos" pitchFamily="34" charset="0"/>
                <a:ea typeface="Aptos" pitchFamily="34" charset="-122"/>
                <a:cs typeface="Aptos" pitchFamily="34" charset="-120"/>
              </a:rPr>
              <a:t>WHAT THEY USE TODAY</a:t>
            </a:r>
            <a:endParaRPr lang="en-US" sz="810" dirty="0"/>
          </a:p>
        </p:txBody>
      </p:sp>
      <p:sp>
        <p:nvSpPr>
          <p:cNvPr id="9" name="Shape 7"/>
          <p:cNvSpPr/>
          <p:nvPr/>
        </p:nvSpPr>
        <p:spPr>
          <a:xfrm>
            <a:off x="603504" y="2029968"/>
            <a:ext cx="11018520" cy="603504"/>
          </a:xfrm>
          <a:prstGeom prst="roundRect">
            <a:avLst>
              <a:gd name="adj" fmla="val 15152"/>
            </a:avLst>
          </a:prstGeom>
          <a:solidFill>
            <a:srgbClr val="FFFFFF"/>
          </a:solidFill>
          <a:ln w="6350">
            <a:solidFill>
              <a:srgbClr val="E8EDF1"/>
            </a:solidFill>
            <a:prstDash val="solid"/>
          </a:ln>
        </p:spPr>
      </p:sp>
      <p:sp>
        <p:nvSpPr>
          <p:cNvPr id="10" name="Text 8"/>
          <p:cNvSpPr/>
          <p:nvPr/>
        </p:nvSpPr>
        <p:spPr>
          <a:xfrm>
            <a:off x="621792" y="2103120"/>
            <a:ext cx="2066544" cy="457200"/>
          </a:xfrm>
          <a:prstGeom prst="rect">
            <a:avLst/>
          </a:prstGeom>
          <a:noFill/>
          <a:ln/>
        </p:spPr>
        <p:txBody>
          <a:bodyPr wrap="square" lIns="0" tIns="0" rIns="0" bIns="0" rtlCol="0" anchor="ctr">
            <a:normAutofit/>
          </a:bodyPr>
          <a:lstStyle/>
          <a:p>
            <a:pPr algn="l" indent="0" marL="0">
              <a:buNone/>
            </a:pPr>
            <a:r>
              <a:rPr lang="en-US" sz="1010" b="1" dirty="0">
                <a:solidFill>
                  <a:srgbClr val="17283F"/>
                </a:solidFill>
                <a:latin typeface="Aptos" pitchFamily="34" charset="0"/>
                <a:ea typeface="Aptos" pitchFamily="34" charset="-122"/>
                <a:cs typeface="Aptos" pitchFamily="34" charset="-120"/>
              </a:rPr>
              <a:t>Global company entering India</a:t>
            </a:r>
            <a:endParaRPr lang="en-US" sz="1010" dirty="0"/>
          </a:p>
        </p:txBody>
      </p:sp>
      <p:sp>
        <p:nvSpPr>
          <p:cNvPr id="11" name="Text 9"/>
          <p:cNvSpPr/>
          <p:nvPr/>
        </p:nvSpPr>
        <p:spPr>
          <a:xfrm>
            <a:off x="2880360" y="2103120"/>
            <a:ext cx="2066544"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CEO / India lead / strategy</a:t>
            </a:r>
            <a:endParaRPr lang="en-US" sz="930" dirty="0"/>
          </a:p>
        </p:txBody>
      </p:sp>
      <p:sp>
        <p:nvSpPr>
          <p:cNvPr id="12" name="Text 10"/>
          <p:cNvSpPr/>
          <p:nvPr/>
        </p:nvSpPr>
        <p:spPr>
          <a:xfrm>
            <a:off x="5138928" y="2103120"/>
            <a:ext cx="2505456"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Cannot build a credible city + operating-model shortlist</a:t>
            </a:r>
            <a:endParaRPr lang="en-US" sz="930" dirty="0"/>
          </a:p>
        </p:txBody>
      </p:sp>
      <p:sp>
        <p:nvSpPr>
          <p:cNvPr id="13" name="Text 11"/>
          <p:cNvSpPr/>
          <p:nvPr/>
        </p:nvSpPr>
        <p:spPr>
          <a:xfrm>
            <a:off x="7827264" y="2103120"/>
            <a:ext cx="3657600"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Advisor referrals, spreadsheets, bespoke consulting</a:t>
            </a:r>
            <a:endParaRPr lang="en-US" sz="930" dirty="0"/>
          </a:p>
        </p:txBody>
      </p:sp>
      <p:sp>
        <p:nvSpPr>
          <p:cNvPr id="14" name="Shape 12"/>
          <p:cNvSpPr/>
          <p:nvPr/>
        </p:nvSpPr>
        <p:spPr>
          <a:xfrm>
            <a:off x="603504" y="2743200"/>
            <a:ext cx="11018520" cy="603504"/>
          </a:xfrm>
          <a:prstGeom prst="roundRect">
            <a:avLst>
              <a:gd name="adj" fmla="val 15152"/>
            </a:avLst>
          </a:prstGeom>
          <a:solidFill>
            <a:srgbClr val="F9FBFC"/>
          </a:solidFill>
          <a:ln w="6350">
            <a:solidFill>
              <a:srgbClr val="E8EDF1"/>
            </a:solidFill>
            <a:prstDash val="solid"/>
          </a:ln>
        </p:spPr>
      </p:sp>
      <p:sp>
        <p:nvSpPr>
          <p:cNvPr id="15" name="Text 13"/>
          <p:cNvSpPr/>
          <p:nvPr/>
        </p:nvSpPr>
        <p:spPr>
          <a:xfrm>
            <a:off x="621792" y="2816352"/>
            <a:ext cx="2066544" cy="457200"/>
          </a:xfrm>
          <a:prstGeom prst="rect">
            <a:avLst/>
          </a:prstGeom>
          <a:noFill/>
          <a:ln/>
        </p:spPr>
        <p:txBody>
          <a:bodyPr wrap="square" lIns="0" tIns="0" rIns="0" bIns="0" rtlCol="0" anchor="ctr">
            <a:normAutofit/>
          </a:bodyPr>
          <a:lstStyle/>
          <a:p>
            <a:pPr algn="l" indent="0" marL="0">
              <a:buNone/>
            </a:pPr>
            <a:r>
              <a:rPr lang="en-US" sz="1010" b="1" dirty="0">
                <a:solidFill>
                  <a:srgbClr val="17283F"/>
                </a:solidFill>
                <a:latin typeface="Aptos" pitchFamily="34" charset="0"/>
                <a:ea typeface="Aptos" pitchFamily="34" charset="-122"/>
                <a:cs typeface="Aptos" pitchFamily="34" charset="-120"/>
              </a:rPr>
              <a:t>Existing GCC leader</a:t>
            </a:r>
            <a:endParaRPr lang="en-US" sz="1010" dirty="0"/>
          </a:p>
        </p:txBody>
      </p:sp>
      <p:sp>
        <p:nvSpPr>
          <p:cNvPr id="16" name="Text 14"/>
          <p:cNvSpPr/>
          <p:nvPr/>
        </p:nvSpPr>
        <p:spPr>
          <a:xfrm>
            <a:off x="2880360" y="2816352"/>
            <a:ext cx="2066544"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Site head / expansion / PMO</a:t>
            </a:r>
            <a:endParaRPr lang="en-US" sz="930" dirty="0"/>
          </a:p>
        </p:txBody>
      </p:sp>
      <p:sp>
        <p:nvSpPr>
          <p:cNvPr id="17" name="Text 15"/>
          <p:cNvSpPr/>
          <p:nvPr/>
        </p:nvSpPr>
        <p:spPr>
          <a:xfrm>
            <a:off x="5138928" y="2816352"/>
            <a:ext cx="2505456"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Peer benchmarks and location signals arrive late</a:t>
            </a:r>
            <a:endParaRPr lang="en-US" sz="930" dirty="0"/>
          </a:p>
        </p:txBody>
      </p:sp>
      <p:sp>
        <p:nvSpPr>
          <p:cNvPr id="18" name="Text 16"/>
          <p:cNvSpPr/>
          <p:nvPr/>
        </p:nvSpPr>
        <p:spPr>
          <a:xfrm>
            <a:off x="7827264" y="2816352"/>
            <a:ext cx="3657600"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Networks, brokers, periodic reports</a:t>
            </a:r>
            <a:endParaRPr lang="en-US" sz="930" dirty="0"/>
          </a:p>
        </p:txBody>
      </p:sp>
      <p:sp>
        <p:nvSpPr>
          <p:cNvPr id="19" name="Shape 17"/>
          <p:cNvSpPr/>
          <p:nvPr/>
        </p:nvSpPr>
        <p:spPr>
          <a:xfrm>
            <a:off x="603504" y="3456432"/>
            <a:ext cx="11018520" cy="603504"/>
          </a:xfrm>
          <a:prstGeom prst="roundRect">
            <a:avLst>
              <a:gd name="adj" fmla="val 15152"/>
            </a:avLst>
          </a:prstGeom>
          <a:solidFill>
            <a:srgbClr val="FFFFFF"/>
          </a:solidFill>
          <a:ln w="6350">
            <a:solidFill>
              <a:srgbClr val="E8EDF1"/>
            </a:solidFill>
            <a:prstDash val="solid"/>
          </a:ln>
        </p:spPr>
      </p:sp>
      <p:sp>
        <p:nvSpPr>
          <p:cNvPr id="20" name="Text 18"/>
          <p:cNvSpPr/>
          <p:nvPr/>
        </p:nvSpPr>
        <p:spPr>
          <a:xfrm>
            <a:off x="621792" y="3529584"/>
            <a:ext cx="2066544" cy="457200"/>
          </a:xfrm>
          <a:prstGeom prst="rect">
            <a:avLst/>
          </a:prstGeom>
          <a:noFill/>
          <a:ln/>
        </p:spPr>
        <p:txBody>
          <a:bodyPr wrap="square" lIns="0" tIns="0" rIns="0" bIns="0" rtlCol="0" anchor="ctr">
            <a:normAutofit/>
          </a:bodyPr>
          <a:lstStyle/>
          <a:p>
            <a:pPr algn="l" indent="0" marL="0">
              <a:buNone/>
            </a:pPr>
            <a:r>
              <a:rPr lang="en-US" sz="1010" b="1" dirty="0">
                <a:solidFill>
                  <a:srgbClr val="17283F"/>
                </a:solidFill>
                <a:latin typeface="Aptos" pitchFamily="34" charset="0"/>
                <a:ea typeface="Aptos" pitchFamily="34" charset="-122"/>
                <a:cs typeface="Aptos" pitchFamily="34" charset="-120"/>
              </a:rPr>
              <a:t>GCC-facing provider</a:t>
            </a:r>
            <a:endParaRPr lang="en-US" sz="1010" dirty="0"/>
          </a:p>
        </p:txBody>
      </p:sp>
      <p:sp>
        <p:nvSpPr>
          <p:cNvPr id="21" name="Text 19"/>
          <p:cNvSpPr/>
          <p:nvPr/>
        </p:nvSpPr>
        <p:spPr>
          <a:xfrm>
            <a:off x="2880360" y="3529584"/>
            <a:ext cx="2066544"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Sales / practice leader</a:t>
            </a:r>
            <a:endParaRPr lang="en-US" sz="930" dirty="0"/>
          </a:p>
        </p:txBody>
      </p:sp>
      <p:sp>
        <p:nvSpPr>
          <p:cNvPr id="22" name="Text 20"/>
          <p:cNvSpPr/>
          <p:nvPr/>
        </p:nvSpPr>
        <p:spPr>
          <a:xfrm>
            <a:off x="5138928" y="3529584"/>
            <a:ext cx="2505456"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Misses expansion triggers; outreach starts too late</a:t>
            </a:r>
            <a:endParaRPr lang="en-US" sz="930" dirty="0"/>
          </a:p>
        </p:txBody>
      </p:sp>
      <p:sp>
        <p:nvSpPr>
          <p:cNvPr id="23" name="Text 21"/>
          <p:cNvSpPr/>
          <p:nvPr/>
        </p:nvSpPr>
        <p:spPr>
          <a:xfrm>
            <a:off x="7827264" y="3529584"/>
            <a:ext cx="3657600"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Manual web research, CRM lists, warm referrals</a:t>
            </a:r>
            <a:endParaRPr lang="en-US" sz="930" dirty="0"/>
          </a:p>
        </p:txBody>
      </p:sp>
      <p:sp>
        <p:nvSpPr>
          <p:cNvPr id="24" name="Shape 22"/>
          <p:cNvSpPr/>
          <p:nvPr/>
        </p:nvSpPr>
        <p:spPr>
          <a:xfrm>
            <a:off x="603504" y="4169664"/>
            <a:ext cx="11018520" cy="603504"/>
          </a:xfrm>
          <a:prstGeom prst="roundRect">
            <a:avLst>
              <a:gd name="adj" fmla="val 15152"/>
            </a:avLst>
          </a:prstGeom>
          <a:solidFill>
            <a:srgbClr val="F9FBFC"/>
          </a:solidFill>
          <a:ln w="6350">
            <a:solidFill>
              <a:srgbClr val="E8EDF1"/>
            </a:solidFill>
            <a:prstDash val="solid"/>
          </a:ln>
        </p:spPr>
      </p:sp>
      <p:sp>
        <p:nvSpPr>
          <p:cNvPr id="25" name="Text 23"/>
          <p:cNvSpPr/>
          <p:nvPr/>
        </p:nvSpPr>
        <p:spPr>
          <a:xfrm>
            <a:off x="621792" y="4242816"/>
            <a:ext cx="2066544" cy="457200"/>
          </a:xfrm>
          <a:prstGeom prst="rect">
            <a:avLst/>
          </a:prstGeom>
          <a:noFill/>
          <a:ln/>
        </p:spPr>
        <p:txBody>
          <a:bodyPr wrap="square" lIns="0" tIns="0" rIns="0" bIns="0" rtlCol="0" anchor="ctr">
            <a:normAutofit/>
          </a:bodyPr>
          <a:lstStyle/>
          <a:p>
            <a:pPr algn="l" indent="0" marL="0">
              <a:buNone/>
            </a:pPr>
            <a:r>
              <a:rPr lang="en-US" sz="1010" b="1" dirty="0">
                <a:solidFill>
                  <a:srgbClr val="17283F"/>
                </a:solidFill>
                <a:latin typeface="Aptos" pitchFamily="34" charset="0"/>
                <a:ea typeface="Aptos" pitchFamily="34" charset="-122"/>
                <a:cs typeface="Aptos" pitchFamily="34" charset="-120"/>
              </a:rPr>
              <a:t>State / investment agency</a:t>
            </a:r>
            <a:endParaRPr lang="en-US" sz="1010" dirty="0"/>
          </a:p>
        </p:txBody>
      </p:sp>
      <p:sp>
        <p:nvSpPr>
          <p:cNvPr id="26" name="Text 24"/>
          <p:cNvSpPr/>
          <p:nvPr/>
        </p:nvSpPr>
        <p:spPr>
          <a:xfrm>
            <a:off x="2880360" y="4242816"/>
            <a:ext cx="2066544"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Investment promotion team</a:t>
            </a:r>
            <a:endParaRPr lang="en-US" sz="930" dirty="0"/>
          </a:p>
        </p:txBody>
      </p:sp>
      <p:sp>
        <p:nvSpPr>
          <p:cNvPr id="27" name="Text 25"/>
          <p:cNvSpPr/>
          <p:nvPr/>
        </p:nvSpPr>
        <p:spPr>
          <a:xfrm>
            <a:off x="5138928" y="4242816"/>
            <a:ext cx="2505456"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Hard to compare pipeline, cluster gaps and competing offers</a:t>
            </a:r>
            <a:endParaRPr lang="en-US" sz="930" dirty="0"/>
          </a:p>
        </p:txBody>
      </p:sp>
      <p:sp>
        <p:nvSpPr>
          <p:cNvPr id="28" name="Text 26"/>
          <p:cNvSpPr/>
          <p:nvPr/>
        </p:nvSpPr>
        <p:spPr>
          <a:xfrm>
            <a:off x="7827264" y="4242816"/>
            <a:ext cx="3657600"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Inbound enquiries, fragmented industry reporting</a:t>
            </a:r>
            <a:endParaRPr lang="en-US" sz="930" dirty="0"/>
          </a:p>
        </p:txBody>
      </p:sp>
      <p:sp>
        <p:nvSpPr>
          <p:cNvPr id="29" name="Shape 27"/>
          <p:cNvSpPr/>
          <p:nvPr/>
        </p:nvSpPr>
        <p:spPr>
          <a:xfrm>
            <a:off x="603504" y="4882896"/>
            <a:ext cx="11018520" cy="603504"/>
          </a:xfrm>
          <a:prstGeom prst="roundRect">
            <a:avLst>
              <a:gd name="adj" fmla="val 15152"/>
            </a:avLst>
          </a:prstGeom>
          <a:solidFill>
            <a:srgbClr val="FFFFFF"/>
          </a:solidFill>
          <a:ln w="6350">
            <a:solidFill>
              <a:srgbClr val="E8EDF1"/>
            </a:solidFill>
            <a:prstDash val="solid"/>
          </a:ln>
        </p:spPr>
      </p:sp>
      <p:sp>
        <p:nvSpPr>
          <p:cNvPr id="30" name="Text 28"/>
          <p:cNvSpPr/>
          <p:nvPr/>
        </p:nvSpPr>
        <p:spPr>
          <a:xfrm>
            <a:off x="621792" y="4956048"/>
            <a:ext cx="2066544" cy="457200"/>
          </a:xfrm>
          <a:prstGeom prst="rect">
            <a:avLst/>
          </a:prstGeom>
          <a:noFill/>
          <a:ln/>
        </p:spPr>
        <p:txBody>
          <a:bodyPr wrap="square" lIns="0" tIns="0" rIns="0" bIns="0" rtlCol="0" anchor="ctr">
            <a:normAutofit/>
          </a:bodyPr>
          <a:lstStyle/>
          <a:p>
            <a:pPr algn="l" indent="0" marL="0">
              <a:buNone/>
            </a:pPr>
            <a:r>
              <a:rPr lang="en-US" sz="1010" b="1" dirty="0">
                <a:solidFill>
                  <a:srgbClr val="17283F"/>
                </a:solidFill>
                <a:latin typeface="Aptos" pitchFamily="34" charset="0"/>
                <a:ea typeface="Aptos" pitchFamily="34" charset="-122"/>
                <a:cs typeface="Aptos" pitchFamily="34" charset="-120"/>
              </a:rPr>
              <a:t>Advisor / implementation partner</a:t>
            </a:r>
            <a:endParaRPr lang="en-US" sz="1010" dirty="0"/>
          </a:p>
        </p:txBody>
      </p:sp>
      <p:sp>
        <p:nvSpPr>
          <p:cNvPr id="31" name="Text 29"/>
          <p:cNvSpPr/>
          <p:nvPr/>
        </p:nvSpPr>
        <p:spPr>
          <a:xfrm>
            <a:off x="2880360" y="4956048"/>
            <a:ext cx="2066544"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GCC setup, legal, tax, HR</a:t>
            </a:r>
            <a:endParaRPr lang="en-US" sz="930" dirty="0"/>
          </a:p>
        </p:txBody>
      </p:sp>
      <p:sp>
        <p:nvSpPr>
          <p:cNvPr id="32" name="Text 30"/>
          <p:cNvSpPr/>
          <p:nvPr/>
        </p:nvSpPr>
        <p:spPr>
          <a:xfrm>
            <a:off x="5138928" y="4956048"/>
            <a:ext cx="2505456"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Rebuilds market evidence for each client; delivery claims hard to assess</a:t>
            </a:r>
            <a:endParaRPr lang="en-US" sz="930" dirty="0"/>
          </a:p>
        </p:txBody>
      </p:sp>
      <p:sp>
        <p:nvSpPr>
          <p:cNvPr id="33" name="Text 31"/>
          <p:cNvSpPr/>
          <p:nvPr/>
        </p:nvSpPr>
        <p:spPr>
          <a:xfrm>
            <a:off x="7827264" y="4956048"/>
            <a:ext cx="3657600" cy="457200"/>
          </a:xfrm>
          <a:prstGeom prst="rect">
            <a:avLst/>
          </a:prstGeom>
          <a:noFill/>
          <a:ln/>
        </p:spPr>
        <p:txBody>
          <a:bodyPr wrap="square" lIns="0" tIns="0" rIns="0" bIns="0" rtlCol="0" anchor="ctr">
            <a:normAutofit/>
          </a:bodyPr>
          <a:lstStyle/>
          <a:p>
            <a:pPr algn="l" indent="0" marL="0">
              <a:buNone/>
            </a:pPr>
            <a:r>
              <a:rPr lang="en-US" sz="930" dirty="0">
                <a:solidFill>
                  <a:srgbClr val="42566D"/>
                </a:solidFill>
                <a:latin typeface="Aptos" pitchFamily="34" charset="0"/>
                <a:ea typeface="Aptos" pitchFamily="34" charset="-122"/>
                <a:cs typeface="Aptos" pitchFamily="34" charset="-120"/>
              </a:rPr>
              <a:t>Proprietary decks, calls and prior project memory</a:t>
            </a:r>
            <a:endParaRPr lang="en-US" sz="930" dirty="0"/>
          </a:p>
        </p:txBody>
      </p:sp>
      <p:sp>
        <p:nvSpPr>
          <p:cNvPr id="34" name="Shape 32"/>
          <p:cNvSpPr/>
          <p:nvPr/>
        </p:nvSpPr>
        <p:spPr>
          <a:xfrm>
            <a:off x="621792" y="5769864"/>
            <a:ext cx="11000232" cy="438912"/>
          </a:xfrm>
          <a:prstGeom prst="roundRect">
            <a:avLst>
              <a:gd name="adj" fmla="val 20833"/>
            </a:avLst>
          </a:prstGeom>
          <a:solidFill>
            <a:srgbClr val="E2F7F3"/>
          </a:solidFill>
          <a:ln w="8890">
            <a:solidFill>
              <a:srgbClr val="D5EEE8"/>
            </a:solidFill>
            <a:prstDash val="solid"/>
          </a:ln>
        </p:spPr>
      </p:sp>
      <p:sp>
        <p:nvSpPr>
          <p:cNvPr id="35" name="Text 33"/>
          <p:cNvSpPr/>
          <p:nvPr/>
        </p:nvSpPr>
        <p:spPr>
          <a:xfrm>
            <a:off x="813816" y="5888736"/>
            <a:ext cx="1691640" cy="146304"/>
          </a:xfrm>
          <a:prstGeom prst="rect">
            <a:avLst/>
          </a:prstGeom>
          <a:noFill/>
          <a:ln/>
        </p:spPr>
        <p:txBody>
          <a:bodyPr wrap="square" lIns="0" tIns="0" rIns="0" bIns="0" rtlCol="0" anchor="ctr">
            <a:normAutofit/>
          </a:bodyPr>
          <a:lstStyle/>
          <a:p>
            <a:pPr algn="l" indent="0" marL="0">
              <a:buNone/>
            </a:pPr>
            <a:r>
              <a:rPr lang="en-US" sz="820" b="1" spc="100" kern="0" dirty="0">
                <a:solidFill>
                  <a:srgbClr val="00A994"/>
                </a:solidFill>
                <a:latin typeface="Aptos" pitchFamily="34" charset="0"/>
                <a:ea typeface="Aptos" pitchFamily="34" charset="-122"/>
                <a:cs typeface="Aptos" pitchFamily="34" charset="-120"/>
              </a:rPr>
              <a:t>COMMON JOB TO BE DONE</a:t>
            </a:r>
            <a:endParaRPr lang="en-US" sz="820" dirty="0"/>
          </a:p>
        </p:txBody>
      </p:sp>
      <p:sp>
        <p:nvSpPr>
          <p:cNvPr id="36" name="Text 34"/>
          <p:cNvSpPr/>
          <p:nvPr/>
        </p:nvSpPr>
        <p:spPr>
          <a:xfrm>
            <a:off x="2606040" y="5843016"/>
            <a:ext cx="8641080" cy="210312"/>
          </a:xfrm>
          <a:prstGeom prst="rect">
            <a:avLst/>
          </a:prstGeom>
          <a:noFill/>
          <a:ln/>
        </p:spPr>
        <p:txBody>
          <a:bodyPr wrap="square" lIns="0" tIns="0" rIns="0" bIns="0" rtlCol="0" anchor="ctr">
            <a:normAutofit/>
          </a:bodyPr>
          <a:lstStyle/>
          <a:p>
            <a:pPr algn="l" indent="0" marL="0">
              <a:buNone/>
            </a:pPr>
            <a:r>
              <a:rPr lang="en-US" sz="1210" b="1" dirty="0">
                <a:solidFill>
                  <a:srgbClr val="17283F"/>
                </a:solidFill>
                <a:latin typeface="Aptos" pitchFamily="34" charset="0"/>
                <a:ea typeface="Aptos" pitchFamily="34" charset="-122"/>
                <a:cs typeface="Aptos" pitchFamily="34" charset="-120"/>
              </a:rPr>
              <a:t>Find the right company, city or partner—and understand the evidence well enough to act.</a:t>
            </a:r>
            <a:endParaRPr lang="en-US" sz="121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04 · THE COUNT IS THE PRODUCT</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“How many GCCs?” is unanswerable without a definition and an as-of date.</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The difference between a GCC company and a GCC unit/site is material—not semantic.</a:t>
            </a:r>
            <a:endParaRPr lang="en-US" sz="1120" dirty="0"/>
          </a:p>
        </p:txBody>
      </p:sp>
      <p:sp>
        <p:nvSpPr>
          <p:cNvPr id="5" name="Shape 3"/>
          <p:cNvSpPr/>
          <p:nvPr/>
        </p:nvSpPr>
        <p:spPr>
          <a:xfrm>
            <a:off x="621792" y="1865376"/>
            <a:ext cx="3438144" cy="2167128"/>
          </a:xfrm>
          <a:prstGeom prst="roundRect">
            <a:avLst>
              <a:gd name="adj" fmla="val 4219"/>
            </a:avLst>
          </a:prstGeom>
          <a:solidFill>
            <a:srgbClr val="FFFFFF"/>
          </a:solidFill>
          <a:ln w="8890">
            <a:solidFill>
              <a:srgbClr val="DEE6EC"/>
            </a:solidFill>
            <a:prstDash val="solid"/>
          </a:ln>
        </p:spPr>
      </p:sp>
      <p:sp>
        <p:nvSpPr>
          <p:cNvPr id="6" name="Shape 4"/>
          <p:cNvSpPr/>
          <p:nvPr/>
        </p:nvSpPr>
        <p:spPr>
          <a:xfrm>
            <a:off x="804672" y="2048256"/>
            <a:ext cx="1078992" cy="237744"/>
          </a:xfrm>
          <a:prstGeom prst="roundRect">
            <a:avLst>
              <a:gd name="adj" fmla="val 38462"/>
            </a:avLst>
          </a:prstGeom>
          <a:solidFill>
            <a:srgbClr val="EAF0FF"/>
          </a:solidFill>
          <a:ln w="10160">
            <a:solidFill>
              <a:srgbClr val="EAF0FF">
                <a:alpha val="0"/>
              </a:srgbClr>
            </a:solidFill>
            <a:prstDash val="solid"/>
          </a:ln>
        </p:spPr>
      </p:sp>
      <p:sp>
        <p:nvSpPr>
          <p:cNvPr id="7" name="Text 5"/>
          <p:cNvSpPr/>
          <p:nvPr/>
        </p:nvSpPr>
        <p:spPr>
          <a:xfrm>
            <a:off x="868680" y="2066544"/>
            <a:ext cx="950976" cy="173736"/>
          </a:xfrm>
          <a:prstGeom prst="rect">
            <a:avLst/>
          </a:prstGeom>
          <a:noFill/>
          <a:ln/>
        </p:spPr>
        <p:txBody>
          <a:bodyPr wrap="square" lIns="0" tIns="0" rIns="0" bIns="0" rtlCol="0" anchor="ctr">
            <a:normAutofit/>
          </a:bodyPr>
          <a:lstStyle/>
          <a:p>
            <a:pPr algn="ctr" indent="0" marL="0">
              <a:buNone/>
            </a:pPr>
            <a:r>
              <a:rPr lang="en-US" sz="780" b="1" dirty="0">
                <a:solidFill>
                  <a:srgbClr val="5B80D5"/>
                </a:solidFill>
                <a:latin typeface="Aptos" pitchFamily="34" charset="0"/>
                <a:ea typeface="Aptos" pitchFamily="34" charset="-122"/>
                <a:cs typeface="Aptos" pitchFamily="34" charset="-120"/>
              </a:rPr>
              <a:t>FY2024</a:t>
            </a:r>
            <a:endParaRPr lang="en-US" sz="780" dirty="0"/>
          </a:p>
        </p:txBody>
      </p:sp>
      <p:sp>
        <p:nvSpPr>
          <p:cNvPr id="8" name="Text 6"/>
          <p:cNvSpPr/>
          <p:nvPr/>
        </p:nvSpPr>
        <p:spPr>
          <a:xfrm>
            <a:off x="804672" y="2542032"/>
            <a:ext cx="1536192" cy="393192"/>
          </a:xfrm>
          <a:prstGeom prst="rect">
            <a:avLst/>
          </a:prstGeom>
          <a:noFill/>
          <a:ln/>
        </p:spPr>
        <p:txBody>
          <a:bodyPr wrap="square" lIns="0" tIns="0" rIns="0" bIns="0" rtlCol="0" anchor="ctr">
            <a:normAutofit/>
          </a:bodyPr>
          <a:lstStyle/>
          <a:p>
            <a:pPr algn="l" indent="0" marL="0">
              <a:buNone/>
            </a:pPr>
            <a:r>
              <a:rPr lang="en-US" sz="2700" b="1" dirty="0">
                <a:solidFill>
                  <a:srgbClr val="17283F"/>
                </a:solidFill>
                <a:latin typeface="Aptos Display" pitchFamily="34" charset="0"/>
                <a:ea typeface="Aptos Display" pitchFamily="34" charset="-122"/>
                <a:cs typeface="Aptos Display" pitchFamily="34" charset="-120"/>
              </a:rPr>
              <a:t>1,700+</a:t>
            </a:r>
            <a:endParaRPr lang="en-US" sz="2700" dirty="0"/>
          </a:p>
        </p:txBody>
      </p:sp>
      <p:sp>
        <p:nvSpPr>
          <p:cNvPr id="9" name="Text 7"/>
          <p:cNvSpPr/>
          <p:nvPr/>
        </p:nvSpPr>
        <p:spPr>
          <a:xfrm>
            <a:off x="804672" y="2953512"/>
            <a:ext cx="1481328" cy="201168"/>
          </a:xfrm>
          <a:prstGeom prst="rect">
            <a:avLst/>
          </a:prstGeom>
          <a:noFill/>
          <a:ln/>
        </p:spPr>
        <p:txBody>
          <a:bodyPr wrap="square" lIns="0" tIns="0" rIns="0" bIns="0" rtlCol="0" anchor="ctr">
            <a:normAutofit/>
          </a:bodyPr>
          <a:lstStyle/>
          <a:p>
            <a:pPr algn="l" indent="0" marL="0">
              <a:buNone/>
            </a:pPr>
            <a:r>
              <a:rPr lang="en-US" sz="980" dirty="0">
                <a:solidFill>
                  <a:srgbClr val="718196"/>
                </a:solidFill>
                <a:latin typeface="Aptos" pitchFamily="34" charset="0"/>
                <a:ea typeface="Aptos" pitchFamily="34" charset="-122"/>
                <a:cs typeface="Aptos" pitchFamily="34" charset="-120"/>
              </a:rPr>
              <a:t>GCCs</a:t>
            </a:r>
            <a:endParaRPr lang="en-US" sz="980" dirty="0"/>
          </a:p>
        </p:txBody>
      </p:sp>
      <p:sp>
        <p:nvSpPr>
          <p:cNvPr id="10" name="Text 8"/>
          <p:cNvSpPr/>
          <p:nvPr/>
        </p:nvSpPr>
        <p:spPr>
          <a:xfrm>
            <a:off x="2423160" y="2542032"/>
            <a:ext cx="1426464" cy="393192"/>
          </a:xfrm>
          <a:prstGeom prst="rect">
            <a:avLst/>
          </a:prstGeom>
          <a:noFill/>
          <a:ln/>
        </p:spPr>
        <p:txBody>
          <a:bodyPr wrap="square" lIns="0" tIns="0" rIns="0" bIns="0" rtlCol="0" anchor="ctr">
            <a:normAutofit/>
          </a:bodyPr>
          <a:lstStyle/>
          <a:p>
            <a:pPr algn="l" indent="0" marL="0">
              <a:buNone/>
            </a:pPr>
            <a:r>
              <a:rPr lang="en-US" sz="2700" b="1" dirty="0">
                <a:solidFill>
                  <a:srgbClr val="17283F"/>
                </a:solidFill>
                <a:latin typeface="Aptos Display" pitchFamily="34" charset="0"/>
                <a:ea typeface="Aptos Display" pitchFamily="34" charset="-122"/>
                <a:cs typeface="Aptos Display" pitchFamily="34" charset="-120"/>
              </a:rPr>
              <a:t>2,975+</a:t>
            </a:r>
            <a:endParaRPr lang="en-US" sz="2700" dirty="0"/>
          </a:p>
        </p:txBody>
      </p:sp>
      <p:sp>
        <p:nvSpPr>
          <p:cNvPr id="11" name="Text 9"/>
          <p:cNvSpPr/>
          <p:nvPr/>
        </p:nvSpPr>
        <p:spPr>
          <a:xfrm>
            <a:off x="2423160" y="2953512"/>
            <a:ext cx="1389888" cy="201168"/>
          </a:xfrm>
          <a:prstGeom prst="rect">
            <a:avLst/>
          </a:prstGeom>
          <a:noFill/>
          <a:ln/>
        </p:spPr>
        <p:txBody>
          <a:bodyPr wrap="square" lIns="0" tIns="0" rIns="0" bIns="0" rtlCol="0" anchor="ctr">
            <a:normAutofit/>
          </a:bodyPr>
          <a:lstStyle/>
          <a:p>
            <a:pPr algn="l" indent="0" marL="0">
              <a:buNone/>
            </a:pPr>
            <a:r>
              <a:rPr lang="en-US" sz="980" dirty="0">
                <a:solidFill>
                  <a:srgbClr val="718196"/>
                </a:solidFill>
                <a:latin typeface="Aptos" pitchFamily="34" charset="0"/>
                <a:ea typeface="Aptos" pitchFamily="34" charset="-122"/>
                <a:cs typeface="Aptos" pitchFamily="34" charset="-120"/>
              </a:rPr>
              <a:t>centres</a:t>
            </a:r>
            <a:endParaRPr lang="en-US" sz="980" dirty="0"/>
          </a:p>
        </p:txBody>
      </p:sp>
      <p:sp>
        <p:nvSpPr>
          <p:cNvPr id="12" name="Shape 10"/>
          <p:cNvSpPr/>
          <p:nvPr/>
        </p:nvSpPr>
        <p:spPr>
          <a:xfrm>
            <a:off x="804672" y="3328416"/>
            <a:ext cx="3035808" cy="0"/>
          </a:xfrm>
          <a:prstGeom prst="line">
            <a:avLst/>
          </a:prstGeom>
          <a:noFill/>
          <a:ln w="10160">
            <a:solidFill>
              <a:srgbClr val="DEE6EC"/>
            </a:solidFill>
            <a:prstDash val="solid"/>
            <a:headEnd type="none"/>
            <a:tailEnd type="none"/>
          </a:ln>
        </p:spPr>
      </p:sp>
      <p:sp>
        <p:nvSpPr>
          <p:cNvPr id="13" name="Text 11"/>
          <p:cNvSpPr/>
          <p:nvPr/>
        </p:nvSpPr>
        <p:spPr>
          <a:xfrm>
            <a:off x="804672" y="3502152"/>
            <a:ext cx="3017520" cy="210312"/>
          </a:xfrm>
          <a:prstGeom prst="rect">
            <a:avLst/>
          </a:prstGeom>
          <a:noFill/>
          <a:ln/>
        </p:spPr>
        <p:txBody>
          <a:bodyPr wrap="square" lIns="0" tIns="0" rIns="0" bIns="0" rtlCol="0" anchor="ctr">
            <a:normAutofit/>
          </a:bodyPr>
          <a:lstStyle/>
          <a:p>
            <a:pPr algn="l" indent="0" marL="0">
              <a:buNone/>
            </a:pPr>
            <a:r>
              <a:rPr lang="en-US" sz="870" b="1" dirty="0">
                <a:solidFill>
                  <a:srgbClr val="42566D"/>
                </a:solidFill>
                <a:latin typeface="Aptos" pitchFamily="34" charset="0"/>
                <a:ea typeface="Aptos" pitchFamily="34" charset="-122"/>
                <a:cs typeface="Aptos" pitchFamily="34" charset="-120"/>
              </a:rPr>
              <a:t>KPMG summary · FY2024</a:t>
            </a:r>
            <a:endParaRPr lang="en-US" sz="870" dirty="0"/>
          </a:p>
        </p:txBody>
      </p:sp>
      <p:sp>
        <p:nvSpPr>
          <p:cNvPr id="14" name="Shape 12"/>
          <p:cNvSpPr/>
          <p:nvPr/>
        </p:nvSpPr>
        <p:spPr>
          <a:xfrm>
            <a:off x="4315968" y="1865376"/>
            <a:ext cx="3438144" cy="2167128"/>
          </a:xfrm>
          <a:prstGeom prst="roundRect">
            <a:avLst>
              <a:gd name="adj" fmla="val 4219"/>
            </a:avLst>
          </a:prstGeom>
          <a:solidFill>
            <a:srgbClr val="FFFFFF"/>
          </a:solidFill>
          <a:ln w="8890">
            <a:solidFill>
              <a:srgbClr val="DEE6EC"/>
            </a:solidFill>
            <a:prstDash val="solid"/>
          </a:ln>
        </p:spPr>
      </p:sp>
      <p:sp>
        <p:nvSpPr>
          <p:cNvPr id="15" name="Shape 13"/>
          <p:cNvSpPr/>
          <p:nvPr/>
        </p:nvSpPr>
        <p:spPr>
          <a:xfrm>
            <a:off x="4498848" y="2048256"/>
            <a:ext cx="1078992" cy="237744"/>
          </a:xfrm>
          <a:prstGeom prst="roundRect">
            <a:avLst>
              <a:gd name="adj" fmla="val 38462"/>
            </a:avLst>
          </a:prstGeom>
          <a:solidFill>
            <a:srgbClr val="E2F7F3"/>
          </a:solidFill>
          <a:ln w="10160">
            <a:solidFill>
              <a:srgbClr val="E2F7F3">
                <a:alpha val="0"/>
              </a:srgbClr>
            </a:solidFill>
            <a:prstDash val="solid"/>
          </a:ln>
        </p:spPr>
      </p:sp>
      <p:sp>
        <p:nvSpPr>
          <p:cNvPr id="16" name="Text 14"/>
          <p:cNvSpPr/>
          <p:nvPr/>
        </p:nvSpPr>
        <p:spPr>
          <a:xfrm>
            <a:off x="4562856" y="2066544"/>
            <a:ext cx="950976"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FY2026</a:t>
            </a:r>
            <a:endParaRPr lang="en-US" sz="780" dirty="0"/>
          </a:p>
        </p:txBody>
      </p:sp>
      <p:sp>
        <p:nvSpPr>
          <p:cNvPr id="17" name="Text 15"/>
          <p:cNvSpPr/>
          <p:nvPr/>
        </p:nvSpPr>
        <p:spPr>
          <a:xfrm>
            <a:off x="4498848" y="2542032"/>
            <a:ext cx="1536192" cy="393192"/>
          </a:xfrm>
          <a:prstGeom prst="rect">
            <a:avLst/>
          </a:prstGeom>
          <a:noFill/>
          <a:ln/>
        </p:spPr>
        <p:txBody>
          <a:bodyPr wrap="square" lIns="0" tIns="0" rIns="0" bIns="0" rtlCol="0" anchor="ctr">
            <a:normAutofit/>
          </a:bodyPr>
          <a:lstStyle/>
          <a:p>
            <a:pPr algn="l" indent="0" marL="0">
              <a:buNone/>
            </a:pPr>
            <a:r>
              <a:rPr lang="en-US" sz="2700" b="1" dirty="0">
                <a:solidFill>
                  <a:srgbClr val="17283F"/>
                </a:solidFill>
                <a:latin typeface="Aptos Display" pitchFamily="34" charset="0"/>
                <a:ea typeface="Aptos Display" pitchFamily="34" charset="-122"/>
                <a:cs typeface="Aptos Display" pitchFamily="34" charset="-120"/>
              </a:rPr>
              <a:t>2,117</a:t>
            </a:r>
            <a:endParaRPr lang="en-US" sz="2700" dirty="0"/>
          </a:p>
        </p:txBody>
      </p:sp>
      <p:sp>
        <p:nvSpPr>
          <p:cNvPr id="18" name="Text 16"/>
          <p:cNvSpPr/>
          <p:nvPr/>
        </p:nvSpPr>
        <p:spPr>
          <a:xfrm>
            <a:off x="4498848" y="2953512"/>
            <a:ext cx="1481328" cy="201168"/>
          </a:xfrm>
          <a:prstGeom prst="rect">
            <a:avLst/>
          </a:prstGeom>
          <a:noFill/>
          <a:ln/>
        </p:spPr>
        <p:txBody>
          <a:bodyPr wrap="square" lIns="0" tIns="0" rIns="0" bIns="0" rtlCol="0" anchor="ctr">
            <a:normAutofit/>
          </a:bodyPr>
          <a:lstStyle/>
          <a:p>
            <a:pPr algn="l" indent="0" marL="0">
              <a:buNone/>
            </a:pPr>
            <a:r>
              <a:rPr lang="en-US" sz="980" dirty="0">
                <a:solidFill>
                  <a:srgbClr val="718196"/>
                </a:solidFill>
                <a:latin typeface="Aptos" pitchFamily="34" charset="0"/>
                <a:ea typeface="Aptos" pitchFamily="34" charset="-122"/>
                <a:cs typeface="Aptos" pitchFamily="34" charset="-120"/>
              </a:rPr>
              <a:t>GCCs</a:t>
            </a:r>
            <a:endParaRPr lang="en-US" sz="980" dirty="0"/>
          </a:p>
        </p:txBody>
      </p:sp>
      <p:sp>
        <p:nvSpPr>
          <p:cNvPr id="19" name="Text 17"/>
          <p:cNvSpPr/>
          <p:nvPr/>
        </p:nvSpPr>
        <p:spPr>
          <a:xfrm>
            <a:off x="6117336" y="2542032"/>
            <a:ext cx="1426464" cy="393192"/>
          </a:xfrm>
          <a:prstGeom prst="rect">
            <a:avLst/>
          </a:prstGeom>
          <a:noFill/>
          <a:ln/>
        </p:spPr>
        <p:txBody>
          <a:bodyPr wrap="square" lIns="0" tIns="0" rIns="0" bIns="0" rtlCol="0" anchor="ctr">
            <a:normAutofit/>
          </a:bodyPr>
          <a:lstStyle/>
          <a:p>
            <a:pPr algn="l" indent="0" marL="0">
              <a:buNone/>
            </a:pPr>
            <a:r>
              <a:rPr lang="en-US" sz="2700" b="1" dirty="0">
                <a:solidFill>
                  <a:srgbClr val="17283F"/>
                </a:solidFill>
                <a:latin typeface="Aptos Display" pitchFamily="34" charset="0"/>
                <a:ea typeface="Aptos Display" pitchFamily="34" charset="-122"/>
                <a:cs typeface="Aptos Display" pitchFamily="34" charset="-120"/>
              </a:rPr>
              <a:t>3,728</a:t>
            </a:r>
            <a:endParaRPr lang="en-US" sz="2700" dirty="0"/>
          </a:p>
        </p:txBody>
      </p:sp>
      <p:sp>
        <p:nvSpPr>
          <p:cNvPr id="20" name="Text 18"/>
          <p:cNvSpPr/>
          <p:nvPr/>
        </p:nvSpPr>
        <p:spPr>
          <a:xfrm>
            <a:off x="6117336" y="2953512"/>
            <a:ext cx="1389888" cy="201168"/>
          </a:xfrm>
          <a:prstGeom prst="rect">
            <a:avLst/>
          </a:prstGeom>
          <a:noFill/>
          <a:ln/>
        </p:spPr>
        <p:txBody>
          <a:bodyPr wrap="square" lIns="0" tIns="0" rIns="0" bIns="0" rtlCol="0" anchor="ctr">
            <a:normAutofit/>
          </a:bodyPr>
          <a:lstStyle/>
          <a:p>
            <a:pPr algn="l" indent="0" marL="0">
              <a:buNone/>
            </a:pPr>
            <a:r>
              <a:rPr lang="en-US" sz="980" dirty="0">
                <a:solidFill>
                  <a:srgbClr val="718196"/>
                </a:solidFill>
                <a:latin typeface="Aptos" pitchFamily="34" charset="0"/>
                <a:ea typeface="Aptos" pitchFamily="34" charset="-122"/>
                <a:cs typeface="Aptos" pitchFamily="34" charset="-120"/>
              </a:rPr>
              <a:t>GCC units</a:t>
            </a:r>
            <a:endParaRPr lang="en-US" sz="980" dirty="0"/>
          </a:p>
        </p:txBody>
      </p:sp>
      <p:sp>
        <p:nvSpPr>
          <p:cNvPr id="21" name="Shape 19"/>
          <p:cNvSpPr/>
          <p:nvPr/>
        </p:nvSpPr>
        <p:spPr>
          <a:xfrm>
            <a:off x="4498848" y="3328416"/>
            <a:ext cx="3035808" cy="0"/>
          </a:xfrm>
          <a:prstGeom prst="line">
            <a:avLst/>
          </a:prstGeom>
          <a:noFill/>
          <a:ln w="10160">
            <a:solidFill>
              <a:srgbClr val="DEE6EC"/>
            </a:solidFill>
            <a:prstDash val="solid"/>
            <a:headEnd type="none"/>
            <a:tailEnd type="none"/>
          </a:ln>
        </p:spPr>
      </p:sp>
      <p:sp>
        <p:nvSpPr>
          <p:cNvPr id="22" name="Text 20"/>
          <p:cNvSpPr/>
          <p:nvPr/>
        </p:nvSpPr>
        <p:spPr>
          <a:xfrm>
            <a:off x="4498848" y="3502152"/>
            <a:ext cx="3017520" cy="210312"/>
          </a:xfrm>
          <a:prstGeom prst="rect">
            <a:avLst/>
          </a:prstGeom>
          <a:noFill/>
          <a:ln/>
        </p:spPr>
        <p:txBody>
          <a:bodyPr wrap="square" lIns="0" tIns="0" rIns="0" bIns="0" rtlCol="0" anchor="ctr">
            <a:normAutofit/>
          </a:bodyPr>
          <a:lstStyle/>
          <a:p>
            <a:pPr algn="l" indent="0" marL="0">
              <a:buNone/>
            </a:pPr>
            <a:r>
              <a:rPr lang="en-US" sz="870" b="1" dirty="0">
                <a:solidFill>
                  <a:srgbClr val="42566D"/>
                </a:solidFill>
                <a:latin typeface="Aptos" pitchFamily="34" charset="0"/>
                <a:ea typeface="Aptos" pitchFamily="34" charset="-122"/>
                <a:cs typeface="Aptos" pitchFamily="34" charset="-120"/>
              </a:rPr>
              <a:t>Nasscom–Zinnov · FY2026</a:t>
            </a:r>
            <a:endParaRPr lang="en-US" sz="870" dirty="0"/>
          </a:p>
        </p:txBody>
      </p:sp>
      <p:sp>
        <p:nvSpPr>
          <p:cNvPr id="23" name="Shape 21"/>
          <p:cNvSpPr/>
          <p:nvPr/>
        </p:nvSpPr>
        <p:spPr>
          <a:xfrm>
            <a:off x="8010144" y="1865376"/>
            <a:ext cx="3438144" cy="2167128"/>
          </a:xfrm>
          <a:prstGeom prst="roundRect">
            <a:avLst>
              <a:gd name="adj" fmla="val 4219"/>
            </a:avLst>
          </a:prstGeom>
          <a:solidFill>
            <a:srgbClr val="FFFFFF"/>
          </a:solidFill>
          <a:ln w="8890">
            <a:solidFill>
              <a:srgbClr val="DEE6EC"/>
            </a:solidFill>
            <a:prstDash val="solid"/>
          </a:ln>
        </p:spPr>
      </p:sp>
      <p:sp>
        <p:nvSpPr>
          <p:cNvPr id="24" name="Shape 22"/>
          <p:cNvSpPr/>
          <p:nvPr/>
        </p:nvSpPr>
        <p:spPr>
          <a:xfrm>
            <a:off x="8193024" y="2048256"/>
            <a:ext cx="1078992" cy="237744"/>
          </a:xfrm>
          <a:prstGeom prst="roundRect">
            <a:avLst>
              <a:gd name="adj" fmla="val 38462"/>
            </a:avLst>
          </a:prstGeom>
          <a:solidFill>
            <a:srgbClr val="FFF2D9"/>
          </a:solidFill>
          <a:ln w="10160">
            <a:solidFill>
              <a:srgbClr val="FFF2D9">
                <a:alpha val="0"/>
              </a:srgbClr>
            </a:solidFill>
            <a:prstDash val="solid"/>
          </a:ln>
        </p:spPr>
      </p:sp>
      <p:sp>
        <p:nvSpPr>
          <p:cNvPr id="25" name="Text 23"/>
          <p:cNvSpPr/>
          <p:nvPr/>
        </p:nvSpPr>
        <p:spPr>
          <a:xfrm>
            <a:off x="8257032" y="2066544"/>
            <a:ext cx="950976" cy="173736"/>
          </a:xfrm>
          <a:prstGeom prst="rect">
            <a:avLst/>
          </a:prstGeom>
          <a:noFill/>
          <a:ln/>
        </p:spPr>
        <p:txBody>
          <a:bodyPr wrap="square" lIns="0" tIns="0" rIns="0" bIns="0" rtlCol="0" anchor="ctr">
            <a:normAutofit/>
          </a:bodyPr>
          <a:lstStyle/>
          <a:p>
            <a:pPr algn="ctr" indent="0" marL="0">
              <a:buNone/>
            </a:pPr>
            <a:r>
              <a:rPr lang="en-US" sz="780" b="1" dirty="0">
                <a:solidFill>
                  <a:srgbClr val="B87912"/>
                </a:solidFill>
                <a:latin typeface="Aptos" pitchFamily="34" charset="0"/>
                <a:ea typeface="Aptos" pitchFamily="34" charset="-122"/>
                <a:cs typeface="Aptos" pitchFamily="34" charset="-120"/>
              </a:rPr>
              <a:t>WHAT USERS SEE</a:t>
            </a:r>
            <a:endParaRPr lang="en-US" sz="780" dirty="0"/>
          </a:p>
        </p:txBody>
      </p:sp>
      <p:sp>
        <p:nvSpPr>
          <p:cNvPr id="26" name="Text 24"/>
          <p:cNvSpPr/>
          <p:nvPr/>
        </p:nvSpPr>
        <p:spPr>
          <a:xfrm>
            <a:off x="8193024" y="2542032"/>
            <a:ext cx="1536192" cy="393192"/>
          </a:xfrm>
          <a:prstGeom prst="rect">
            <a:avLst/>
          </a:prstGeom>
          <a:noFill/>
          <a:ln/>
        </p:spPr>
        <p:txBody>
          <a:bodyPr wrap="square" lIns="0" tIns="0" rIns="0" bIns="0" rtlCol="0" anchor="ctr">
            <a:normAutofit/>
          </a:bodyPr>
          <a:lstStyle/>
          <a:p>
            <a:pPr algn="l" indent="0" marL="0">
              <a:buNone/>
            </a:pPr>
            <a:r>
              <a:rPr lang="en-US" sz="2000" b="1" dirty="0">
                <a:solidFill>
                  <a:srgbClr val="17283F"/>
                </a:solidFill>
                <a:latin typeface="Aptos Display" pitchFamily="34" charset="0"/>
                <a:ea typeface="Aptos Display" pitchFamily="34" charset="-122"/>
                <a:cs typeface="Aptos Display" pitchFamily="34" charset="-120"/>
              </a:rPr>
              <a:t>Different</a:t>
            </a:r>
            <a:endParaRPr lang="en-US" sz="2000" dirty="0"/>
          </a:p>
        </p:txBody>
      </p:sp>
      <p:sp>
        <p:nvSpPr>
          <p:cNvPr id="27" name="Text 25"/>
          <p:cNvSpPr/>
          <p:nvPr/>
        </p:nvSpPr>
        <p:spPr>
          <a:xfrm>
            <a:off x="8193024" y="2953512"/>
            <a:ext cx="1481328" cy="201168"/>
          </a:xfrm>
          <a:prstGeom prst="rect">
            <a:avLst/>
          </a:prstGeom>
          <a:noFill/>
          <a:ln/>
        </p:spPr>
        <p:txBody>
          <a:bodyPr wrap="square" lIns="0" tIns="0" rIns="0" bIns="0" rtlCol="0" anchor="ctr">
            <a:normAutofit/>
          </a:bodyPr>
          <a:lstStyle/>
          <a:p>
            <a:pPr algn="l" indent="0" marL="0">
              <a:buNone/>
            </a:pPr>
            <a:r>
              <a:rPr lang="en-US" sz="980" dirty="0">
                <a:solidFill>
                  <a:srgbClr val="718196"/>
                </a:solidFill>
                <a:latin typeface="Aptos" pitchFamily="34" charset="0"/>
                <a:ea typeface="Aptos" pitchFamily="34" charset="-122"/>
                <a:cs typeface="Aptos" pitchFamily="34" charset="-120"/>
              </a:rPr>
              <a:t>vendor totals</a:t>
            </a:r>
            <a:endParaRPr lang="en-US" sz="980" dirty="0"/>
          </a:p>
        </p:txBody>
      </p:sp>
      <p:sp>
        <p:nvSpPr>
          <p:cNvPr id="28" name="Text 26"/>
          <p:cNvSpPr/>
          <p:nvPr/>
        </p:nvSpPr>
        <p:spPr>
          <a:xfrm>
            <a:off x="9811512" y="2542032"/>
            <a:ext cx="1426464" cy="393192"/>
          </a:xfrm>
          <a:prstGeom prst="rect">
            <a:avLst/>
          </a:prstGeom>
          <a:noFill/>
          <a:ln/>
        </p:spPr>
        <p:txBody>
          <a:bodyPr wrap="square" lIns="0" tIns="0" rIns="0" bIns="0" rtlCol="0" anchor="ctr">
            <a:normAutofit/>
          </a:bodyPr>
          <a:lstStyle/>
          <a:p>
            <a:pPr algn="l" indent="0" marL="0">
              <a:buNone/>
            </a:pPr>
            <a:r>
              <a:rPr lang="en-US" sz="2000" b="1" dirty="0">
                <a:solidFill>
                  <a:srgbClr val="17283F"/>
                </a:solidFill>
                <a:latin typeface="Aptos Display" pitchFamily="34" charset="0"/>
                <a:ea typeface="Aptos Display" pitchFamily="34" charset="-122"/>
                <a:cs typeface="Aptos Display" pitchFamily="34" charset="-120"/>
              </a:rPr>
              <a:t>Different</a:t>
            </a:r>
            <a:endParaRPr lang="en-US" sz="2000" dirty="0"/>
          </a:p>
        </p:txBody>
      </p:sp>
      <p:sp>
        <p:nvSpPr>
          <p:cNvPr id="29" name="Text 27"/>
          <p:cNvSpPr/>
          <p:nvPr/>
        </p:nvSpPr>
        <p:spPr>
          <a:xfrm>
            <a:off x="9811512" y="2953512"/>
            <a:ext cx="1389888" cy="201168"/>
          </a:xfrm>
          <a:prstGeom prst="rect">
            <a:avLst/>
          </a:prstGeom>
          <a:noFill/>
          <a:ln/>
        </p:spPr>
        <p:txBody>
          <a:bodyPr wrap="square" lIns="0" tIns="0" rIns="0" bIns="0" rtlCol="0" anchor="ctr">
            <a:normAutofit/>
          </a:bodyPr>
          <a:lstStyle/>
          <a:p>
            <a:pPr algn="l" indent="0" marL="0">
              <a:buNone/>
            </a:pPr>
            <a:r>
              <a:rPr lang="en-US" sz="980" dirty="0">
                <a:solidFill>
                  <a:srgbClr val="718196"/>
                </a:solidFill>
                <a:latin typeface="Aptos" pitchFamily="34" charset="0"/>
                <a:ea typeface="Aptos" pitchFamily="34" charset="-122"/>
                <a:cs typeface="Aptos" pitchFamily="34" charset="-120"/>
              </a:rPr>
              <a:t>coverage claims</a:t>
            </a:r>
            <a:endParaRPr lang="en-US" sz="980" dirty="0"/>
          </a:p>
        </p:txBody>
      </p:sp>
      <p:sp>
        <p:nvSpPr>
          <p:cNvPr id="30" name="Shape 28"/>
          <p:cNvSpPr/>
          <p:nvPr/>
        </p:nvSpPr>
        <p:spPr>
          <a:xfrm>
            <a:off x="8193024" y="3328416"/>
            <a:ext cx="3035808" cy="0"/>
          </a:xfrm>
          <a:prstGeom prst="line">
            <a:avLst/>
          </a:prstGeom>
          <a:noFill/>
          <a:ln w="10160">
            <a:solidFill>
              <a:srgbClr val="DEE6EC"/>
            </a:solidFill>
            <a:prstDash val="solid"/>
            <a:headEnd type="none"/>
            <a:tailEnd type="none"/>
          </a:ln>
        </p:spPr>
      </p:sp>
      <p:sp>
        <p:nvSpPr>
          <p:cNvPr id="31" name="Text 29"/>
          <p:cNvSpPr/>
          <p:nvPr/>
        </p:nvSpPr>
        <p:spPr>
          <a:xfrm>
            <a:off x="8193024" y="3502152"/>
            <a:ext cx="3017520" cy="210312"/>
          </a:xfrm>
          <a:prstGeom prst="rect">
            <a:avLst/>
          </a:prstGeom>
          <a:noFill/>
          <a:ln/>
        </p:spPr>
        <p:txBody>
          <a:bodyPr wrap="square" lIns="0" tIns="0" rIns="0" bIns="0" rtlCol="0" anchor="ctr">
            <a:normAutofit/>
          </a:bodyPr>
          <a:lstStyle/>
          <a:p>
            <a:pPr algn="l" indent="0" marL="0">
              <a:buNone/>
            </a:pPr>
            <a:r>
              <a:rPr lang="en-US" sz="870" b="1" dirty="0">
                <a:solidFill>
                  <a:srgbClr val="42566D"/>
                </a:solidFill>
                <a:latin typeface="Aptos" pitchFamily="34" charset="0"/>
                <a:ea typeface="Aptos" pitchFamily="34" charset="-122"/>
                <a:cs typeface="Aptos" pitchFamily="34" charset="-120"/>
              </a:rPr>
              <a:t>Commercial platforms · Oct 2026</a:t>
            </a:r>
            <a:endParaRPr lang="en-US" sz="870" dirty="0"/>
          </a:p>
        </p:txBody>
      </p:sp>
      <p:sp>
        <p:nvSpPr>
          <p:cNvPr id="32" name="Shape 30"/>
          <p:cNvSpPr/>
          <p:nvPr/>
        </p:nvSpPr>
        <p:spPr>
          <a:xfrm>
            <a:off x="4078224" y="2926080"/>
            <a:ext cx="182880" cy="0"/>
          </a:xfrm>
          <a:prstGeom prst="line">
            <a:avLst/>
          </a:prstGeom>
          <a:noFill/>
          <a:ln w="20320">
            <a:solidFill>
              <a:srgbClr val="00A994"/>
            </a:solidFill>
            <a:prstDash val="solid"/>
            <a:headEnd type="none"/>
            <a:tailEnd type="none"/>
          </a:ln>
        </p:spPr>
      </p:sp>
      <p:sp>
        <p:nvSpPr>
          <p:cNvPr id="33" name="Text 31"/>
          <p:cNvSpPr/>
          <p:nvPr/>
        </p:nvSpPr>
        <p:spPr>
          <a:xfrm>
            <a:off x="4059936" y="2660904"/>
            <a:ext cx="228600" cy="246888"/>
          </a:xfrm>
          <a:prstGeom prst="rect">
            <a:avLst/>
          </a:prstGeom>
          <a:noFill/>
          <a:ln/>
        </p:spPr>
        <p:txBody>
          <a:bodyPr wrap="square" lIns="0" tIns="0" rIns="0" bIns="0" rtlCol="0" anchor="ctr">
            <a:normAutofit/>
          </a:bodyPr>
          <a:lstStyle/>
          <a:p>
            <a:pPr algn="ctr" indent="0" marL="0">
              <a:buNone/>
            </a:pPr>
            <a:r>
              <a:rPr lang="en-US" sz="1700" b="1" dirty="0">
                <a:solidFill>
                  <a:srgbClr val="00A994"/>
                </a:solidFill>
                <a:latin typeface="Aptos" pitchFamily="34" charset="0"/>
                <a:ea typeface="Aptos" pitchFamily="34" charset="-122"/>
                <a:cs typeface="Aptos" pitchFamily="34" charset="-120"/>
              </a:rPr>
              <a:t>≠</a:t>
            </a:r>
            <a:endParaRPr lang="en-US" sz="1700" dirty="0"/>
          </a:p>
        </p:txBody>
      </p:sp>
      <p:sp>
        <p:nvSpPr>
          <p:cNvPr id="34" name="Shape 32"/>
          <p:cNvSpPr/>
          <p:nvPr/>
        </p:nvSpPr>
        <p:spPr>
          <a:xfrm>
            <a:off x="7772400" y="2926080"/>
            <a:ext cx="192024" cy="0"/>
          </a:xfrm>
          <a:prstGeom prst="line">
            <a:avLst/>
          </a:prstGeom>
          <a:noFill/>
          <a:ln w="20320">
            <a:solidFill>
              <a:srgbClr val="00A994"/>
            </a:solidFill>
            <a:prstDash val="solid"/>
            <a:headEnd type="none"/>
            <a:tailEnd type="none"/>
          </a:ln>
        </p:spPr>
      </p:sp>
      <p:sp>
        <p:nvSpPr>
          <p:cNvPr id="35" name="Text 33"/>
          <p:cNvSpPr/>
          <p:nvPr/>
        </p:nvSpPr>
        <p:spPr>
          <a:xfrm>
            <a:off x="7754112" y="2660904"/>
            <a:ext cx="228600" cy="246888"/>
          </a:xfrm>
          <a:prstGeom prst="rect">
            <a:avLst/>
          </a:prstGeom>
          <a:noFill/>
          <a:ln/>
        </p:spPr>
        <p:txBody>
          <a:bodyPr wrap="square" lIns="0" tIns="0" rIns="0" bIns="0" rtlCol="0" anchor="ctr">
            <a:normAutofit/>
          </a:bodyPr>
          <a:lstStyle/>
          <a:p>
            <a:pPr algn="ctr" indent="0" marL="0">
              <a:buNone/>
            </a:pPr>
            <a:r>
              <a:rPr lang="en-US" sz="1700" b="1" dirty="0">
                <a:solidFill>
                  <a:srgbClr val="00A994"/>
                </a:solidFill>
                <a:latin typeface="Aptos" pitchFamily="34" charset="0"/>
                <a:ea typeface="Aptos" pitchFamily="34" charset="-122"/>
                <a:cs typeface="Aptos" pitchFamily="34" charset="-120"/>
              </a:rPr>
              <a:t>≠</a:t>
            </a:r>
            <a:endParaRPr lang="en-US" sz="1700" dirty="0"/>
          </a:p>
        </p:txBody>
      </p:sp>
      <p:sp>
        <p:nvSpPr>
          <p:cNvPr id="36" name="Shape 34"/>
          <p:cNvSpPr/>
          <p:nvPr/>
        </p:nvSpPr>
        <p:spPr>
          <a:xfrm>
            <a:off x="621792" y="4370832"/>
            <a:ext cx="11009376" cy="1207008"/>
          </a:xfrm>
          <a:prstGeom prst="roundRect">
            <a:avLst>
              <a:gd name="adj" fmla="val 7576"/>
            </a:avLst>
          </a:prstGeom>
          <a:solidFill>
            <a:srgbClr val="101D31"/>
          </a:solidFill>
          <a:ln w="8890">
            <a:solidFill>
              <a:srgbClr val="101D31"/>
            </a:solidFill>
            <a:prstDash val="solid"/>
          </a:ln>
        </p:spPr>
      </p:sp>
      <p:sp>
        <p:nvSpPr>
          <p:cNvPr id="37" name="Text 35"/>
          <p:cNvSpPr/>
          <p:nvPr/>
        </p:nvSpPr>
        <p:spPr>
          <a:xfrm>
            <a:off x="877824" y="4608576"/>
            <a:ext cx="1234440" cy="173736"/>
          </a:xfrm>
          <a:prstGeom prst="rect">
            <a:avLst/>
          </a:prstGeom>
          <a:noFill/>
          <a:ln/>
        </p:spPr>
        <p:txBody>
          <a:bodyPr wrap="square" lIns="0" tIns="0" rIns="0" bIns="0" rtlCol="0" anchor="ctr">
            <a:normAutofit/>
          </a:bodyPr>
          <a:lstStyle/>
          <a:p>
            <a:pPr algn="l" indent="0" marL="0">
              <a:buNone/>
            </a:pPr>
            <a:r>
              <a:rPr lang="en-US" sz="850" b="1" spc="140" kern="0" dirty="0">
                <a:solidFill>
                  <a:srgbClr val="6DDBCA"/>
                </a:solidFill>
                <a:latin typeface="Aptos" pitchFamily="34" charset="0"/>
                <a:ea typeface="Aptos" pitchFamily="34" charset="-122"/>
                <a:cs typeface="Aptos" pitchFamily="34" charset="-120"/>
              </a:rPr>
              <a:t>PRODUCT RULE</a:t>
            </a:r>
            <a:endParaRPr lang="en-US" sz="850" dirty="0"/>
          </a:p>
        </p:txBody>
      </p:sp>
      <p:sp>
        <p:nvSpPr>
          <p:cNvPr id="38" name="Text 36"/>
          <p:cNvSpPr/>
          <p:nvPr/>
        </p:nvSpPr>
        <p:spPr>
          <a:xfrm>
            <a:off x="2240280" y="4553712"/>
            <a:ext cx="5120640" cy="265176"/>
          </a:xfrm>
          <a:prstGeom prst="rect">
            <a:avLst/>
          </a:prstGeom>
          <a:noFill/>
          <a:ln/>
        </p:spPr>
        <p:txBody>
          <a:bodyPr wrap="square" lIns="0" tIns="0" rIns="0" bIns="0" rtlCol="0" anchor="ctr">
            <a:normAutofit/>
          </a:bodyPr>
          <a:lstStyle/>
          <a:p>
            <a:pPr algn="l" indent="0" marL="0">
              <a:buNone/>
            </a:pPr>
            <a:r>
              <a:rPr lang="en-US" sz="1700" b="1" dirty="0">
                <a:solidFill>
                  <a:srgbClr val="FFFFFF"/>
                </a:solidFill>
                <a:latin typeface="Aptos Display" pitchFamily="34" charset="0"/>
                <a:ea typeface="Aptos Display" pitchFamily="34" charset="-122"/>
                <a:cs typeface="Aptos Display" pitchFamily="34" charset="-120"/>
              </a:rPr>
              <a:t>Never store “GCC count” as a naked number.</a:t>
            </a:r>
            <a:endParaRPr lang="en-US" sz="1700" dirty="0"/>
          </a:p>
        </p:txBody>
      </p:sp>
      <p:sp>
        <p:nvSpPr>
          <p:cNvPr id="39" name="Text 37"/>
          <p:cNvSpPr/>
          <p:nvPr/>
        </p:nvSpPr>
        <p:spPr>
          <a:xfrm>
            <a:off x="2240280" y="4956048"/>
            <a:ext cx="8412480" cy="256032"/>
          </a:xfrm>
          <a:prstGeom prst="rect">
            <a:avLst/>
          </a:prstGeom>
          <a:noFill/>
          <a:ln/>
        </p:spPr>
        <p:txBody>
          <a:bodyPr wrap="square" lIns="0" tIns="0" rIns="0" bIns="0" rtlCol="0" anchor="ctr">
            <a:normAutofit/>
          </a:bodyPr>
          <a:lstStyle/>
          <a:p>
            <a:pPr algn="l" indent="0" marL="0">
              <a:buNone/>
            </a:pPr>
            <a:r>
              <a:rPr lang="en-US" sz="1100" dirty="0">
                <a:solidFill>
                  <a:srgbClr val="C6D5E2"/>
                </a:solidFill>
                <a:latin typeface="Aptos" pitchFamily="34" charset="0"/>
                <a:ea typeface="Aptos" pitchFamily="34" charset="-122"/>
                <a:cs typeface="Aptos" pitchFamily="34" charset="-120"/>
              </a:rPr>
              <a:t>Every metric carries: definition · entity level · geography · period · source · as-of date · methodology.</a:t>
            </a:r>
            <a:endParaRPr lang="en-US" sz="1100" dirty="0"/>
          </a:p>
        </p:txBody>
      </p:sp>
      <p:sp>
        <p:nvSpPr>
          <p:cNvPr id="40" name="Text 38"/>
          <p:cNvSpPr/>
          <p:nvPr/>
        </p:nvSpPr>
        <p:spPr>
          <a:xfrm>
            <a:off x="658368" y="5870448"/>
            <a:ext cx="10881360" cy="320040"/>
          </a:xfrm>
          <a:prstGeom prst="rect">
            <a:avLst/>
          </a:prstGeom>
          <a:noFill/>
          <a:ln/>
        </p:spPr>
        <p:txBody>
          <a:bodyPr wrap="square" lIns="0" tIns="0" rIns="0" bIns="0" rtlCol="0" anchor="ctr">
            <a:normAutofit/>
          </a:bodyPr>
          <a:lstStyle/>
          <a:p>
            <a:pPr algn="l" indent="0" marL="0">
              <a:buNone/>
            </a:pPr>
            <a:r>
              <a:rPr lang="en-US" sz="810" i="1" dirty="0">
                <a:solidFill>
                  <a:srgbClr val="718196"/>
                </a:solidFill>
                <a:latin typeface="Aptos" pitchFamily="34" charset="0"/>
                <a:ea typeface="Aptos" pitchFamily="34" charset="-122"/>
                <a:cs typeface="Aptos" pitchFamily="34" charset="-120"/>
              </a:rPr>
              <a:t>S1: Nasscom–Zinnov FY2026. S4: KPMG GCC tax insights (25 Sep 2025) provides an FY2024 baseline. The last card summarises active vendor marketing claims; their counts should not be compared without checking scope.</a:t>
            </a:r>
            <a:endParaRPr lang="en-US" sz="81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05 · OPPORTUNITY MAP</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Build the trust layer first. Add decision workflows where trust creates leverage.</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Prioritisation is based on frequency of use, defensibility, feasibility and downstream decision value—not on feature count.</a:t>
            </a:r>
            <a:endParaRPr lang="en-US" sz="1120" dirty="0"/>
          </a:p>
        </p:txBody>
      </p:sp>
      <p:sp>
        <p:nvSpPr>
          <p:cNvPr id="5" name="Text 3"/>
          <p:cNvSpPr/>
          <p:nvPr/>
        </p:nvSpPr>
        <p:spPr>
          <a:xfrm>
            <a:off x="676656" y="1719072"/>
            <a:ext cx="347472" cy="182880"/>
          </a:xfrm>
          <a:prstGeom prst="rect">
            <a:avLst/>
          </a:prstGeom>
          <a:noFill/>
          <a:ln/>
        </p:spPr>
        <p:txBody>
          <a:bodyPr wrap="square" lIns="0" tIns="0" rIns="0" bIns="0" rtlCol="0" anchor="ctr">
            <a:normAutofit/>
          </a:bodyPr>
          <a:lstStyle/>
          <a:p>
            <a:pPr algn="l" indent="0" marL="0">
              <a:buNone/>
            </a:pPr>
            <a:r>
              <a:rPr lang="en-US" sz="780" b="1" spc="50" kern="0" dirty="0">
                <a:solidFill>
                  <a:srgbClr val="718196"/>
                </a:solidFill>
                <a:latin typeface="Aptos" pitchFamily="34" charset="0"/>
                <a:ea typeface="Aptos" pitchFamily="34" charset="-122"/>
                <a:cs typeface="Aptos" pitchFamily="34" charset="-120"/>
              </a:rPr>
              <a:t>#</a:t>
            </a:r>
            <a:endParaRPr lang="en-US" sz="780" dirty="0"/>
          </a:p>
        </p:txBody>
      </p:sp>
      <p:sp>
        <p:nvSpPr>
          <p:cNvPr id="6" name="Text 4"/>
          <p:cNvSpPr/>
          <p:nvPr/>
        </p:nvSpPr>
        <p:spPr>
          <a:xfrm>
            <a:off x="1133856" y="1719072"/>
            <a:ext cx="2487168" cy="182880"/>
          </a:xfrm>
          <a:prstGeom prst="rect">
            <a:avLst/>
          </a:prstGeom>
          <a:noFill/>
          <a:ln/>
        </p:spPr>
        <p:txBody>
          <a:bodyPr wrap="square" lIns="0" tIns="0" rIns="0" bIns="0" rtlCol="0" anchor="ctr">
            <a:normAutofit/>
          </a:bodyPr>
          <a:lstStyle/>
          <a:p>
            <a:pPr algn="l" indent="0" marL="0">
              <a:buNone/>
            </a:pPr>
            <a:r>
              <a:rPr lang="en-US" sz="780" b="1" spc="50" kern="0" dirty="0">
                <a:solidFill>
                  <a:srgbClr val="718196"/>
                </a:solidFill>
                <a:latin typeface="Aptos" pitchFamily="34" charset="0"/>
                <a:ea typeface="Aptos" pitchFamily="34" charset="-122"/>
                <a:cs typeface="Aptos" pitchFamily="34" charset="-120"/>
              </a:rPr>
              <a:t>OPPORTUNITY</a:t>
            </a:r>
            <a:endParaRPr lang="en-US" sz="780" dirty="0"/>
          </a:p>
        </p:txBody>
      </p:sp>
      <p:sp>
        <p:nvSpPr>
          <p:cNvPr id="7" name="Text 5"/>
          <p:cNvSpPr/>
          <p:nvPr/>
        </p:nvSpPr>
        <p:spPr>
          <a:xfrm>
            <a:off x="3749040" y="1719072"/>
            <a:ext cx="3657600" cy="182880"/>
          </a:xfrm>
          <a:prstGeom prst="rect">
            <a:avLst/>
          </a:prstGeom>
          <a:noFill/>
          <a:ln/>
        </p:spPr>
        <p:txBody>
          <a:bodyPr wrap="square" lIns="0" tIns="0" rIns="0" bIns="0" rtlCol="0" anchor="ctr">
            <a:normAutofit/>
          </a:bodyPr>
          <a:lstStyle/>
          <a:p>
            <a:pPr algn="l" indent="0" marL="0">
              <a:buNone/>
            </a:pPr>
            <a:r>
              <a:rPr lang="en-US" sz="780" b="1" spc="50" kern="0" dirty="0">
                <a:solidFill>
                  <a:srgbClr val="718196"/>
                </a:solidFill>
                <a:latin typeface="Aptos" pitchFamily="34" charset="0"/>
                <a:ea typeface="Aptos" pitchFamily="34" charset="-122"/>
                <a:cs typeface="Aptos" pitchFamily="34" charset="-120"/>
              </a:rPr>
              <a:t>CORE DATA PRODUCT</a:t>
            </a:r>
            <a:endParaRPr lang="en-US" sz="780" dirty="0"/>
          </a:p>
        </p:txBody>
      </p:sp>
      <p:sp>
        <p:nvSpPr>
          <p:cNvPr id="8" name="Text 6"/>
          <p:cNvSpPr/>
          <p:nvPr/>
        </p:nvSpPr>
        <p:spPr>
          <a:xfrm>
            <a:off x="7589520" y="1719072"/>
            <a:ext cx="1261872" cy="182880"/>
          </a:xfrm>
          <a:prstGeom prst="rect">
            <a:avLst/>
          </a:prstGeom>
          <a:noFill/>
          <a:ln/>
        </p:spPr>
        <p:txBody>
          <a:bodyPr wrap="square" lIns="0" tIns="0" rIns="0" bIns="0" rtlCol="0" anchor="ctr">
            <a:normAutofit/>
          </a:bodyPr>
          <a:lstStyle/>
          <a:p>
            <a:pPr algn="l" indent="0" marL="0">
              <a:buNone/>
            </a:pPr>
            <a:r>
              <a:rPr lang="en-US" sz="780" b="1" spc="50" kern="0" dirty="0">
                <a:solidFill>
                  <a:srgbClr val="718196"/>
                </a:solidFill>
                <a:latin typeface="Aptos" pitchFamily="34" charset="0"/>
                <a:ea typeface="Aptos" pitchFamily="34" charset="-122"/>
                <a:cs typeface="Aptos" pitchFamily="34" charset="-120"/>
              </a:rPr>
              <a:t>IMPACT</a:t>
            </a:r>
            <a:endParaRPr lang="en-US" sz="780" dirty="0"/>
          </a:p>
        </p:txBody>
      </p:sp>
      <p:sp>
        <p:nvSpPr>
          <p:cNvPr id="9" name="Text 7"/>
          <p:cNvSpPr/>
          <p:nvPr/>
        </p:nvSpPr>
        <p:spPr>
          <a:xfrm>
            <a:off x="8933688" y="1719072"/>
            <a:ext cx="1188720" cy="182880"/>
          </a:xfrm>
          <a:prstGeom prst="rect">
            <a:avLst/>
          </a:prstGeom>
          <a:noFill/>
          <a:ln/>
        </p:spPr>
        <p:txBody>
          <a:bodyPr wrap="square" lIns="0" tIns="0" rIns="0" bIns="0" rtlCol="0" anchor="ctr">
            <a:normAutofit/>
          </a:bodyPr>
          <a:lstStyle/>
          <a:p>
            <a:pPr algn="l" indent="0" marL="0">
              <a:buNone/>
            </a:pPr>
            <a:r>
              <a:rPr lang="en-US" sz="780" b="1" spc="50" kern="0" dirty="0">
                <a:solidFill>
                  <a:srgbClr val="718196"/>
                </a:solidFill>
                <a:latin typeface="Aptos" pitchFamily="34" charset="0"/>
                <a:ea typeface="Aptos" pitchFamily="34" charset="-122"/>
                <a:cs typeface="Aptos" pitchFamily="34" charset="-120"/>
              </a:rPr>
              <a:t>FEASIBILITY</a:t>
            </a:r>
            <a:endParaRPr lang="en-US" sz="780" dirty="0"/>
          </a:p>
        </p:txBody>
      </p:sp>
      <p:sp>
        <p:nvSpPr>
          <p:cNvPr id="10" name="Text 8"/>
          <p:cNvSpPr/>
          <p:nvPr/>
        </p:nvSpPr>
        <p:spPr>
          <a:xfrm>
            <a:off x="10168128" y="1719072"/>
            <a:ext cx="1234440" cy="182880"/>
          </a:xfrm>
          <a:prstGeom prst="rect">
            <a:avLst/>
          </a:prstGeom>
          <a:noFill/>
          <a:ln/>
        </p:spPr>
        <p:txBody>
          <a:bodyPr wrap="square" lIns="0" tIns="0" rIns="0" bIns="0" rtlCol="0" anchor="ctr">
            <a:normAutofit/>
          </a:bodyPr>
          <a:lstStyle/>
          <a:p>
            <a:pPr algn="l" indent="0" marL="0">
              <a:buNone/>
            </a:pPr>
            <a:r>
              <a:rPr lang="en-US" sz="780" b="1" spc="50" kern="0" dirty="0">
                <a:solidFill>
                  <a:srgbClr val="718196"/>
                </a:solidFill>
                <a:latin typeface="Aptos" pitchFamily="34" charset="0"/>
                <a:ea typeface="Aptos" pitchFamily="34" charset="-122"/>
                <a:cs typeface="Aptos" pitchFamily="34" charset="-120"/>
              </a:rPr>
              <a:t>SEQUENCE</a:t>
            </a:r>
            <a:endParaRPr lang="en-US" sz="780" dirty="0"/>
          </a:p>
        </p:txBody>
      </p:sp>
      <p:sp>
        <p:nvSpPr>
          <p:cNvPr id="11" name="Shape 9"/>
          <p:cNvSpPr/>
          <p:nvPr/>
        </p:nvSpPr>
        <p:spPr>
          <a:xfrm>
            <a:off x="630936" y="2011680"/>
            <a:ext cx="11000232" cy="475488"/>
          </a:xfrm>
          <a:prstGeom prst="roundRect">
            <a:avLst>
              <a:gd name="adj" fmla="val 19231"/>
            </a:avLst>
          </a:prstGeom>
          <a:solidFill>
            <a:srgbClr val="E2F7F3"/>
          </a:solidFill>
          <a:ln w="7620">
            <a:solidFill>
              <a:srgbClr val="BFE9E0"/>
            </a:solidFill>
            <a:prstDash val="solid"/>
          </a:ln>
        </p:spPr>
      </p:sp>
      <p:sp>
        <p:nvSpPr>
          <p:cNvPr id="12" name="Text 10"/>
          <p:cNvSpPr/>
          <p:nvPr/>
        </p:nvSpPr>
        <p:spPr>
          <a:xfrm>
            <a:off x="676656" y="2084832"/>
            <a:ext cx="347472" cy="301752"/>
          </a:xfrm>
          <a:prstGeom prst="rect">
            <a:avLst/>
          </a:prstGeom>
          <a:noFill/>
          <a:ln/>
        </p:spPr>
        <p:txBody>
          <a:bodyPr wrap="square" lIns="0" tIns="0" rIns="0" bIns="0" rtlCol="0" anchor="ctr">
            <a:normAutofit/>
          </a:bodyPr>
          <a:lstStyle/>
          <a:p>
            <a:pPr algn="l" indent="0" marL="0">
              <a:buNone/>
            </a:pPr>
            <a:r>
              <a:rPr lang="en-US" sz="920" dirty="0">
                <a:solidFill>
                  <a:srgbClr val="00A994"/>
                </a:solidFill>
                <a:latin typeface="Aptos" pitchFamily="34" charset="0"/>
                <a:ea typeface="Aptos" pitchFamily="34" charset="-122"/>
                <a:cs typeface="Aptos" pitchFamily="34" charset="-120"/>
              </a:rPr>
              <a:t>1</a:t>
            </a:r>
            <a:endParaRPr lang="en-US" sz="920" dirty="0"/>
          </a:p>
        </p:txBody>
      </p:sp>
      <p:sp>
        <p:nvSpPr>
          <p:cNvPr id="13" name="Text 11"/>
          <p:cNvSpPr/>
          <p:nvPr/>
        </p:nvSpPr>
        <p:spPr>
          <a:xfrm>
            <a:off x="1133856" y="2084832"/>
            <a:ext cx="2487168" cy="301752"/>
          </a:xfrm>
          <a:prstGeom prst="rect">
            <a:avLst/>
          </a:prstGeom>
          <a:noFill/>
          <a:ln/>
        </p:spPr>
        <p:txBody>
          <a:bodyPr wrap="square" lIns="0" tIns="0" rIns="0" bIns="0" rtlCol="0" anchor="ctr">
            <a:normAutofit/>
          </a:bodyPr>
          <a:lstStyle/>
          <a:p>
            <a:pPr algn="l" indent="0" marL="0">
              <a:buNone/>
            </a:pPr>
            <a:r>
              <a:rPr lang="en-US" sz="1010" b="1" dirty="0">
                <a:solidFill>
                  <a:srgbClr val="42566D"/>
                </a:solidFill>
                <a:latin typeface="Aptos" pitchFamily="34" charset="0"/>
                <a:ea typeface="Aptos" pitchFamily="34" charset="-122"/>
                <a:cs typeface="Aptos" pitchFamily="34" charset="-120"/>
              </a:rPr>
              <a:t>Evidence-backed signal feed</a:t>
            </a:r>
            <a:endParaRPr lang="en-US" sz="1010" dirty="0"/>
          </a:p>
        </p:txBody>
      </p:sp>
      <p:sp>
        <p:nvSpPr>
          <p:cNvPr id="14" name="Text 12"/>
          <p:cNvSpPr/>
          <p:nvPr/>
        </p:nvSpPr>
        <p:spPr>
          <a:xfrm>
            <a:off x="3749040" y="2084832"/>
            <a:ext cx="3657600" cy="301752"/>
          </a:xfrm>
          <a:prstGeom prst="rect">
            <a:avLst/>
          </a:prstGeom>
          <a:noFill/>
          <a:ln/>
        </p:spPr>
        <p:txBody>
          <a:bodyPr wrap="square" lIns="0" tIns="0" rIns="0" bIns="0" rtlCol="0" anchor="ctr">
            <a:normAutofit/>
          </a:bodyPr>
          <a:lstStyle/>
          <a:p>
            <a:pPr algn="l" indent="0" marL="0">
              <a:buNone/>
            </a:pPr>
            <a:r>
              <a:rPr lang="en-US" sz="850" dirty="0">
                <a:solidFill>
                  <a:srgbClr val="42566D"/>
                </a:solidFill>
                <a:latin typeface="Aptos" pitchFamily="34" charset="0"/>
                <a:ea typeface="Aptos" pitchFamily="34" charset="-122"/>
                <a:cs typeface="Aptos" pitchFamily="34" charset="-120"/>
              </a:rPr>
              <a:t>NEW / EXPANDING GCCs · WHO / WHERE / WHEN</a:t>
            </a:r>
            <a:endParaRPr lang="en-US" sz="850" dirty="0"/>
          </a:p>
        </p:txBody>
      </p:sp>
      <p:sp>
        <p:nvSpPr>
          <p:cNvPr id="15" name="Text 13"/>
          <p:cNvSpPr/>
          <p:nvPr/>
        </p:nvSpPr>
        <p:spPr>
          <a:xfrm>
            <a:off x="7589520" y="2084832"/>
            <a:ext cx="1261872"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High</a:t>
            </a:r>
            <a:endParaRPr lang="en-US" sz="920" dirty="0"/>
          </a:p>
        </p:txBody>
      </p:sp>
      <p:sp>
        <p:nvSpPr>
          <p:cNvPr id="16" name="Text 14"/>
          <p:cNvSpPr/>
          <p:nvPr/>
        </p:nvSpPr>
        <p:spPr>
          <a:xfrm>
            <a:off x="8933688" y="2084832"/>
            <a:ext cx="1188720"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High</a:t>
            </a:r>
            <a:endParaRPr lang="en-US" sz="920" dirty="0"/>
          </a:p>
        </p:txBody>
      </p:sp>
      <p:sp>
        <p:nvSpPr>
          <p:cNvPr id="17" name="Text 15"/>
          <p:cNvSpPr/>
          <p:nvPr/>
        </p:nvSpPr>
        <p:spPr>
          <a:xfrm>
            <a:off x="10168128" y="2084832"/>
            <a:ext cx="1234440" cy="301752"/>
          </a:xfrm>
          <a:prstGeom prst="rect">
            <a:avLst/>
          </a:prstGeom>
          <a:noFill/>
          <a:ln/>
        </p:spPr>
        <p:txBody>
          <a:bodyPr wrap="square" lIns="0" tIns="0" rIns="0" bIns="0" rtlCol="0" anchor="ctr">
            <a:normAutofit/>
          </a:bodyPr>
          <a:lstStyle/>
          <a:p>
            <a:pPr algn="l" indent="0" marL="0">
              <a:buNone/>
            </a:pPr>
            <a:r>
              <a:rPr lang="en-US" sz="920" b="1" dirty="0">
                <a:solidFill>
                  <a:srgbClr val="00A994"/>
                </a:solidFill>
                <a:latin typeface="Aptos" pitchFamily="34" charset="0"/>
                <a:ea typeface="Aptos" pitchFamily="34" charset="-122"/>
                <a:cs typeface="Aptos" pitchFamily="34" charset="-120"/>
              </a:rPr>
              <a:t>Start here</a:t>
            </a:r>
            <a:endParaRPr lang="en-US" sz="920" dirty="0"/>
          </a:p>
        </p:txBody>
      </p:sp>
      <p:sp>
        <p:nvSpPr>
          <p:cNvPr id="18" name="Shape 16"/>
          <p:cNvSpPr/>
          <p:nvPr/>
        </p:nvSpPr>
        <p:spPr>
          <a:xfrm>
            <a:off x="630936" y="2569464"/>
            <a:ext cx="11000232" cy="475488"/>
          </a:xfrm>
          <a:prstGeom prst="roundRect">
            <a:avLst>
              <a:gd name="adj" fmla="val 19231"/>
            </a:avLst>
          </a:prstGeom>
          <a:solidFill>
            <a:srgbClr val="E2F7F3"/>
          </a:solidFill>
          <a:ln w="7620">
            <a:solidFill>
              <a:srgbClr val="BFE9E0"/>
            </a:solidFill>
            <a:prstDash val="solid"/>
          </a:ln>
        </p:spPr>
      </p:sp>
      <p:sp>
        <p:nvSpPr>
          <p:cNvPr id="19" name="Text 17"/>
          <p:cNvSpPr/>
          <p:nvPr/>
        </p:nvSpPr>
        <p:spPr>
          <a:xfrm>
            <a:off x="676656" y="2642616"/>
            <a:ext cx="347472" cy="301752"/>
          </a:xfrm>
          <a:prstGeom prst="rect">
            <a:avLst/>
          </a:prstGeom>
          <a:noFill/>
          <a:ln/>
        </p:spPr>
        <p:txBody>
          <a:bodyPr wrap="square" lIns="0" tIns="0" rIns="0" bIns="0" rtlCol="0" anchor="ctr">
            <a:normAutofit/>
          </a:bodyPr>
          <a:lstStyle/>
          <a:p>
            <a:pPr algn="l" indent="0" marL="0">
              <a:buNone/>
            </a:pPr>
            <a:r>
              <a:rPr lang="en-US" sz="920" dirty="0">
                <a:solidFill>
                  <a:srgbClr val="00A994"/>
                </a:solidFill>
                <a:latin typeface="Aptos" pitchFamily="34" charset="0"/>
                <a:ea typeface="Aptos" pitchFamily="34" charset="-122"/>
                <a:cs typeface="Aptos" pitchFamily="34" charset="-120"/>
              </a:rPr>
              <a:t>2</a:t>
            </a:r>
            <a:endParaRPr lang="en-US" sz="920" dirty="0"/>
          </a:p>
        </p:txBody>
      </p:sp>
      <p:sp>
        <p:nvSpPr>
          <p:cNvPr id="20" name="Text 18"/>
          <p:cNvSpPr/>
          <p:nvPr/>
        </p:nvSpPr>
        <p:spPr>
          <a:xfrm>
            <a:off x="1133856" y="2642616"/>
            <a:ext cx="2487168" cy="301752"/>
          </a:xfrm>
          <a:prstGeom prst="rect">
            <a:avLst/>
          </a:prstGeom>
          <a:noFill/>
          <a:ln/>
        </p:spPr>
        <p:txBody>
          <a:bodyPr wrap="square" lIns="0" tIns="0" rIns="0" bIns="0" rtlCol="0" anchor="ctr">
            <a:normAutofit/>
          </a:bodyPr>
          <a:lstStyle/>
          <a:p>
            <a:pPr algn="l" indent="0" marL="0">
              <a:buNone/>
            </a:pPr>
            <a:r>
              <a:rPr lang="en-US" sz="1010" b="1" dirty="0">
                <a:solidFill>
                  <a:srgbClr val="42566D"/>
                </a:solidFill>
                <a:latin typeface="Aptos" pitchFamily="34" charset="0"/>
                <a:ea typeface="Aptos" pitchFamily="34" charset="-122"/>
                <a:cs typeface="Aptos" pitchFamily="34" charset="-120"/>
              </a:rPr>
              <a:t>Entity &amp; event graph</a:t>
            </a:r>
            <a:endParaRPr lang="en-US" sz="1010" dirty="0"/>
          </a:p>
        </p:txBody>
      </p:sp>
      <p:sp>
        <p:nvSpPr>
          <p:cNvPr id="21" name="Text 19"/>
          <p:cNvSpPr/>
          <p:nvPr/>
        </p:nvSpPr>
        <p:spPr>
          <a:xfrm>
            <a:off x="3749040" y="2642616"/>
            <a:ext cx="3657600" cy="301752"/>
          </a:xfrm>
          <a:prstGeom prst="rect">
            <a:avLst/>
          </a:prstGeom>
          <a:noFill/>
          <a:ln/>
        </p:spPr>
        <p:txBody>
          <a:bodyPr wrap="square" lIns="0" tIns="0" rIns="0" bIns="0" rtlCol="0" anchor="ctr">
            <a:normAutofit/>
          </a:bodyPr>
          <a:lstStyle/>
          <a:p>
            <a:pPr algn="l" indent="0" marL="0">
              <a:buNone/>
            </a:pPr>
            <a:r>
              <a:rPr lang="en-US" sz="850" dirty="0">
                <a:solidFill>
                  <a:srgbClr val="42566D"/>
                </a:solidFill>
                <a:latin typeface="Aptos" pitchFamily="34" charset="0"/>
                <a:ea typeface="Aptos" pitchFamily="34" charset="-122"/>
                <a:cs typeface="Aptos" pitchFamily="34" charset="-120"/>
              </a:rPr>
              <a:t>PARENT ↔ GCC ↔ UNIT / SITE ↔ ANNOUNCEMENT</a:t>
            </a:r>
            <a:endParaRPr lang="en-US" sz="850" dirty="0"/>
          </a:p>
        </p:txBody>
      </p:sp>
      <p:sp>
        <p:nvSpPr>
          <p:cNvPr id="22" name="Text 20"/>
          <p:cNvSpPr/>
          <p:nvPr/>
        </p:nvSpPr>
        <p:spPr>
          <a:xfrm>
            <a:off x="7589520" y="2642616"/>
            <a:ext cx="1261872"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High</a:t>
            </a:r>
            <a:endParaRPr lang="en-US" sz="920" dirty="0"/>
          </a:p>
        </p:txBody>
      </p:sp>
      <p:sp>
        <p:nvSpPr>
          <p:cNvPr id="23" name="Text 21"/>
          <p:cNvSpPr/>
          <p:nvPr/>
        </p:nvSpPr>
        <p:spPr>
          <a:xfrm>
            <a:off x="8933688" y="2642616"/>
            <a:ext cx="1188720"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High</a:t>
            </a:r>
            <a:endParaRPr lang="en-US" sz="920" dirty="0"/>
          </a:p>
        </p:txBody>
      </p:sp>
      <p:sp>
        <p:nvSpPr>
          <p:cNvPr id="24" name="Text 22"/>
          <p:cNvSpPr/>
          <p:nvPr/>
        </p:nvSpPr>
        <p:spPr>
          <a:xfrm>
            <a:off x="10168128" y="2642616"/>
            <a:ext cx="1234440" cy="301752"/>
          </a:xfrm>
          <a:prstGeom prst="rect">
            <a:avLst/>
          </a:prstGeom>
          <a:noFill/>
          <a:ln/>
        </p:spPr>
        <p:txBody>
          <a:bodyPr wrap="square" lIns="0" tIns="0" rIns="0" bIns="0" rtlCol="0" anchor="ctr">
            <a:normAutofit/>
          </a:bodyPr>
          <a:lstStyle/>
          <a:p>
            <a:pPr algn="l" indent="0" marL="0">
              <a:buNone/>
            </a:pPr>
            <a:r>
              <a:rPr lang="en-US" sz="920" b="1" dirty="0">
                <a:solidFill>
                  <a:srgbClr val="00A994"/>
                </a:solidFill>
                <a:latin typeface="Aptos" pitchFamily="34" charset="0"/>
                <a:ea typeface="Aptos" pitchFamily="34" charset="-122"/>
                <a:cs typeface="Aptos" pitchFamily="34" charset="-120"/>
              </a:rPr>
              <a:t>Foundation</a:t>
            </a:r>
            <a:endParaRPr lang="en-US" sz="920" dirty="0"/>
          </a:p>
        </p:txBody>
      </p:sp>
      <p:sp>
        <p:nvSpPr>
          <p:cNvPr id="25" name="Shape 23"/>
          <p:cNvSpPr/>
          <p:nvPr/>
        </p:nvSpPr>
        <p:spPr>
          <a:xfrm>
            <a:off x="630936" y="3127248"/>
            <a:ext cx="11000232" cy="475488"/>
          </a:xfrm>
          <a:prstGeom prst="roundRect">
            <a:avLst>
              <a:gd name="adj" fmla="val 19231"/>
            </a:avLst>
          </a:prstGeom>
          <a:solidFill>
            <a:srgbClr val="FFFFFF"/>
          </a:solidFill>
          <a:ln w="7620">
            <a:solidFill>
              <a:srgbClr val="E7EDF1"/>
            </a:solidFill>
            <a:prstDash val="solid"/>
          </a:ln>
        </p:spPr>
      </p:sp>
      <p:sp>
        <p:nvSpPr>
          <p:cNvPr id="26" name="Text 24"/>
          <p:cNvSpPr/>
          <p:nvPr/>
        </p:nvSpPr>
        <p:spPr>
          <a:xfrm>
            <a:off x="676656" y="3200400"/>
            <a:ext cx="347472" cy="301752"/>
          </a:xfrm>
          <a:prstGeom prst="rect">
            <a:avLst/>
          </a:prstGeom>
          <a:noFill/>
          <a:ln/>
        </p:spPr>
        <p:txBody>
          <a:bodyPr wrap="square" lIns="0" tIns="0" rIns="0" bIns="0" rtlCol="0" anchor="ctr">
            <a:normAutofit/>
          </a:bodyPr>
          <a:lstStyle/>
          <a:p>
            <a:pPr algn="l" indent="0" marL="0">
              <a:buNone/>
            </a:pPr>
            <a:r>
              <a:rPr lang="en-US" sz="920" dirty="0">
                <a:solidFill>
                  <a:srgbClr val="00A994"/>
                </a:solidFill>
                <a:latin typeface="Aptos" pitchFamily="34" charset="0"/>
                <a:ea typeface="Aptos" pitchFamily="34" charset="-122"/>
                <a:cs typeface="Aptos" pitchFamily="34" charset="-120"/>
              </a:rPr>
              <a:t>3</a:t>
            </a:r>
            <a:endParaRPr lang="en-US" sz="920" dirty="0"/>
          </a:p>
        </p:txBody>
      </p:sp>
      <p:sp>
        <p:nvSpPr>
          <p:cNvPr id="27" name="Text 25"/>
          <p:cNvSpPr/>
          <p:nvPr/>
        </p:nvSpPr>
        <p:spPr>
          <a:xfrm>
            <a:off x="1133856" y="3200400"/>
            <a:ext cx="2487168" cy="301752"/>
          </a:xfrm>
          <a:prstGeom prst="rect">
            <a:avLst/>
          </a:prstGeom>
          <a:noFill/>
          <a:ln/>
        </p:spPr>
        <p:txBody>
          <a:bodyPr wrap="square" lIns="0" tIns="0" rIns="0" bIns="0" rtlCol="0" anchor="ctr">
            <a:normAutofit/>
          </a:bodyPr>
          <a:lstStyle/>
          <a:p>
            <a:pPr algn="l" indent="0" marL="0">
              <a:buNone/>
            </a:pPr>
            <a:r>
              <a:rPr lang="en-US" sz="1010" b="1" dirty="0">
                <a:solidFill>
                  <a:srgbClr val="42566D"/>
                </a:solidFill>
                <a:latin typeface="Aptos" pitchFamily="34" charset="0"/>
                <a:ea typeface="Aptos" pitchFamily="34" charset="-122"/>
                <a:cs typeface="Aptos" pitchFamily="34" charset="-120"/>
              </a:rPr>
              <a:t>City + policy decision room</a:t>
            </a:r>
            <a:endParaRPr lang="en-US" sz="1010" dirty="0"/>
          </a:p>
        </p:txBody>
      </p:sp>
      <p:sp>
        <p:nvSpPr>
          <p:cNvPr id="28" name="Text 26"/>
          <p:cNvSpPr/>
          <p:nvPr/>
        </p:nvSpPr>
        <p:spPr>
          <a:xfrm>
            <a:off x="3749040" y="3200400"/>
            <a:ext cx="3657600" cy="301752"/>
          </a:xfrm>
          <a:prstGeom prst="rect">
            <a:avLst/>
          </a:prstGeom>
          <a:noFill/>
          <a:ln/>
        </p:spPr>
        <p:txBody>
          <a:bodyPr wrap="square" lIns="0" tIns="0" rIns="0" bIns="0" rtlCol="0" anchor="ctr">
            <a:normAutofit/>
          </a:bodyPr>
          <a:lstStyle/>
          <a:p>
            <a:pPr algn="l" indent="0" marL="0">
              <a:buNone/>
            </a:pPr>
            <a:r>
              <a:rPr lang="en-US" sz="850" dirty="0">
                <a:solidFill>
                  <a:srgbClr val="42566D"/>
                </a:solidFill>
                <a:latin typeface="Aptos" pitchFamily="34" charset="0"/>
                <a:ea typeface="Aptos" pitchFamily="34" charset="-122"/>
                <a:cs typeface="Aptos" pitchFamily="34" charset="-120"/>
              </a:rPr>
              <a:t>SECTOR FIT · TALENT · SPACE · INCENTIVES</a:t>
            </a:r>
            <a:endParaRPr lang="en-US" sz="850" dirty="0"/>
          </a:p>
        </p:txBody>
      </p:sp>
      <p:sp>
        <p:nvSpPr>
          <p:cNvPr id="29" name="Text 27"/>
          <p:cNvSpPr/>
          <p:nvPr/>
        </p:nvSpPr>
        <p:spPr>
          <a:xfrm>
            <a:off x="7589520" y="3200400"/>
            <a:ext cx="1261872"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High</a:t>
            </a:r>
            <a:endParaRPr lang="en-US" sz="920" dirty="0"/>
          </a:p>
        </p:txBody>
      </p:sp>
      <p:sp>
        <p:nvSpPr>
          <p:cNvPr id="30" name="Text 28"/>
          <p:cNvSpPr/>
          <p:nvPr/>
        </p:nvSpPr>
        <p:spPr>
          <a:xfrm>
            <a:off x="8933688" y="3200400"/>
            <a:ext cx="1188720"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Medium</a:t>
            </a:r>
            <a:endParaRPr lang="en-US" sz="920" dirty="0"/>
          </a:p>
        </p:txBody>
      </p:sp>
      <p:sp>
        <p:nvSpPr>
          <p:cNvPr id="31" name="Text 29"/>
          <p:cNvSpPr/>
          <p:nvPr/>
        </p:nvSpPr>
        <p:spPr>
          <a:xfrm>
            <a:off x="10168128" y="3200400"/>
            <a:ext cx="1234440" cy="301752"/>
          </a:xfrm>
          <a:prstGeom prst="rect">
            <a:avLst/>
          </a:prstGeom>
          <a:noFill/>
          <a:ln/>
        </p:spPr>
        <p:txBody>
          <a:bodyPr wrap="square" lIns="0" tIns="0" rIns="0" bIns="0" rtlCol="0" anchor="ctr">
            <a:normAutofit/>
          </a:bodyPr>
          <a:lstStyle/>
          <a:p>
            <a:pPr algn="l" indent="0" marL="0">
              <a:buNone/>
            </a:pPr>
            <a:r>
              <a:rPr lang="en-US" sz="920" b="1" dirty="0">
                <a:solidFill>
                  <a:srgbClr val="42566D"/>
                </a:solidFill>
                <a:latin typeface="Aptos" pitchFamily="34" charset="0"/>
                <a:ea typeface="Aptos" pitchFamily="34" charset="-122"/>
                <a:cs typeface="Aptos" pitchFamily="34" charset="-120"/>
              </a:rPr>
              <a:t>Next</a:t>
            </a:r>
            <a:endParaRPr lang="en-US" sz="920" dirty="0"/>
          </a:p>
        </p:txBody>
      </p:sp>
      <p:sp>
        <p:nvSpPr>
          <p:cNvPr id="32" name="Shape 30"/>
          <p:cNvSpPr/>
          <p:nvPr/>
        </p:nvSpPr>
        <p:spPr>
          <a:xfrm>
            <a:off x="630936" y="3685032"/>
            <a:ext cx="11000232" cy="475488"/>
          </a:xfrm>
          <a:prstGeom prst="roundRect">
            <a:avLst>
              <a:gd name="adj" fmla="val 19231"/>
            </a:avLst>
          </a:prstGeom>
          <a:solidFill>
            <a:srgbClr val="F9FBFC"/>
          </a:solidFill>
          <a:ln w="7620">
            <a:solidFill>
              <a:srgbClr val="E7EDF1"/>
            </a:solidFill>
            <a:prstDash val="solid"/>
          </a:ln>
        </p:spPr>
      </p:sp>
      <p:sp>
        <p:nvSpPr>
          <p:cNvPr id="33" name="Text 31"/>
          <p:cNvSpPr/>
          <p:nvPr/>
        </p:nvSpPr>
        <p:spPr>
          <a:xfrm>
            <a:off x="676656" y="3758184"/>
            <a:ext cx="347472" cy="301752"/>
          </a:xfrm>
          <a:prstGeom prst="rect">
            <a:avLst/>
          </a:prstGeom>
          <a:noFill/>
          <a:ln/>
        </p:spPr>
        <p:txBody>
          <a:bodyPr wrap="square" lIns="0" tIns="0" rIns="0" bIns="0" rtlCol="0" anchor="ctr">
            <a:normAutofit/>
          </a:bodyPr>
          <a:lstStyle/>
          <a:p>
            <a:pPr algn="l" indent="0" marL="0">
              <a:buNone/>
            </a:pPr>
            <a:r>
              <a:rPr lang="en-US" sz="920" dirty="0">
                <a:solidFill>
                  <a:srgbClr val="00A994"/>
                </a:solidFill>
                <a:latin typeface="Aptos" pitchFamily="34" charset="0"/>
                <a:ea typeface="Aptos" pitchFamily="34" charset="-122"/>
                <a:cs typeface="Aptos" pitchFamily="34" charset="-120"/>
              </a:rPr>
              <a:t>4</a:t>
            </a:r>
            <a:endParaRPr lang="en-US" sz="920" dirty="0"/>
          </a:p>
        </p:txBody>
      </p:sp>
      <p:sp>
        <p:nvSpPr>
          <p:cNvPr id="34" name="Text 32"/>
          <p:cNvSpPr/>
          <p:nvPr/>
        </p:nvSpPr>
        <p:spPr>
          <a:xfrm>
            <a:off x="1133856" y="3758184"/>
            <a:ext cx="2487168" cy="301752"/>
          </a:xfrm>
          <a:prstGeom prst="rect">
            <a:avLst/>
          </a:prstGeom>
          <a:noFill/>
          <a:ln/>
        </p:spPr>
        <p:txBody>
          <a:bodyPr wrap="square" lIns="0" tIns="0" rIns="0" bIns="0" rtlCol="0" anchor="ctr">
            <a:normAutofit/>
          </a:bodyPr>
          <a:lstStyle/>
          <a:p>
            <a:pPr algn="l" indent="0" marL="0">
              <a:buNone/>
            </a:pPr>
            <a:r>
              <a:rPr lang="en-US" sz="1010" b="1" dirty="0">
                <a:solidFill>
                  <a:srgbClr val="42566D"/>
                </a:solidFill>
                <a:latin typeface="Aptos" pitchFamily="34" charset="0"/>
                <a:ea typeface="Aptos" pitchFamily="34" charset="-122"/>
                <a:cs typeface="Aptos" pitchFamily="34" charset="-120"/>
              </a:rPr>
              <a:t>Provider capability &amp; proof</a:t>
            </a:r>
            <a:endParaRPr lang="en-US" sz="1010" dirty="0"/>
          </a:p>
        </p:txBody>
      </p:sp>
      <p:sp>
        <p:nvSpPr>
          <p:cNvPr id="35" name="Text 33"/>
          <p:cNvSpPr/>
          <p:nvPr/>
        </p:nvSpPr>
        <p:spPr>
          <a:xfrm>
            <a:off x="3749040" y="3758184"/>
            <a:ext cx="3657600" cy="301752"/>
          </a:xfrm>
          <a:prstGeom prst="rect">
            <a:avLst/>
          </a:prstGeom>
          <a:noFill/>
          <a:ln/>
        </p:spPr>
        <p:txBody>
          <a:bodyPr wrap="square" lIns="0" tIns="0" rIns="0" bIns="0" rtlCol="0" anchor="ctr">
            <a:normAutofit/>
          </a:bodyPr>
          <a:lstStyle/>
          <a:p>
            <a:pPr algn="l" indent="0" marL="0">
              <a:buNone/>
            </a:pPr>
            <a:r>
              <a:rPr lang="en-US" sz="850" dirty="0">
                <a:solidFill>
                  <a:srgbClr val="42566D"/>
                </a:solidFill>
                <a:latin typeface="Aptos" pitchFamily="34" charset="0"/>
                <a:ea typeface="Aptos" pitchFamily="34" charset="-122"/>
                <a:cs typeface="Aptos" pitchFamily="34" charset="-120"/>
              </a:rPr>
              <a:t>DELIVERY RECORD · REFERENCES · CASES</a:t>
            </a:r>
            <a:endParaRPr lang="en-US" sz="850" dirty="0"/>
          </a:p>
        </p:txBody>
      </p:sp>
      <p:sp>
        <p:nvSpPr>
          <p:cNvPr id="36" name="Text 34"/>
          <p:cNvSpPr/>
          <p:nvPr/>
        </p:nvSpPr>
        <p:spPr>
          <a:xfrm>
            <a:off x="7589520" y="3758184"/>
            <a:ext cx="1261872"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High</a:t>
            </a:r>
            <a:endParaRPr lang="en-US" sz="920" dirty="0"/>
          </a:p>
        </p:txBody>
      </p:sp>
      <p:sp>
        <p:nvSpPr>
          <p:cNvPr id="37" name="Text 35"/>
          <p:cNvSpPr/>
          <p:nvPr/>
        </p:nvSpPr>
        <p:spPr>
          <a:xfrm>
            <a:off x="8933688" y="3758184"/>
            <a:ext cx="1188720"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Low–medium</a:t>
            </a:r>
            <a:endParaRPr lang="en-US" sz="920" dirty="0"/>
          </a:p>
        </p:txBody>
      </p:sp>
      <p:sp>
        <p:nvSpPr>
          <p:cNvPr id="38" name="Text 36"/>
          <p:cNvSpPr/>
          <p:nvPr/>
        </p:nvSpPr>
        <p:spPr>
          <a:xfrm>
            <a:off x="10168128" y="3758184"/>
            <a:ext cx="1234440" cy="301752"/>
          </a:xfrm>
          <a:prstGeom prst="rect">
            <a:avLst/>
          </a:prstGeom>
          <a:noFill/>
          <a:ln/>
        </p:spPr>
        <p:txBody>
          <a:bodyPr wrap="square" lIns="0" tIns="0" rIns="0" bIns="0" rtlCol="0" anchor="ctr">
            <a:normAutofit/>
          </a:bodyPr>
          <a:lstStyle/>
          <a:p>
            <a:pPr algn="l" indent="0" marL="0">
              <a:buNone/>
            </a:pPr>
            <a:r>
              <a:rPr lang="en-US" sz="920" b="1" dirty="0">
                <a:solidFill>
                  <a:srgbClr val="42566D"/>
                </a:solidFill>
                <a:latin typeface="Aptos" pitchFamily="34" charset="0"/>
                <a:ea typeface="Aptos" pitchFamily="34" charset="-122"/>
                <a:cs typeface="Aptos" pitchFamily="34" charset="-120"/>
              </a:rPr>
              <a:t>After trust</a:t>
            </a:r>
            <a:endParaRPr lang="en-US" sz="920" dirty="0"/>
          </a:p>
        </p:txBody>
      </p:sp>
      <p:sp>
        <p:nvSpPr>
          <p:cNvPr id="39" name="Shape 37"/>
          <p:cNvSpPr/>
          <p:nvPr/>
        </p:nvSpPr>
        <p:spPr>
          <a:xfrm>
            <a:off x="630936" y="4242816"/>
            <a:ext cx="11000232" cy="475488"/>
          </a:xfrm>
          <a:prstGeom prst="roundRect">
            <a:avLst>
              <a:gd name="adj" fmla="val 19231"/>
            </a:avLst>
          </a:prstGeom>
          <a:solidFill>
            <a:srgbClr val="FFFFFF"/>
          </a:solidFill>
          <a:ln w="7620">
            <a:solidFill>
              <a:srgbClr val="E7EDF1"/>
            </a:solidFill>
            <a:prstDash val="solid"/>
          </a:ln>
        </p:spPr>
      </p:sp>
      <p:sp>
        <p:nvSpPr>
          <p:cNvPr id="40" name="Text 38"/>
          <p:cNvSpPr/>
          <p:nvPr/>
        </p:nvSpPr>
        <p:spPr>
          <a:xfrm>
            <a:off x="676656" y="4315968"/>
            <a:ext cx="347472" cy="301752"/>
          </a:xfrm>
          <a:prstGeom prst="rect">
            <a:avLst/>
          </a:prstGeom>
          <a:noFill/>
          <a:ln/>
        </p:spPr>
        <p:txBody>
          <a:bodyPr wrap="square" lIns="0" tIns="0" rIns="0" bIns="0" rtlCol="0" anchor="ctr">
            <a:normAutofit/>
          </a:bodyPr>
          <a:lstStyle/>
          <a:p>
            <a:pPr algn="l" indent="0" marL="0">
              <a:buNone/>
            </a:pPr>
            <a:r>
              <a:rPr lang="en-US" sz="920" dirty="0">
                <a:solidFill>
                  <a:srgbClr val="00A994"/>
                </a:solidFill>
                <a:latin typeface="Aptos" pitchFamily="34" charset="0"/>
                <a:ea typeface="Aptos" pitchFamily="34" charset="-122"/>
                <a:cs typeface="Aptos" pitchFamily="34" charset="-120"/>
              </a:rPr>
              <a:t>5</a:t>
            </a:r>
            <a:endParaRPr lang="en-US" sz="920" dirty="0"/>
          </a:p>
        </p:txBody>
      </p:sp>
      <p:sp>
        <p:nvSpPr>
          <p:cNvPr id="41" name="Text 39"/>
          <p:cNvSpPr/>
          <p:nvPr/>
        </p:nvSpPr>
        <p:spPr>
          <a:xfrm>
            <a:off x="1133856" y="4315968"/>
            <a:ext cx="2487168" cy="301752"/>
          </a:xfrm>
          <a:prstGeom prst="rect">
            <a:avLst/>
          </a:prstGeom>
          <a:noFill/>
          <a:ln/>
        </p:spPr>
        <p:txBody>
          <a:bodyPr wrap="square" lIns="0" tIns="0" rIns="0" bIns="0" rtlCol="0" anchor="ctr">
            <a:normAutofit/>
          </a:bodyPr>
          <a:lstStyle/>
          <a:p>
            <a:pPr algn="l" indent="0" marL="0">
              <a:buNone/>
            </a:pPr>
            <a:r>
              <a:rPr lang="en-US" sz="1010" b="1" dirty="0">
                <a:solidFill>
                  <a:srgbClr val="42566D"/>
                </a:solidFill>
                <a:latin typeface="Aptos" pitchFamily="34" charset="0"/>
                <a:ea typeface="Aptos" pitchFamily="34" charset="-122"/>
                <a:cs typeface="Aptos" pitchFamily="34" charset="-120"/>
              </a:rPr>
              <a:t>Benchmarks &amp; data APIs</a:t>
            </a:r>
            <a:endParaRPr lang="en-US" sz="1010" dirty="0"/>
          </a:p>
        </p:txBody>
      </p:sp>
      <p:sp>
        <p:nvSpPr>
          <p:cNvPr id="42" name="Text 40"/>
          <p:cNvSpPr/>
          <p:nvPr/>
        </p:nvSpPr>
        <p:spPr>
          <a:xfrm>
            <a:off x="3749040" y="4315968"/>
            <a:ext cx="3657600" cy="301752"/>
          </a:xfrm>
          <a:prstGeom prst="rect">
            <a:avLst/>
          </a:prstGeom>
          <a:noFill/>
          <a:ln/>
        </p:spPr>
        <p:txBody>
          <a:bodyPr wrap="square" lIns="0" tIns="0" rIns="0" bIns="0" rtlCol="0" anchor="ctr">
            <a:normAutofit/>
          </a:bodyPr>
          <a:lstStyle/>
          <a:p>
            <a:pPr algn="l" indent="0" marL="0">
              <a:buNone/>
            </a:pPr>
            <a:r>
              <a:rPr lang="en-US" sz="850" dirty="0">
                <a:solidFill>
                  <a:srgbClr val="42566D"/>
                </a:solidFill>
                <a:latin typeface="Aptos" pitchFamily="34" charset="0"/>
                <a:ea typeface="Aptos" pitchFamily="34" charset="-122"/>
                <a:cs typeface="Aptos" pitchFamily="34" charset="-120"/>
              </a:rPr>
              <a:t>SALARY · RENT · COST · WORKFORCE</a:t>
            </a:r>
            <a:endParaRPr lang="en-US" sz="850" dirty="0"/>
          </a:p>
        </p:txBody>
      </p:sp>
      <p:sp>
        <p:nvSpPr>
          <p:cNvPr id="43" name="Text 41"/>
          <p:cNvSpPr/>
          <p:nvPr/>
        </p:nvSpPr>
        <p:spPr>
          <a:xfrm>
            <a:off x="7589520" y="4315968"/>
            <a:ext cx="1261872"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Very high</a:t>
            </a:r>
            <a:endParaRPr lang="en-US" sz="920" dirty="0"/>
          </a:p>
        </p:txBody>
      </p:sp>
      <p:sp>
        <p:nvSpPr>
          <p:cNvPr id="44" name="Text 42"/>
          <p:cNvSpPr/>
          <p:nvPr/>
        </p:nvSpPr>
        <p:spPr>
          <a:xfrm>
            <a:off x="8933688" y="4315968"/>
            <a:ext cx="1188720"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Low</a:t>
            </a:r>
            <a:endParaRPr lang="en-US" sz="920" dirty="0"/>
          </a:p>
        </p:txBody>
      </p:sp>
      <p:sp>
        <p:nvSpPr>
          <p:cNvPr id="45" name="Text 43"/>
          <p:cNvSpPr/>
          <p:nvPr/>
        </p:nvSpPr>
        <p:spPr>
          <a:xfrm>
            <a:off x="10168128" y="4315968"/>
            <a:ext cx="1234440" cy="301752"/>
          </a:xfrm>
          <a:prstGeom prst="rect">
            <a:avLst/>
          </a:prstGeom>
          <a:noFill/>
          <a:ln/>
        </p:spPr>
        <p:txBody>
          <a:bodyPr wrap="square" lIns="0" tIns="0" rIns="0" bIns="0" rtlCol="0" anchor="ctr">
            <a:normAutofit/>
          </a:bodyPr>
          <a:lstStyle/>
          <a:p>
            <a:pPr algn="l" indent="0" marL="0">
              <a:buNone/>
            </a:pPr>
            <a:r>
              <a:rPr lang="en-US" sz="920" b="1" dirty="0">
                <a:solidFill>
                  <a:srgbClr val="42566D"/>
                </a:solidFill>
                <a:latin typeface="Aptos" pitchFamily="34" charset="0"/>
                <a:ea typeface="Aptos" pitchFamily="34" charset="-122"/>
                <a:cs typeface="Aptos" pitchFamily="34" charset="-120"/>
              </a:rPr>
              <a:t>Later</a:t>
            </a:r>
            <a:endParaRPr lang="en-US" sz="920" dirty="0"/>
          </a:p>
        </p:txBody>
      </p:sp>
      <p:sp>
        <p:nvSpPr>
          <p:cNvPr id="46" name="Shape 44"/>
          <p:cNvSpPr/>
          <p:nvPr/>
        </p:nvSpPr>
        <p:spPr>
          <a:xfrm>
            <a:off x="630936" y="4800600"/>
            <a:ext cx="11000232" cy="475488"/>
          </a:xfrm>
          <a:prstGeom prst="roundRect">
            <a:avLst>
              <a:gd name="adj" fmla="val 19231"/>
            </a:avLst>
          </a:prstGeom>
          <a:solidFill>
            <a:srgbClr val="F9FBFC"/>
          </a:solidFill>
          <a:ln w="7620">
            <a:solidFill>
              <a:srgbClr val="E7EDF1"/>
            </a:solidFill>
            <a:prstDash val="solid"/>
          </a:ln>
        </p:spPr>
      </p:sp>
      <p:sp>
        <p:nvSpPr>
          <p:cNvPr id="47" name="Text 45"/>
          <p:cNvSpPr/>
          <p:nvPr/>
        </p:nvSpPr>
        <p:spPr>
          <a:xfrm>
            <a:off x="676656" y="4873752"/>
            <a:ext cx="347472" cy="301752"/>
          </a:xfrm>
          <a:prstGeom prst="rect">
            <a:avLst/>
          </a:prstGeom>
          <a:noFill/>
          <a:ln/>
        </p:spPr>
        <p:txBody>
          <a:bodyPr wrap="square" lIns="0" tIns="0" rIns="0" bIns="0" rtlCol="0" anchor="ctr">
            <a:normAutofit/>
          </a:bodyPr>
          <a:lstStyle/>
          <a:p>
            <a:pPr algn="l" indent="0" marL="0">
              <a:buNone/>
            </a:pPr>
            <a:r>
              <a:rPr lang="en-US" sz="920" dirty="0">
                <a:solidFill>
                  <a:srgbClr val="00A994"/>
                </a:solidFill>
                <a:latin typeface="Aptos" pitchFamily="34" charset="0"/>
                <a:ea typeface="Aptos" pitchFamily="34" charset="-122"/>
                <a:cs typeface="Aptos" pitchFamily="34" charset="-120"/>
              </a:rPr>
              <a:t>6</a:t>
            </a:r>
            <a:endParaRPr lang="en-US" sz="920" dirty="0"/>
          </a:p>
        </p:txBody>
      </p:sp>
      <p:sp>
        <p:nvSpPr>
          <p:cNvPr id="48" name="Text 46"/>
          <p:cNvSpPr/>
          <p:nvPr/>
        </p:nvSpPr>
        <p:spPr>
          <a:xfrm>
            <a:off x="1133856" y="4873752"/>
            <a:ext cx="2487168" cy="301752"/>
          </a:xfrm>
          <a:prstGeom prst="rect">
            <a:avLst/>
          </a:prstGeom>
          <a:noFill/>
          <a:ln/>
        </p:spPr>
        <p:txBody>
          <a:bodyPr wrap="square" lIns="0" tIns="0" rIns="0" bIns="0" rtlCol="0" anchor="ctr">
            <a:normAutofit/>
          </a:bodyPr>
          <a:lstStyle/>
          <a:p>
            <a:pPr algn="l" indent="0" marL="0">
              <a:buNone/>
            </a:pPr>
            <a:r>
              <a:rPr lang="en-US" sz="1010" b="1" dirty="0">
                <a:solidFill>
                  <a:srgbClr val="42566D"/>
                </a:solidFill>
                <a:latin typeface="Aptos" pitchFamily="34" charset="0"/>
                <a:ea typeface="Aptos" pitchFamily="34" charset="-122"/>
                <a:cs typeface="Aptos" pitchFamily="34" charset="-120"/>
              </a:rPr>
              <a:t>Marketplace / introductions</a:t>
            </a:r>
            <a:endParaRPr lang="en-US" sz="1010" dirty="0"/>
          </a:p>
        </p:txBody>
      </p:sp>
      <p:sp>
        <p:nvSpPr>
          <p:cNvPr id="49" name="Text 47"/>
          <p:cNvSpPr/>
          <p:nvPr/>
        </p:nvSpPr>
        <p:spPr>
          <a:xfrm>
            <a:off x="3749040" y="4873752"/>
            <a:ext cx="3657600" cy="301752"/>
          </a:xfrm>
          <a:prstGeom prst="rect">
            <a:avLst/>
          </a:prstGeom>
          <a:noFill/>
          <a:ln/>
        </p:spPr>
        <p:txBody>
          <a:bodyPr wrap="square" lIns="0" tIns="0" rIns="0" bIns="0" rtlCol="0" anchor="ctr">
            <a:normAutofit/>
          </a:bodyPr>
          <a:lstStyle/>
          <a:p>
            <a:pPr algn="l" indent="0" marL="0">
              <a:buNone/>
            </a:pPr>
            <a:r>
              <a:rPr lang="en-US" sz="850" dirty="0">
                <a:solidFill>
                  <a:srgbClr val="42566D"/>
                </a:solidFill>
                <a:latin typeface="Aptos" pitchFamily="34" charset="0"/>
                <a:ea typeface="Aptos" pitchFamily="34" charset="-122"/>
                <a:cs typeface="Aptos" pitchFamily="34" charset="-120"/>
              </a:rPr>
              <a:t>MATCHING · REFERRALS · TRANSACTIONS</a:t>
            </a:r>
            <a:endParaRPr lang="en-US" sz="850" dirty="0"/>
          </a:p>
        </p:txBody>
      </p:sp>
      <p:sp>
        <p:nvSpPr>
          <p:cNvPr id="50" name="Text 48"/>
          <p:cNvSpPr/>
          <p:nvPr/>
        </p:nvSpPr>
        <p:spPr>
          <a:xfrm>
            <a:off x="7589520" y="4873752"/>
            <a:ext cx="1261872"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Medium</a:t>
            </a:r>
            <a:endParaRPr lang="en-US" sz="920" dirty="0"/>
          </a:p>
        </p:txBody>
      </p:sp>
      <p:sp>
        <p:nvSpPr>
          <p:cNvPr id="51" name="Text 49"/>
          <p:cNvSpPr/>
          <p:nvPr/>
        </p:nvSpPr>
        <p:spPr>
          <a:xfrm>
            <a:off x="8933688" y="4873752"/>
            <a:ext cx="1188720" cy="301752"/>
          </a:xfrm>
          <a:prstGeom prst="rect">
            <a:avLst/>
          </a:prstGeom>
          <a:noFill/>
          <a:ln/>
        </p:spPr>
        <p:txBody>
          <a:bodyPr wrap="square" lIns="0" tIns="0" rIns="0" bIns="0" rtlCol="0" anchor="ctr">
            <a:normAutofit/>
          </a:bodyPr>
          <a:lstStyle/>
          <a:p>
            <a:pPr algn="l" indent="0" marL="0">
              <a:buNone/>
            </a:pPr>
            <a:r>
              <a:rPr lang="en-US" sz="920" dirty="0">
                <a:solidFill>
                  <a:srgbClr val="42566D"/>
                </a:solidFill>
                <a:latin typeface="Aptos" pitchFamily="34" charset="0"/>
                <a:ea typeface="Aptos" pitchFamily="34" charset="-122"/>
                <a:cs typeface="Aptos" pitchFamily="34" charset="-120"/>
              </a:rPr>
              <a:t>Medium</a:t>
            </a:r>
            <a:endParaRPr lang="en-US" sz="920" dirty="0"/>
          </a:p>
        </p:txBody>
      </p:sp>
      <p:sp>
        <p:nvSpPr>
          <p:cNvPr id="52" name="Text 50"/>
          <p:cNvSpPr/>
          <p:nvPr/>
        </p:nvSpPr>
        <p:spPr>
          <a:xfrm>
            <a:off x="10168128" y="4873752"/>
            <a:ext cx="1234440" cy="301752"/>
          </a:xfrm>
          <a:prstGeom prst="rect">
            <a:avLst/>
          </a:prstGeom>
          <a:noFill/>
          <a:ln/>
        </p:spPr>
        <p:txBody>
          <a:bodyPr wrap="square" lIns="0" tIns="0" rIns="0" bIns="0" rtlCol="0" anchor="ctr">
            <a:normAutofit/>
          </a:bodyPr>
          <a:lstStyle/>
          <a:p>
            <a:pPr algn="l" indent="0" marL="0">
              <a:buNone/>
            </a:pPr>
            <a:r>
              <a:rPr lang="en-US" sz="920" b="1" dirty="0">
                <a:solidFill>
                  <a:srgbClr val="42566D"/>
                </a:solidFill>
                <a:latin typeface="Aptos" pitchFamily="34" charset="0"/>
                <a:ea typeface="Aptos" pitchFamily="34" charset="-122"/>
                <a:cs typeface="Aptos" pitchFamily="34" charset="-120"/>
              </a:rPr>
              <a:t>Not first</a:t>
            </a:r>
            <a:endParaRPr lang="en-US" sz="920" dirty="0"/>
          </a:p>
        </p:txBody>
      </p:sp>
      <p:sp>
        <p:nvSpPr>
          <p:cNvPr id="53" name="Shape 51"/>
          <p:cNvSpPr/>
          <p:nvPr/>
        </p:nvSpPr>
        <p:spPr>
          <a:xfrm>
            <a:off x="658368" y="5614416"/>
            <a:ext cx="6638544" cy="512064"/>
          </a:xfrm>
          <a:prstGeom prst="roundRect">
            <a:avLst>
              <a:gd name="adj" fmla="val 17857"/>
            </a:avLst>
          </a:prstGeom>
          <a:solidFill>
            <a:srgbClr val="101D31"/>
          </a:solidFill>
          <a:ln w="8890">
            <a:solidFill>
              <a:srgbClr val="101D31"/>
            </a:solidFill>
            <a:prstDash val="solid"/>
          </a:ln>
        </p:spPr>
      </p:sp>
      <p:sp>
        <p:nvSpPr>
          <p:cNvPr id="54" name="Text 52"/>
          <p:cNvSpPr/>
          <p:nvPr/>
        </p:nvSpPr>
        <p:spPr>
          <a:xfrm>
            <a:off x="868680" y="5779008"/>
            <a:ext cx="1188720" cy="137160"/>
          </a:xfrm>
          <a:prstGeom prst="rect">
            <a:avLst/>
          </a:prstGeom>
          <a:noFill/>
          <a:ln/>
        </p:spPr>
        <p:txBody>
          <a:bodyPr wrap="square" lIns="0" tIns="0" rIns="0" bIns="0" rtlCol="0" anchor="ctr">
            <a:normAutofit/>
          </a:bodyPr>
          <a:lstStyle/>
          <a:p>
            <a:pPr algn="l" indent="0" marL="0">
              <a:buNone/>
            </a:pPr>
            <a:r>
              <a:rPr lang="en-US" sz="800" b="1" spc="100" kern="0" dirty="0">
                <a:solidFill>
                  <a:srgbClr val="6DDBCA"/>
                </a:solidFill>
                <a:latin typeface="Aptos" pitchFamily="34" charset="0"/>
                <a:ea typeface="Aptos" pitchFamily="34" charset="-122"/>
                <a:cs typeface="Aptos" pitchFamily="34" charset="-120"/>
              </a:rPr>
              <a:t>WHY THIS ORDER</a:t>
            </a:r>
            <a:endParaRPr lang="en-US" sz="800" dirty="0"/>
          </a:p>
        </p:txBody>
      </p:sp>
      <p:sp>
        <p:nvSpPr>
          <p:cNvPr id="55" name="Text 53"/>
          <p:cNvSpPr/>
          <p:nvPr/>
        </p:nvSpPr>
        <p:spPr>
          <a:xfrm>
            <a:off x="2157984" y="5733288"/>
            <a:ext cx="4901184" cy="210312"/>
          </a:xfrm>
          <a:prstGeom prst="rect">
            <a:avLst/>
          </a:prstGeom>
          <a:noFill/>
          <a:ln/>
        </p:spPr>
        <p:txBody>
          <a:bodyPr wrap="square" lIns="0" tIns="0" rIns="0" bIns="0" rtlCol="0" anchor="ctr">
            <a:normAutofit/>
          </a:bodyPr>
          <a:lstStyle/>
          <a:p>
            <a:pPr algn="l" indent="0" marL="0">
              <a:buNone/>
            </a:pPr>
            <a:r>
              <a:rPr lang="en-US" sz="1050" b="1" dirty="0">
                <a:solidFill>
                  <a:srgbClr val="FFFFFF"/>
                </a:solidFill>
                <a:latin typeface="Aptos" pitchFamily="34" charset="0"/>
                <a:ea typeface="Aptos" pitchFamily="34" charset="-122"/>
                <a:cs typeface="Aptos" pitchFamily="34" charset="-120"/>
              </a:rPr>
              <a:t>Signals drive recurring usage; the entity graph compounds value; decisions monetise trust.</a:t>
            </a:r>
            <a:endParaRPr lang="en-US" sz="1050" dirty="0"/>
          </a:p>
        </p:txBody>
      </p:sp>
      <p:sp>
        <p:nvSpPr>
          <p:cNvPr id="56" name="Text 54"/>
          <p:cNvSpPr/>
          <p:nvPr/>
        </p:nvSpPr>
        <p:spPr>
          <a:xfrm>
            <a:off x="7589520" y="5650992"/>
            <a:ext cx="3886200" cy="393192"/>
          </a:xfrm>
          <a:prstGeom prst="rect">
            <a:avLst/>
          </a:prstGeom>
          <a:noFill/>
          <a:ln/>
        </p:spPr>
        <p:txBody>
          <a:bodyPr wrap="square" lIns="0" tIns="0" rIns="0" bIns="0" rtlCol="0" anchor="ctr">
            <a:normAutofit/>
          </a:bodyPr>
          <a:lstStyle/>
          <a:p>
            <a:pPr algn="l" indent="0" marL="0">
              <a:buNone/>
            </a:pPr>
            <a:r>
              <a:rPr lang="en-US" sz="930" i="1" dirty="0">
                <a:solidFill>
                  <a:srgbClr val="718196"/>
                </a:solidFill>
                <a:latin typeface="Aptos" pitchFamily="34" charset="0"/>
                <a:ea typeface="Aptos" pitchFamily="34" charset="-122"/>
                <a:cs typeface="Aptos" pitchFamily="34" charset="-120"/>
              </a:rPr>
              <a:t>Important: salary, rent and incentive benchmarking is valuable but costly to normalise and keep current. Do not ship fake precision.</a:t>
            </a:r>
            <a:endParaRPr lang="en-US" sz="93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06 · WHO FIRST</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Beachhead: GCC-facing service-provider sales teams.</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Recurring use, an identifiable budget owner and a measurable workflow make this a sharper first wedge than a broad “platform for everyone”.</a:t>
            </a:r>
            <a:endParaRPr lang="en-US" sz="1120" dirty="0"/>
          </a:p>
        </p:txBody>
      </p:sp>
      <p:sp>
        <p:nvSpPr>
          <p:cNvPr id="5" name="Shape 3"/>
          <p:cNvSpPr/>
          <p:nvPr/>
        </p:nvSpPr>
        <p:spPr>
          <a:xfrm>
            <a:off x="630936" y="1728216"/>
            <a:ext cx="3794760" cy="4050792"/>
          </a:xfrm>
          <a:prstGeom prst="roundRect">
            <a:avLst>
              <a:gd name="adj" fmla="val 2410"/>
            </a:avLst>
          </a:prstGeom>
          <a:solidFill>
            <a:srgbClr val="101D31"/>
          </a:solidFill>
          <a:ln w="8890">
            <a:solidFill>
              <a:srgbClr val="101D31"/>
            </a:solidFill>
            <a:prstDash val="solid"/>
          </a:ln>
        </p:spPr>
      </p:sp>
      <p:sp>
        <p:nvSpPr>
          <p:cNvPr id="6" name="Shape 4"/>
          <p:cNvSpPr/>
          <p:nvPr/>
        </p:nvSpPr>
        <p:spPr>
          <a:xfrm>
            <a:off x="886968" y="1993392"/>
            <a:ext cx="1581912" cy="237744"/>
          </a:xfrm>
          <a:prstGeom prst="roundRect">
            <a:avLst>
              <a:gd name="adj" fmla="val 38462"/>
            </a:avLst>
          </a:prstGeom>
          <a:solidFill>
            <a:srgbClr val="264556"/>
          </a:solidFill>
          <a:ln w="10160">
            <a:solidFill>
              <a:srgbClr val="264556">
                <a:alpha val="0"/>
              </a:srgbClr>
            </a:solidFill>
            <a:prstDash val="solid"/>
          </a:ln>
        </p:spPr>
      </p:sp>
      <p:sp>
        <p:nvSpPr>
          <p:cNvPr id="7" name="Text 5"/>
          <p:cNvSpPr/>
          <p:nvPr/>
        </p:nvSpPr>
        <p:spPr>
          <a:xfrm>
            <a:off x="950976" y="2011680"/>
            <a:ext cx="1453896" cy="173736"/>
          </a:xfrm>
          <a:prstGeom prst="rect">
            <a:avLst/>
          </a:prstGeom>
          <a:noFill/>
          <a:ln/>
        </p:spPr>
        <p:txBody>
          <a:bodyPr wrap="square" lIns="0" tIns="0" rIns="0" bIns="0" rtlCol="0" anchor="ctr">
            <a:normAutofit/>
          </a:bodyPr>
          <a:lstStyle/>
          <a:p>
            <a:pPr algn="ctr" indent="0" marL="0">
              <a:buNone/>
            </a:pPr>
            <a:r>
              <a:rPr lang="en-US" sz="780" b="1" dirty="0">
                <a:solidFill>
                  <a:srgbClr val="99ECDD"/>
                </a:solidFill>
                <a:latin typeface="Aptos" pitchFamily="34" charset="0"/>
                <a:ea typeface="Aptos" pitchFamily="34" charset="-122"/>
                <a:cs typeface="Aptos" pitchFamily="34" charset="-120"/>
              </a:rPr>
              <a:t>FIRST PAYING USER</a:t>
            </a:r>
            <a:endParaRPr lang="en-US" sz="780" dirty="0"/>
          </a:p>
        </p:txBody>
      </p:sp>
      <p:sp>
        <p:nvSpPr>
          <p:cNvPr id="8" name="Text 6"/>
          <p:cNvSpPr/>
          <p:nvPr/>
        </p:nvSpPr>
        <p:spPr>
          <a:xfrm>
            <a:off x="896112" y="2514600"/>
            <a:ext cx="3090672" cy="841248"/>
          </a:xfrm>
          <a:prstGeom prst="rect">
            <a:avLst/>
          </a:prstGeom>
          <a:noFill/>
          <a:ln/>
        </p:spPr>
        <p:txBody>
          <a:bodyPr wrap="square" lIns="0" tIns="0" rIns="0" bIns="0" rtlCol="0" anchor="ctr">
            <a:normAutofit/>
          </a:bodyPr>
          <a:lstStyle/>
          <a:p>
            <a:pPr algn="l" indent="0" marL="0">
              <a:buNone/>
            </a:pPr>
            <a:r>
              <a:rPr lang="en-US" sz="2500" b="1" dirty="0">
                <a:solidFill>
                  <a:srgbClr val="FFFFFF"/>
                </a:solidFill>
                <a:latin typeface="Aptos Display" pitchFamily="34" charset="0"/>
                <a:ea typeface="Aptos Display" pitchFamily="34" charset="-122"/>
                <a:cs typeface="Aptos Display" pitchFamily="34" charset="-120"/>
              </a:rPr>
              <a:t>Head of growth /</a:t>
            </a:r>
            <a:endParaRPr lang="en-US" sz="2500" dirty="0"/>
          </a:p>
          <a:p>
            <a:pPr algn="l" indent="0" marL="0">
              <a:buNone/>
            </a:pPr>
            <a:r>
              <a:rPr lang="en-US" sz="2500" b="1" dirty="0">
                <a:solidFill>
                  <a:srgbClr val="FFFFFF"/>
                </a:solidFill>
                <a:latin typeface="Aptos Display" pitchFamily="34" charset="0"/>
                <a:ea typeface="Aptos Display" pitchFamily="34" charset="-122"/>
                <a:cs typeface="Aptos Display" pitchFamily="34" charset="-120"/>
              </a:rPr>
              <a:t>sales / practice lead</a:t>
            </a:r>
            <a:endParaRPr lang="en-US" sz="2500" dirty="0"/>
          </a:p>
        </p:txBody>
      </p:sp>
      <p:sp>
        <p:nvSpPr>
          <p:cNvPr id="9" name="Text 7"/>
          <p:cNvSpPr/>
          <p:nvPr/>
        </p:nvSpPr>
        <p:spPr>
          <a:xfrm>
            <a:off x="905256" y="3602736"/>
            <a:ext cx="2651760" cy="182880"/>
          </a:xfrm>
          <a:prstGeom prst="rect">
            <a:avLst/>
          </a:prstGeom>
          <a:noFill/>
          <a:ln/>
        </p:spPr>
        <p:txBody>
          <a:bodyPr wrap="square" lIns="0" tIns="0" rIns="0" bIns="0" rtlCol="0" anchor="ctr">
            <a:normAutofit/>
          </a:bodyPr>
          <a:lstStyle/>
          <a:p>
            <a:pPr algn="l" indent="0" marL="0">
              <a:buNone/>
            </a:pPr>
            <a:r>
              <a:rPr lang="en-US" sz="1000" b="1" dirty="0">
                <a:solidFill>
                  <a:srgbClr val="9FB5C8"/>
                </a:solidFill>
                <a:latin typeface="Aptos" pitchFamily="34" charset="0"/>
                <a:ea typeface="Aptos" pitchFamily="34" charset="-122"/>
                <a:cs typeface="Aptos" pitchFamily="34" charset="-120"/>
              </a:rPr>
              <a:t>At GCC-facing providers:</a:t>
            </a:r>
            <a:endParaRPr lang="en-US" sz="1000" dirty="0"/>
          </a:p>
        </p:txBody>
      </p:sp>
      <p:sp>
        <p:nvSpPr>
          <p:cNvPr id="10" name="Shape 8"/>
          <p:cNvSpPr/>
          <p:nvPr/>
        </p:nvSpPr>
        <p:spPr>
          <a:xfrm>
            <a:off x="923544" y="3959352"/>
            <a:ext cx="109728" cy="109728"/>
          </a:xfrm>
          <a:prstGeom prst="ellipse">
            <a:avLst/>
          </a:prstGeom>
          <a:solidFill>
            <a:srgbClr val="6DDBCA"/>
          </a:solidFill>
          <a:ln w="12700">
            <a:solidFill>
              <a:srgbClr val="6DDBCA">
                <a:alpha val="0"/>
              </a:srgbClr>
            </a:solidFill>
            <a:prstDash val="solid"/>
          </a:ln>
        </p:spPr>
      </p:sp>
      <p:sp>
        <p:nvSpPr>
          <p:cNvPr id="11" name="Text 9"/>
          <p:cNvSpPr/>
          <p:nvPr/>
        </p:nvSpPr>
        <p:spPr>
          <a:xfrm>
            <a:off x="1161288" y="3931920"/>
            <a:ext cx="2514600" cy="182880"/>
          </a:xfrm>
          <a:prstGeom prst="rect">
            <a:avLst/>
          </a:prstGeom>
          <a:noFill/>
          <a:ln/>
        </p:spPr>
        <p:txBody>
          <a:bodyPr wrap="square" lIns="0" tIns="0" rIns="0" bIns="0" rtlCol="0" anchor="ctr">
            <a:normAutofit/>
          </a:bodyPr>
          <a:lstStyle/>
          <a:p>
            <a:pPr algn="l" indent="0" marL="0">
              <a:buNone/>
            </a:pPr>
            <a:r>
              <a:rPr lang="en-US" sz="1050" dirty="0">
                <a:solidFill>
                  <a:srgbClr val="EAF3F8"/>
                </a:solidFill>
                <a:latin typeface="Aptos" pitchFamily="34" charset="0"/>
                <a:ea typeface="Aptos" pitchFamily="34" charset="-122"/>
                <a:cs typeface="Aptos" pitchFamily="34" charset="-120"/>
              </a:rPr>
              <a:t>Commercial real estate</a:t>
            </a:r>
            <a:endParaRPr lang="en-US" sz="1050" dirty="0"/>
          </a:p>
        </p:txBody>
      </p:sp>
      <p:sp>
        <p:nvSpPr>
          <p:cNvPr id="12" name="Shape 10"/>
          <p:cNvSpPr/>
          <p:nvPr/>
        </p:nvSpPr>
        <p:spPr>
          <a:xfrm>
            <a:off x="923544" y="4279392"/>
            <a:ext cx="109728" cy="109728"/>
          </a:xfrm>
          <a:prstGeom prst="ellipse">
            <a:avLst/>
          </a:prstGeom>
          <a:solidFill>
            <a:srgbClr val="6DDBCA"/>
          </a:solidFill>
          <a:ln w="12700">
            <a:solidFill>
              <a:srgbClr val="6DDBCA">
                <a:alpha val="0"/>
              </a:srgbClr>
            </a:solidFill>
            <a:prstDash val="solid"/>
          </a:ln>
        </p:spPr>
      </p:sp>
      <p:sp>
        <p:nvSpPr>
          <p:cNvPr id="13" name="Text 11"/>
          <p:cNvSpPr/>
          <p:nvPr/>
        </p:nvSpPr>
        <p:spPr>
          <a:xfrm>
            <a:off x="1161288" y="4251960"/>
            <a:ext cx="2514600" cy="182880"/>
          </a:xfrm>
          <a:prstGeom prst="rect">
            <a:avLst/>
          </a:prstGeom>
          <a:noFill/>
          <a:ln/>
        </p:spPr>
        <p:txBody>
          <a:bodyPr wrap="square" lIns="0" tIns="0" rIns="0" bIns="0" rtlCol="0" anchor="ctr">
            <a:normAutofit/>
          </a:bodyPr>
          <a:lstStyle/>
          <a:p>
            <a:pPr algn="l" indent="0" marL="0">
              <a:buNone/>
            </a:pPr>
            <a:r>
              <a:rPr lang="en-US" sz="1050" dirty="0">
                <a:solidFill>
                  <a:srgbClr val="EAF3F8"/>
                </a:solidFill>
                <a:latin typeface="Aptos" pitchFamily="34" charset="0"/>
                <a:ea typeface="Aptos" pitchFamily="34" charset="-122"/>
                <a:cs typeface="Aptos" pitchFamily="34" charset="-120"/>
              </a:rPr>
              <a:t>Talent / RPO</a:t>
            </a:r>
            <a:endParaRPr lang="en-US" sz="1050" dirty="0"/>
          </a:p>
        </p:txBody>
      </p:sp>
      <p:sp>
        <p:nvSpPr>
          <p:cNvPr id="14" name="Shape 12"/>
          <p:cNvSpPr/>
          <p:nvPr/>
        </p:nvSpPr>
        <p:spPr>
          <a:xfrm>
            <a:off x="923544" y="4599432"/>
            <a:ext cx="109728" cy="109728"/>
          </a:xfrm>
          <a:prstGeom prst="ellipse">
            <a:avLst/>
          </a:prstGeom>
          <a:solidFill>
            <a:srgbClr val="6DDBCA"/>
          </a:solidFill>
          <a:ln w="12700">
            <a:solidFill>
              <a:srgbClr val="6DDBCA">
                <a:alpha val="0"/>
              </a:srgbClr>
            </a:solidFill>
            <a:prstDash val="solid"/>
          </a:ln>
        </p:spPr>
      </p:sp>
      <p:sp>
        <p:nvSpPr>
          <p:cNvPr id="15" name="Text 13"/>
          <p:cNvSpPr/>
          <p:nvPr/>
        </p:nvSpPr>
        <p:spPr>
          <a:xfrm>
            <a:off x="1161288" y="4572000"/>
            <a:ext cx="2514600" cy="182880"/>
          </a:xfrm>
          <a:prstGeom prst="rect">
            <a:avLst/>
          </a:prstGeom>
          <a:noFill/>
          <a:ln/>
        </p:spPr>
        <p:txBody>
          <a:bodyPr wrap="square" lIns="0" tIns="0" rIns="0" bIns="0" rtlCol="0" anchor="ctr">
            <a:normAutofit/>
          </a:bodyPr>
          <a:lstStyle/>
          <a:p>
            <a:pPr algn="l" indent="0" marL="0">
              <a:buNone/>
            </a:pPr>
            <a:r>
              <a:rPr lang="en-US" sz="1050" dirty="0">
                <a:solidFill>
                  <a:srgbClr val="EAF3F8"/>
                </a:solidFill>
                <a:latin typeface="Aptos" pitchFamily="34" charset="0"/>
                <a:ea typeface="Aptos" pitchFamily="34" charset="-122"/>
                <a:cs typeface="Aptos" pitchFamily="34" charset="-120"/>
              </a:rPr>
              <a:t>Payroll, tax &amp; compliance</a:t>
            </a:r>
            <a:endParaRPr lang="en-US" sz="1050" dirty="0"/>
          </a:p>
        </p:txBody>
      </p:sp>
      <p:sp>
        <p:nvSpPr>
          <p:cNvPr id="16" name="Shape 14"/>
          <p:cNvSpPr/>
          <p:nvPr/>
        </p:nvSpPr>
        <p:spPr>
          <a:xfrm>
            <a:off x="923544" y="4919472"/>
            <a:ext cx="109728" cy="109728"/>
          </a:xfrm>
          <a:prstGeom prst="ellipse">
            <a:avLst/>
          </a:prstGeom>
          <a:solidFill>
            <a:srgbClr val="6DDBCA"/>
          </a:solidFill>
          <a:ln w="12700">
            <a:solidFill>
              <a:srgbClr val="6DDBCA">
                <a:alpha val="0"/>
              </a:srgbClr>
            </a:solidFill>
            <a:prstDash val="solid"/>
          </a:ln>
        </p:spPr>
      </p:sp>
      <p:sp>
        <p:nvSpPr>
          <p:cNvPr id="17" name="Text 15"/>
          <p:cNvSpPr/>
          <p:nvPr/>
        </p:nvSpPr>
        <p:spPr>
          <a:xfrm>
            <a:off x="1161288" y="4892040"/>
            <a:ext cx="2514600" cy="182880"/>
          </a:xfrm>
          <a:prstGeom prst="rect">
            <a:avLst/>
          </a:prstGeom>
          <a:noFill/>
          <a:ln/>
        </p:spPr>
        <p:txBody>
          <a:bodyPr wrap="square" lIns="0" tIns="0" rIns="0" bIns="0" rtlCol="0" anchor="ctr">
            <a:normAutofit/>
          </a:bodyPr>
          <a:lstStyle/>
          <a:p>
            <a:pPr algn="l" indent="0" marL="0">
              <a:buNone/>
            </a:pPr>
            <a:r>
              <a:rPr lang="en-US" sz="1050" dirty="0">
                <a:solidFill>
                  <a:srgbClr val="EAF3F8"/>
                </a:solidFill>
                <a:latin typeface="Aptos" pitchFamily="34" charset="0"/>
                <a:ea typeface="Aptos" pitchFamily="34" charset="-122"/>
                <a:cs typeface="Aptos" pitchFamily="34" charset="-120"/>
              </a:rPr>
              <a:t>GCC setup / BOT operators</a:t>
            </a:r>
            <a:endParaRPr lang="en-US" sz="1050" dirty="0"/>
          </a:p>
        </p:txBody>
      </p:sp>
      <p:sp>
        <p:nvSpPr>
          <p:cNvPr id="18" name="Text 16"/>
          <p:cNvSpPr/>
          <p:nvPr/>
        </p:nvSpPr>
        <p:spPr>
          <a:xfrm>
            <a:off x="905256" y="5358384"/>
            <a:ext cx="3182112" cy="320040"/>
          </a:xfrm>
          <a:prstGeom prst="rect">
            <a:avLst/>
          </a:prstGeom>
          <a:noFill/>
          <a:ln/>
        </p:spPr>
        <p:txBody>
          <a:bodyPr wrap="square" lIns="0" tIns="0" rIns="0" bIns="0" rtlCol="0" anchor="ctr">
            <a:normAutofit/>
          </a:bodyPr>
          <a:lstStyle/>
          <a:p>
            <a:pPr algn="l" indent="0" marL="0">
              <a:buNone/>
            </a:pPr>
            <a:r>
              <a:rPr lang="en-US" sz="1100" b="1" dirty="0">
                <a:solidFill>
                  <a:srgbClr val="6DDBCA"/>
                </a:solidFill>
                <a:latin typeface="Aptos" pitchFamily="34" charset="0"/>
                <a:ea typeface="Aptos" pitchFamily="34" charset="-122"/>
                <a:cs typeface="Aptos" pitchFamily="34" charset="-120"/>
              </a:rPr>
              <a:t>Wants: “Which account moved, why now, and what should I do next?”</a:t>
            </a:r>
            <a:endParaRPr lang="en-US" sz="1100" dirty="0"/>
          </a:p>
        </p:txBody>
      </p:sp>
      <p:sp>
        <p:nvSpPr>
          <p:cNvPr id="19" name="Text 17"/>
          <p:cNvSpPr/>
          <p:nvPr/>
        </p:nvSpPr>
        <p:spPr>
          <a:xfrm>
            <a:off x="4882896" y="1773936"/>
            <a:ext cx="2926080" cy="173736"/>
          </a:xfrm>
          <a:prstGeom prst="rect">
            <a:avLst/>
          </a:prstGeom>
          <a:noFill/>
          <a:ln/>
        </p:spPr>
        <p:txBody>
          <a:bodyPr wrap="square" lIns="0" tIns="0" rIns="0" bIns="0" rtlCol="0" anchor="ctr">
            <a:normAutofit/>
          </a:bodyPr>
          <a:lstStyle/>
          <a:p>
            <a:pPr algn="l" indent="0" marL="0">
              <a:buNone/>
            </a:pPr>
            <a:r>
              <a:rPr lang="en-US" sz="850" b="1" spc="130" kern="0" dirty="0">
                <a:solidFill>
                  <a:srgbClr val="00A994"/>
                </a:solidFill>
                <a:latin typeface="Aptos" pitchFamily="34" charset="0"/>
                <a:ea typeface="Aptos" pitchFamily="34" charset="-122"/>
                <a:cs typeface="Aptos" pitchFamily="34" charset="-120"/>
              </a:rPr>
              <a:t>JOB TO BE DONE</a:t>
            </a:r>
            <a:endParaRPr lang="en-US" sz="850" dirty="0"/>
          </a:p>
        </p:txBody>
      </p:sp>
      <p:sp>
        <p:nvSpPr>
          <p:cNvPr id="20" name="Text 18"/>
          <p:cNvSpPr/>
          <p:nvPr/>
        </p:nvSpPr>
        <p:spPr>
          <a:xfrm>
            <a:off x="4882896" y="2066544"/>
            <a:ext cx="6217920" cy="576072"/>
          </a:xfrm>
          <a:prstGeom prst="rect">
            <a:avLst/>
          </a:prstGeom>
          <a:noFill/>
          <a:ln/>
        </p:spPr>
        <p:txBody>
          <a:bodyPr wrap="square" lIns="0" tIns="0" rIns="0" bIns="0" rtlCol="0" anchor="ctr">
            <a:normAutofit/>
          </a:bodyPr>
          <a:lstStyle/>
          <a:p>
            <a:pPr algn="l" indent="0" marL="0">
              <a:buNone/>
            </a:pPr>
            <a:r>
              <a:rPr lang="en-US" sz="1200" b="1" dirty="0">
                <a:solidFill>
                  <a:srgbClr val="17283F"/>
                </a:solidFill>
                <a:latin typeface="Aptos" pitchFamily="34" charset="0"/>
                <a:ea typeface="Aptos" pitchFamily="34" charset="-122"/>
                <a:cs typeface="Aptos" pitchFamily="34" charset="-120"/>
              </a:rPr>
              <a:t>Prioritise new / expanding GCCs; validate the trigger; prepare a relevant first conversation.</a:t>
            </a:r>
            <a:endParaRPr lang="en-US" sz="1200" dirty="0"/>
          </a:p>
        </p:txBody>
      </p:sp>
      <p:sp>
        <p:nvSpPr>
          <p:cNvPr id="21" name="Shape 19"/>
          <p:cNvSpPr/>
          <p:nvPr/>
        </p:nvSpPr>
        <p:spPr>
          <a:xfrm>
            <a:off x="4873752" y="2779776"/>
            <a:ext cx="6483096" cy="0"/>
          </a:xfrm>
          <a:prstGeom prst="line">
            <a:avLst/>
          </a:prstGeom>
          <a:noFill/>
          <a:ln w="8890">
            <a:solidFill>
              <a:srgbClr val="DEE6EC"/>
            </a:solidFill>
            <a:prstDash val="solid"/>
            <a:headEnd type="none"/>
            <a:tailEnd type="none"/>
          </a:ln>
        </p:spPr>
      </p:sp>
      <p:sp>
        <p:nvSpPr>
          <p:cNvPr id="22" name="Text 20"/>
          <p:cNvSpPr/>
          <p:nvPr/>
        </p:nvSpPr>
        <p:spPr>
          <a:xfrm>
            <a:off x="4882896" y="3035808"/>
            <a:ext cx="2926080" cy="173736"/>
          </a:xfrm>
          <a:prstGeom prst="rect">
            <a:avLst/>
          </a:prstGeom>
          <a:noFill/>
          <a:ln/>
        </p:spPr>
        <p:txBody>
          <a:bodyPr wrap="square" lIns="0" tIns="0" rIns="0" bIns="0" rtlCol="0" anchor="ctr">
            <a:normAutofit/>
          </a:bodyPr>
          <a:lstStyle/>
          <a:p>
            <a:pPr algn="l" indent="0" marL="0">
              <a:buNone/>
            </a:pPr>
            <a:r>
              <a:rPr lang="en-US" sz="850" b="1" spc="130" kern="0" dirty="0">
                <a:solidFill>
                  <a:srgbClr val="00A994"/>
                </a:solidFill>
                <a:latin typeface="Aptos" pitchFamily="34" charset="0"/>
                <a:ea typeface="Aptos" pitchFamily="34" charset="-122"/>
                <a:cs typeface="Aptos" pitchFamily="34" charset="-120"/>
              </a:rPr>
              <a:t>WHY THIS BUYER FIRST</a:t>
            </a:r>
            <a:endParaRPr lang="en-US" sz="850" dirty="0"/>
          </a:p>
        </p:txBody>
      </p:sp>
      <p:sp>
        <p:nvSpPr>
          <p:cNvPr id="23" name="Text 21"/>
          <p:cNvSpPr/>
          <p:nvPr/>
        </p:nvSpPr>
        <p:spPr>
          <a:xfrm>
            <a:off x="4882896" y="3328416"/>
            <a:ext cx="6217920" cy="576072"/>
          </a:xfrm>
          <a:prstGeom prst="rect">
            <a:avLst/>
          </a:prstGeom>
          <a:noFill/>
          <a:ln/>
        </p:spPr>
        <p:txBody>
          <a:bodyPr wrap="square" lIns="0" tIns="0" rIns="0" bIns="0" rtlCol="0" anchor="ctr">
            <a:normAutofit/>
          </a:bodyPr>
          <a:lstStyle/>
          <a:p>
            <a:pPr algn="l" indent="0" marL="0">
              <a:buNone/>
            </a:pPr>
            <a:r>
              <a:rPr lang="en-US" sz="1200" dirty="0">
                <a:solidFill>
                  <a:srgbClr val="17283F"/>
                </a:solidFill>
                <a:latin typeface="Aptos" pitchFamily="34" charset="0"/>
                <a:ea typeface="Aptos" pitchFamily="34" charset="-122"/>
                <a:cs typeface="Aptos" pitchFamily="34" charset="-120"/>
              </a:rPr>
              <a:t>Weekly account work; clear time-to-insight benefit; can measure qualified meetings and pipeline.</a:t>
            </a:r>
            <a:endParaRPr lang="en-US" sz="1200" dirty="0"/>
          </a:p>
        </p:txBody>
      </p:sp>
      <p:sp>
        <p:nvSpPr>
          <p:cNvPr id="24" name="Shape 22"/>
          <p:cNvSpPr/>
          <p:nvPr/>
        </p:nvSpPr>
        <p:spPr>
          <a:xfrm>
            <a:off x="4873752" y="4041648"/>
            <a:ext cx="6483096" cy="0"/>
          </a:xfrm>
          <a:prstGeom prst="line">
            <a:avLst/>
          </a:prstGeom>
          <a:noFill/>
          <a:ln w="8890">
            <a:solidFill>
              <a:srgbClr val="DEE6EC"/>
            </a:solidFill>
            <a:prstDash val="solid"/>
            <a:headEnd type="none"/>
            <a:tailEnd type="none"/>
          </a:ln>
        </p:spPr>
      </p:sp>
      <p:sp>
        <p:nvSpPr>
          <p:cNvPr id="25" name="Text 23"/>
          <p:cNvSpPr/>
          <p:nvPr/>
        </p:nvSpPr>
        <p:spPr>
          <a:xfrm>
            <a:off x="4882896" y="4297680"/>
            <a:ext cx="2926080" cy="173736"/>
          </a:xfrm>
          <a:prstGeom prst="rect">
            <a:avLst/>
          </a:prstGeom>
          <a:noFill/>
          <a:ln/>
        </p:spPr>
        <p:txBody>
          <a:bodyPr wrap="square" lIns="0" tIns="0" rIns="0" bIns="0" rtlCol="0" anchor="ctr">
            <a:normAutofit/>
          </a:bodyPr>
          <a:lstStyle/>
          <a:p>
            <a:pPr algn="l" indent="0" marL="0">
              <a:buNone/>
            </a:pPr>
            <a:r>
              <a:rPr lang="en-US" sz="850" b="1" spc="130" kern="0" dirty="0">
                <a:solidFill>
                  <a:srgbClr val="00A994"/>
                </a:solidFill>
                <a:latin typeface="Aptos" pitchFamily="34" charset="0"/>
                <a:ea typeface="Aptos" pitchFamily="34" charset="-122"/>
                <a:cs typeface="Aptos" pitchFamily="34" charset="-120"/>
              </a:rPr>
              <a:t>DESIGN PARTNERS</a:t>
            </a:r>
            <a:endParaRPr lang="en-US" sz="850" dirty="0"/>
          </a:p>
        </p:txBody>
      </p:sp>
      <p:sp>
        <p:nvSpPr>
          <p:cNvPr id="26" name="Text 24"/>
          <p:cNvSpPr/>
          <p:nvPr/>
        </p:nvSpPr>
        <p:spPr>
          <a:xfrm>
            <a:off x="4882896" y="4590288"/>
            <a:ext cx="6217920" cy="576072"/>
          </a:xfrm>
          <a:prstGeom prst="rect">
            <a:avLst/>
          </a:prstGeom>
          <a:noFill/>
          <a:ln/>
        </p:spPr>
        <p:txBody>
          <a:bodyPr wrap="square" lIns="0" tIns="0" rIns="0" bIns="0" rtlCol="0" anchor="ctr">
            <a:normAutofit/>
          </a:bodyPr>
          <a:lstStyle/>
          <a:p>
            <a:pPr algn="l" indent="0" marL="0">
              <a:buNone/>
            </a:pPr>
            <a:r>
              <a:rPr lang="en-US" sz="1200" dirty="0">
                <a:solidFill>
                  <a:srgbClr val="17283F"/>
                </a:solidFill>
                <a:latin typeface="Aptos" pitchFamily="34" charset="0"/>
                <a:ea typeface="Aptos" pitchFamily="34" charset="-122"/>
                <a:cs typeface="Aptos" pitchFamily="34" charset="-120"/>
              </a:rPr>
              <a:t>Market-entry advisers and 2–3 GCC operators test city/policy diligence without defining the initial SKU.</a:t>
            </a:r>
            <a:endParaRPr lang="en-US" sz="1200" dirty="0"/>
          </a:p>
        </p:txBody>
      </p:sp>
      <p:sp>
        <p:nvSpPr>
          <p:cNvPr id="27" name="Text 25"/>
          <p:cNvSpPr/>
          <p:nvPr/>
        </p:nvSpPr>
        <p:spPr>
          <a:xfrm>
            <a:off x="4892040" y="5596128"/>
            <a:ext cx="6263640" cy="429768"/>
          </a:xfrm>
          <a:prstGeom prst="rect">
            <a:avLst/>
          </a:prstGeom>
          <a:noFill/>
          <a:ln/>
        </p:spPr>
        <p:txBody>
          <a:bodyPr wrap="square" lIns="0" tIns="0" rIns="0" bIns="0" rtlCol="0" anchor="ctr">
            <a:normAutofit/>
          </a:bodyPr>
          <a:lstStyle/>
          <a:p>
            <a:pPr algn="l" indent="0" marL="0">
              <a:buNone/>
            </a:pPr>
            <a:r>
              <a:rPr lang="en-US" sz="870" i="1" dirty="0">
                <a:solidFill>
                  <a:srgbClr val="718196"/>
                </a:solidFill>
                <a:latin typeface="Aptos" pitchFamily="34" charset="0"/>
                <a:ea typeface="Aptos" pitchFamily="34" charset="-122"/>
                <a:cs typeface="Aptos" pitchFamily="34" charset="-120"/>
              </a:rPr>
              <a:t>Illustrative exposure model to validate: 3 researchers × 4 hours/week × ₹1,500 loaded cost/hour × 48 weeks = ₹8.64L/year in research labour. Excludes missed-timing and poor-fit costs.</a:t>
            </a:r>
            <a:endParaRPr lang="en-US" sz="87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07 · THE SOLUTION</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One evidence-backed workspace—from a public signal to a decision.</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Three connected layers: an event feed for what changed, a profile for what is true, and a workbench for what to do.</a:t>
            </a:r>
            <a:endParaRPr lang="en-US" sz="1120" dirty="0"/>
          </a:p>
        </p:txBody>
      </p:sp>
      <p:sp>
        <p:nvSpPr>
          <p:cNvPr id="5" name="Shape 3"/>
          <p:cNvSpPr/>
          <p:nvPr/>
        </p:nvSpPr>
        <p:spPr>
          <a:xfrm>
            <a:off x="621792" y="1645920"/>
            <a:ext cx="7498080" cy="4315968"/>
          </a:xfrm>
          <a:prstGeom prst="roundRect">
            <a:avLst>
              <a:gd name="adj" fmla="val 2119"/>
            </a:avLst>
          </a:prstGeom>
          <a:solidFill>
            <a:srgbClr val="FFFFFF"/>
          </a:solidFill>
          <a:ln w="8890">
            <a:solidFill>
              <a:srgbClr val="D6E0E7"/>
            </a:solidFill>
            <a:prstDash val="solid"/>
          </a:ln>
        </p:spPr>
      </p:sp>
      <p:sp>
        <p:nvSpPr>
          <p:cNvPr id="6" name="Shape 4"/>
          <p:cNvSpPr/>
          <p:nvPr/>
        </p:nvSpPr>
        <p:spPr>
          <a:xfrm>
            <a:off x="621792" y="1645920"/>
            <a:ext cx="7498080" cy="356616"/>
          </a:xfrm>
          <a:prstGeom prst="roundRect">
            <a:avLst>
              <a:gd name="adj" fmla="val 25641"/>
            </a:avLst>
          </a:prstGeom>
          <a:solidFill>
            <a:srgbClr val="101D31"/>
          </a:solidFill>
          <a:ln w="10160">
            <a:solidFill>
              <a:srgbClr val="101D31">
                <a:alpha val="0"/>
              </a:srgbClr>
            </a:solidFill>
            <a:prstDash val="solid"/>
          </a:ln>
        </p:spPr>
      </p:sp>
      <p:sp>
        <p:nvSpPr>
          <p:cNvPr id="7" name="Shape 5"/>
          <p:cNvSpPr/>
          <p:nvPr/>
        </p:nvSpPr>
        <p:spPr>
          <a:xfrm>
            <a:off x="795528" y="1773936"/>
            <a:ext cx="73152" cy="73152"/>
          </a:xfrm>
          <a:prstGeom prst="ellipse">
            <a:avLst/>
          </a:prstGeom>
          <a:solidFill>
            <a:srgbClr val="EF795E"/>
          </a:solidFill>
          <a:ln w="12700">
            <a:solidFill>
              <a:srgbClr val="EF795E">
                <a:alpha val="0"/>
              </a:srgbClr>
            </a:solidFill>
            <a:prstDash val="solid"/>
          </a:ln>
        </p:spPr>
      </p:sp>
      <p:sp>
        <p:nvSpPr>
          <p:cNvPr id="8" name="Shape 6"/>
          <p:cNvSpPr/>
          <p:nvPr/>
        </p:nvSpPr>
        <p:spPr>
          <a:xfrm>
            <a:off x="950976" y="1773936"/>
            <a:ext cx="73152" cy="73152"/>
          </a:xfrm>
          <a:prstGeom prst="ellipse">
            <a:avLst/>
          </a:prstGeom>
          <a:solidFill>
            <a:srgbClr val="E9B75E"/>
          </a:solidFill>
          <a:ln w="12700">
            <a:solidFill>
              <a:srgbClr val="E9B75E">
                <a:alpha val="0"/>
              </a:srgbClr>
            </a:solidFill>
            <a:prstDash val="solid"/>
          </a:ln>
        </p:spPr>
      </p:sp>
      <p:sp>
        <p:nvSpPr>
          <p:cNvPr id="9" name="Shape 7"/>
          <p:cNvSpPr/>
          <p:nvPr/>
        </p:nvSpPr>
        <p:spPr>
          <a:xfrm>
            <a:off x="1106424" y="1773936"/>
            <a:ext cx="73152" cy="73152"/>
          </a:xfrm>
          <a:prstGeom prst="ellipse">
            <a:avLst/>
          </a:prstGeom>
          <a:solidFill>
            <a:srgbClr val="6DDBCA"/>
          </a:solidFill>
          <a:ln w="12700">
            <a:solidFill>
              <a:srgbClr val="6DDBCA">
                <a:alpha val="0"/>
              </a:srgbClr>
            </a:solidFill>
            <a:prstDash val="solid"/>
          </a:ln>
        </p:spPr>
      </p:sp>
      <p:sp>
        <p:nvSpPr>
          <p:cNvPr id="10" name="Text 8"/>
          <p:cNvSpPr/>
          <p:nvPr/>
        </p:nvSpPr>
        <p:spPr>
          <a:xfrm>
            <a:off x="1389888" y="1728216"/>
            <a:ext cx="2103120" cy="164592"/>
          </a:xfrm>
          <a:prstGeom prst="rect">
            <a:avLst/>
          </a:prstGeom>
          <a:noFill/>
          <a:ln/>
        </p:spPr>
        <p:txBody>
          <a:bodyPr wrap="square" lIns="0" tIns="0" rIns="0" bIns="0" rtlCol="0" anchor="ctr">
            <a:normAutofit/>
          </a:bodyPr>
          <a:lstStyle/>
          <a:p>
            <a:pPr algn="l" indent="0" marL="0">
              <a:buNone/>
            </a:pPr>
            <a:r>
              <a:rPr lang="en-US" sz="800" dirty="0">
                <a:solidFill>
                  <a:srgbClr val="D3E0E9"/>
                </a:solidFill>
                <a:latin typeface="Aptos" pitchFamily="34" charset="0"/>
                <a:ea typeface="Aptos" pitchFamily="34" charset="-122"/>
                <a:cs typeface="Aptos" pitchFamily="34" charset="-120"/>
              </a:rPr>
              <a:t>gccatlas.app / signals</a:t>
            </a:r>
            <a:endParaRPr lang="en-US" sz="800" dirty="0"/>
          </a:p>
        </p:txBody>
      </p:sp>
      <p:sp>
        <p:nvSpPr>
          <p:cNvPr id="11" name="Text 9"/>
          <p:cNvSpPr/>
          <p:nvPr/>
        </p:nvSpPr>
        <p:spPr>
          <a:xfrm>
            <a:off x="832104" y="2185416"/>
            <a:ext cx="109728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00A994"/>
                </a:solidFill>
                <a:latin typeface="Aptos" pitchFamily="34" charset="0"/>
                <a:ea typeface="Aptos" pitchFamily="34" charset="-122"/>
                <a:cs typeface="Aptos" pitchFamily="34" charset="-120"/>
              </a:rPr>
              <a:t>GCC ATLAS</a:t>
            </a:r>
            <a:endParaRPr lang="en-US" sz="800" dirty="0"/>
          </a:p>
        </p:txBody>
      </p:sp>
      <p:sp>
        <p:nvSpPr>
          <p:cNvPr id="12" name="Text 10"/>
          <p:cNvSpPr/>
          <p:nvPr/>
        </p:nvSpPr>
        <p:spPr>
          <a:xfrm>
            <a:off x="832104" y="2514600"/>
            <a:ext cx="2011680" cy="310896"/>
          </a:xfrm>
          <a:prstGeom prst="rect">
            <a:avLst/>
          </a:prstGeom>
          <a:noFill/>
          <a:ln/>
        </p:spPr>
        <p:txBody>
          <a:bodyPr wrap="square" lIns="0" tIns="0" rIns="0" bIns="0" rtlCol="0" anchor="ctr">
            <a:normAutofit/>
          </a:bodyPr>
          <a:lstStyle/>
          <a:p>
            <a:pPr algn="l" indent="0" marL="0">
              <a:buNone/>
            </a:pPr>
            <a:r>
              <a:rPr lang="en-US" sz="1800" b="1" dirty="0">
                <a:solidFill>
                  <a:srgbClr val="17283F"/>
                </a:solidFill>
                <a:latin typeface="Aptos Display" pitchFamily="34" charset="0"/>
                <a:ea typeface="Aptos Display" pitchFamily="34" charset="-122"/>
                <a:cs typeface="Aptos Display" pitchFamily="34" charset="-120"/>
              </a:rPr>
              <a:t>Signal monitor</a:t>
            </a:r>
            <a:endParaRPr lang="en-US" sz="1800" dirty="0"/>
          </a:p>
        </p:txBody>
      </p:sp>
      <p:sp>
        <p:nvSpPr>
          <p:cNvPr id="13" name="Text 11"/>
          <p:cNvSpPr/>
          <p:nvPr/>
        </p:nvSpPr>
        <p:spPr>
          <a:xfrm>
            <a:off x="841248" y="2852928"/>
            <a:ext cx="2926080" cy="164592"/>
          </a:xfrm>
          <a:prstGeom prst="rect">
            <a:avLst/>
          </a:prstGeom>
          <a:noFill/>
          <a:ln/>
        </p:spPr>
        <p:txBody>
          <a:bodyPr wrap="square" lIns="0" tIns="0" rIns="0" bIns="0" rtlCol="0" anchor="ctr">
            <a:normAutofit/>
          </a:bodyPr>
          <a:lstStyle/>
          <a:p>
            <a:pPr algn="l" indent="0" marL="0">
              <a:buNone/>
            </a:pPr>
            <a:r>
              <a:rPr lang="en-US" sz="880" dirty="0">
                <a:solidFill>
                  <a:srgbClr val="718196"/>
                </a:solidFill>
                <a:latin typeface="Aptos" pitchFamily="34" charset="0"/>
                <a:ea typeface="Aptos" pitchFamily="34" charset="-122"/>
                <a:cs typeface="Aptos" pitchFamily="34" charset="-120"/>
              </a:rPr>
              <a:t>4 recent signals in the sample view</a:t>
            </a:r>
            <a:endParaRPr lang="en-US" sz="880" dirty="0"/>
          </a:p>
        </p:txBody>
      </p:sp>
      <p:sp>
        <p:nvSpPr>
          <p:cNvPr id="14" name="Shape 12"/>
          <p:cNvSpPr/>
          <p:nvPr/>
        </p:nvSpPr>
        <p:spPr>
          <a:xfrm>
            <a:off x="832104" y="3666744"/>
            <a:ext cx="4992624" cy="0"/>
          </a:xfrm>
          <a:prstGeom prst="line">
            <a:avLst/>
          </a:prstGeom>
          <a:noFill/>
          <a:ln w="7620">
            <a:solidFill>
              <a:srgbClr val="E9EEF2"/>
            </a:solidFill>
            <a:prstDash val="solid"/>
            <a:headEnd type="none"/>
            <a:tailEnd type="none"/>
          </a:ln>
        </p:spPr>
      </p:sp>
      <p:sp>
        <p:nvSpPr>
          <p:cNvPr id="15" name="Text 13"/>
          <p:cNvSpPr/>
          <p:nvPr/>
        </p:nvSpPr>
        <p:spPr>
          <a:xfrm>
            <a:off x="868680" y="3227832"/>
            <a:ext cx="1828800" cy="164592"/>
          </a:xfrm>
          <a:prstGeom prst="rect">
            <a:avLst/>
          </a:prstGeom>
          <a:noFill/>
          <a:ln/>
        </p:spPr>
        <p:txBody>
          <a:bodyPr wrap="square" lIns="0" tIns="0" rIns="0" bIns="0" rtlCol="0" anchor="ctr">
            <a:normAutofit/>
          </a:bodyPr>
          <a:lstStyle/>
          <a:p>
            <a:pPr algn="l" indent="0" marL="0">
              <a:buNone/>
            </a:pPr>
            <a:r>
              <a:rPr lang="en-US" sz="910" b="1" dirty="0">
                <a:solidFill>
                  <a:srgbClr val="17283F"/>
                </a:solidFill>
                <a:latin typeface="Aptos" pitchFamily="34" charset="0"/>
                <a:ea typeface="Aptos" pitchFamily="34" charset="-122"/>
                <a:cs typeface="Aptos" pitchFamily="34" charset="-120"/>
              </a:rPr>
              <a:t>Protolabs</a:t>
            </a:r>
            <a:endParaRPr lang="en-US" sz="910" dirty="0"/>
          </a:p>
        </p:txBody>
      </p:sp>
      <p:sp>
        <p:nvSpPr>
          <p:cNvPr id="16" name="Text 14"/>
          <p:cNvSpPr/>
          <p:nvPr/>
        </p:nvSpPr>
        <p:spPr>
          <a:xfrm>
            <a:off x="2560320" y="3227832"/>
            <a:ext cx="1691640" cy="164592"/>
          </a:xfrm>
          <a:prstGeom prst="rect">
            <a:avLst/>
          </a:prstGeom>
          <a:noFill/>
          <a:ln/>
        </p:spPr>
        <p:txBody>
          <a:bodyPr wrap="square" lIns="0" tIns="0" rIns="0" bIns="0" rtlCol="0" anchor="ctr">
            <a:normAutofit/>
          </a:bodyPr>
          <a:lstStyle/>
          <a:p>
            <a:pPr algn="l" indent="0" marL="0">
              <a:buNone/>
            </a:pPr>
            <a:r>
              <a:rPr lang="en-US" sz="780" dirty="0">
                <a:solidFill>
                  <a:srgbClr val="42566D"/>
                </a:solidFill>
                <a:latin typeface="Aptos" pitchFamily="34" charset="0"/>
                <a:ea typeface="Aptos" pitchFamily="34" charset="-122"/>
                <a:cs typeface="Aptos" pitchFamily="34" charset="-120"/>
              </a:rPr>
              <a:t>New GCC · Hyderabad</a:t>
            </a:r>
            <a:endParaRPr lang="en-US" sz="780" dirty="0"/>
          </a:p>
        </p:txBody>
      </p:sp>
      <p:sp>
        <p:nvSpPr>
          <p:cNvPr id="17" name="Text 15"/>
          <p:cNvSpPr/>
          <p:nvPr/>
        </p:nvSpPr>
        <p:spPr>
          <a:xfrm>
            <a:off x="4251960" y="3227832"/>
            <a:ext cx="1371600" cy="246888"/>
          </a:xfrm>
          <a:prstGeom prst="rect">
            <a:avLst/>
          </a:prstGeom>
          <a:noFill/>
          <a:ln/>
        </p:spPr>
        <p:txBody>
          <a:bodyPr wrap="square" lIns="0" tIns="0" rIns="0" bIns="0" rtlCol="0" anchor="ctr">
            <a:normAutofit/>
          </a:bodyPr>
          <a:lstStyle/>
          <a:p>
            <a:pPr algn="l" indent="0" marL="0">
              <a:buNone/>
            </a:pPr>
            <a:r>
              <a:rPr lang="en-US" sz="740" dirty="0">
                <a:solidFill>
                  <a:srgbClr val="718196"/>
                </a:solidFill>
                <a:latin typeface="Aptos" pitchFamily="34" charset="0"/>
                <a:ea typeface="Aptos" pitchFamily="34" charset="-122"/>
                <a:cs typeface="Aptos" pitchFamily="34" charset="-120"/>
              </a:rPr>
              <a:t>200–300 employees planned</a:t>
            </a:r>
            <a:endParaRPr lang="en-US" sz="740" dirty="0"/>
          </a:p>
        </p:txBody>
      </p:sp>
      <p:sp>
        <p:nvSpPr>
          <p:cNvPr id="18" name="Shape 16"/>
          <p:cNvSpPr/>
          <p:nvPr/>
        </p:nvSpPr>
        <p:spPr>
          <a:xfrm>
            <a:off x="5788152" y="3218688"/>
            <a:ext cx="685800" cy="237744"/>
          </a:xfrm>
          <a:prstGeom prst="roundRect">
            <a:avLst>
              <a:gd name="adj" fmla="val 38462"/>
            </a:avLst>
          </a:prstGeom>
          <a:solidFill>
            <a:srgbClr val="E2F7F3"/>
          </a:solidFill>
          <a:ln w="10160">
            <a:solidFill>
              <a:srgbClr val="E2F7F3">
                <a:alpha val="0"/>
              </a:srgbClr>
            </a:solidFill>
            <a:prstDash val="solid"/>
          </a:ln>
        </p:spPr>
      </p:sp>
      <p:sp>
        <p:nvSpPr>
          <p:cNvPr id="19" name="Text 17"/>
          <p:cNvSpPr/>
          <p:nvPr/>
        </p:nvSpPr>
        <p:spPr>
          <a:xfrm>
            <a:off x="5852160" y="3236976"/>
            <a:ext cx="557784"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HIGH</a:t>
            </a:r>
            <a:endParaRPr lang="en-US" sz="780" dirty="0"/>
          </a:p>
        </p:txBody>
      </p:sp>
      <p:sp>
        <p:nvSpPr>
          <p:cNvPr id="20" name="Shape 18"/>
          <p:cNvSpPr/>
          <p:nvPr/>
        </p:nvSpPr>
        <p:spPr>
          <a:xfrm>
            <a:off x="832104" y="4160520"/>
            <a:ext cx="4992624" cy="0"/>
          </a:xfrm>
          <a:prstGeom prst="line">
            <a:avLst/>
          </a:prstGeom>
          <a:noFill/>
          <a:ln w="7620">
            <a:solidFill>
              <a:srgbClr val="E9EEF2"/>
            </a:solidFill>
            <a:prstDash val="solid"/>
            <a:headEnd type="none"/>
            <a:tailEnd type="none"/>
          </a:ln>
        </p:spPr>
      </p:sp>
      <p:sp>
        <p:nvSpPr>
          <p:cNvPr id="21" name="Text 19"/>
          <p:cNvSpPr/>
          <p:nvPr/>
        </p:nvSpPr>
        <p:spPr>
          <a:xfrm>
            <a:off x="868680" y="3721608"/>
            <a:ext cx="1828800" cy="164592"/>
          </a:xfrm>
          <a:prstGeom prst="rect">
            <a:avLst/>
          </a:prstGeom>
          <a:noFill/>
          <a:ln/>
        </p:spPr>
        <p:txBody>
          <a:bodyPr wrap="square" lIns="0" tIns="0" rIns="0" bIns="0" rtlCol="0" anchor="ctr">
            <a:normAutofit/>
          </a:bodyPr>
          <a:lstStyle/>
          <a:p>
            <a:pPr algn="l" indent="0" marL="0">
              <a:buNone/>
            </a:pPr>
            <a:r>
              <a:rPr lang="en-US" sz="910" b="1" dirty="0">
                <a:solidFill>
                  <a:srgbClr val="17283F"/>
                </a:solidFill>
                <a:latin typeface="Aptos" pitchFamily="34" charset="0"/>
                <a:ea typeface="Aptos" pitchFamily="34" charset="-122"/>
                <a:cs typeface="Aptos" pitchFamily="34" charset="-120"/>
              </a:rPr>
              <a:t>Opella Healthcare</a:t>
            </a:r>
            <a:endParaRPr lang="en-US" sz="910" dirty="0"/>
          </a:p>
        </p:txBody>
      </p:sp>
      <p:sp>
        <p:nvSpPr>
          <p:cNvPr id="22" name="Text 20"/>
          <p:cNvSpPr/>
          <p:nvPr/>
        </p:nvSpPr>
        <p:spPr>
          <a:xfrm>
            <a:off x="2560320" y="3721608"/>
            <a:ext cx="1691640" cy="164592"/>
          </a:xfrm>
          <a:prstGeom prst="rect">
            <a:avLst/>
          </a:prstGeom>
          <a:noFill/>
          <a:ln/>
        </p:spPr>
        <p:txBody>
          <a:bodyPr wrap="square" lIns="0" tIns="0" rIns="0" bIns="0" rtlCol="0" anchor="ctr">
            <a:normAutofit/>
          </a:bodyPr>
          <a:lstStyle/>
          <a:p>
            <a:pPr algn="l" indent="0" marL="0">
              <a:buNone/>
            </a:pPr>
            <a:r>
              <a:rPr lang="en-US" sz="780" dirty="0">
                <a:solidFill>
                  <a:srgbClr val="42566D"/>
                </a:solidFill>
                <a:latin typeface="Aptos" pitchFamily="34" charset="0"/>
                <a:ea typeface="Aptos" pitchFamily="34" charset="-122"/>
                <a:cs typeface="Aptos" pitchFamily="34" charset="-120"/>
              </a:rPr>
              <a:t>Expansion · Hyderabad</a:t>
            </a:r>
            <a:endParaRPr lang="en-US" sz="780" dirty="0"/>
          </a:p>
        </p:txBody>
      </p:sp>
      <p:sp>
        <p:nvSpPr>
          <p:cNvPr id="23" name="Text 21"/>
          <p:cNvSpPr/>
          <p:nvPr/>
        </p:nvSpPr>
        <p:spPr>
          <a:xfrm>
            <a:off x="4251960" y="3721608"/>
            <a:ext cx="1371600" cy="246888"/>
          </a:xfrm>
          <a:prstGeom prst="rect">
            <a:avLst/>
          </a:prstGeom>
          <a:noFill/>
          <a:ln/>
        </p:spPr>
        <p:txBody>
          <a:bodyPr wrap="square" lIns="0" tIns="0" rIns="0" bIns="0" rtlCol="0" anchor="ctr">
            <a:normAutofit/>
          </a:bodyPr>
          <a:lstStyle/>
          <a:p>
            <a:pPr algn="l" indent="0" marL="0">
              <a:buNone/>
            </a:pPr>
            <a:r>
              <a:rPr lang="en-US" sz="740" dirty="0">
                <a:solidFill>
                  <a:srgbClr val="718196"/>
                </a:solidFill>
                <a:latin typeface="Aptos" pitchFamily="34" charset="0"/>
                <a:ea typeface="Aptos" pitchFamily="34" charset="-122"/>
                <a:cs typeface="Aptos" pitchFamily="34" charset="-120"/>
              </a:rPr>
              <a:t>42,000 sq. ft. · ~500 roles planned</a:t>
            </a:r>
            <a:endParaRPr lang="en-US" sz="740" dirty="0"/>
          </a:p>
        </p:txBody>
      </p:sp>
      <p:sp>
        <p:nvSpPr>
          <p:cNvPr id="24" name="Shape 22"/>
          <p:cNvSpPr/>
          <p:nvPr/>
        </p:nvSpPr>
        <p:spPr>
          <a:xfrm>
            <a:off x="5788152" y="3712464"/>
            <a:ext cx="685800" cy="237744"/>
          </a:xfrm>
          <a:prstGeom prst="roundRect">
            <a:avLst>
              <a:gd name="adj" fmla="val 38462"/>
            </a:avLst>
          </a:prstGeom>
          <a:solidFill>
            <a:srgbClr val="FFF2D9"/>
          </a:solidFill>
          <a:ln w="10160">
            <a:solidFill>
              <a:srgbClr val="FFF2D9">
                <a:alpha val="0"/>
              </a:srgbClr>
            </a:solidFill>
            <a:prstDash val="solid"/>
          </a:ln>
        </p:spPr>
      </p:sp>
      <p:sp>
        <p:nvSpPr>
          <p:cNvPr id="25" name="Text 23"/>
          <p:cNvSpPr/>
          <p:nvPr/>
        </p:nvSpPr>
        <p:spPr>
          <a:xfrm>
            <a:off x="5852160" y="3730752"/>
            <a:ext cx="557784" cy="173736"/>
          </a:xfrm>
          <a:prstGeom prst="rect">
            <a:avLst/>
          </a:prstGeom>
          <a:noFill/>
          <a:ln/>
        </p:spPr>
        <p:txBody>
          <a:bodyPr wrap="square" lIns="0" tIns="0" rIns="0" bIns="0" rtlCol="0" anchor="ctr">
            <a:normAutofit/>
          </a:bodyPr>
          <a:lstStyle/>
          <a:p>
            <a:pPr algn="ctr" indent="0" marL="0">
              <a:buNone/>
            </a:pPr>
            <a:r>
              <a:rPr lang="en-US" sz="780" b="1" dirty="0">
                <a:solidFill>
                  <a:srgbClr val="B87912"/>
                </a:solidFill>
                <a:latin typeface="Aptos" pitchFamily="34" charset="0"/>
                <a:ea typeface="Aptos" pitchFamily="34" charset="-122"/>
                <a:cs typeface="Aptos" pitchFamily="34" charset="-120"/>
              </a:rPr>
              <a:t>MED-HIGH</a:t>
            </a:r>
            <a:endParaRPr lang="en-US" sz="780" dirty="0"/>
          </a:p>
        </p:txBody>
      </p:sp>
      <p:sp>
        <p:nvSpPr>
          <p:cNvPr id="26" name="Shape 24"/>
          <p:cNvSpPr/>
          <p:nvPr/>
        </p:nvSpPr>
        <p:spPr>
          <a:xfrm>
            <a:off x="832104" y="4654296"/>
            <a:ext cx="4992624" cy="0"/>
          </a:xfrm>
          <a:prstGeom prst="line">
            <a:avLst/>
          </a:prstGeom>
          <a:noFill/>
          <a:ln w="7620">
            <a:solidFill>
              <a:srgbClr val="E9EEF2"/>
            </a:solidFill>
            <a:prstDash val="solid"/>
            <a:headEnd type="none"/>
            <a:tailEnd type="none"/>
          </a:ln>
        </p:spPr>
      </p:sp>
      <p:sp>
        <p:nvSpPr>
          <p:cNvPr id="27" name="Text 25"/>
          <p:cNvSpPr/>
          <p:nvPr/>
        </p:nvSpPr>
        <p:spPr>
          <a:xfrm>
            <a:off x="868680" y="4215384"/>
            <a:ext cx="1828800" cy="164592"/>
          </a:xfrm>
          <a:prstGeom prst="rect">
            <a:avLst/>
          </a:prstGeom>
          <a:noFill/>
          <a:ln/>
        </p:spPr>
        <p:txBody>
          <a:bodyPr wrap="square" lIns="0" tIns="0" rIns="0" bIns="0" rtlCol="0" anchor="ctr">
            <a:normAutofit/>
          </a:bodyPr>
          <a:lstStyle/>
          <a:p>
            <a:pPr algn="l" indent="0" marL="0">
              <a:buNone/>
            </a:pPr>
            <a:r>
              <a:rPr lang="en-US" sz="910" b="1" dirty="0">
                <a:solidFill>
                  <a:srgbClr val="17283F"/>
                </a:solidFill>
                <a:latin typeface="Aptos" pitchFamily="34" charset="0"/>
                <a:ea typeface="Aptos" pitchFamily="34" charset="-122"/>
                <a:cs typeface="Aptos" pitchFamily="34" charset="-120"/>
              </a:rPr>
              <a:t>Tredence</a:t>
            </a:r>
            <a:endParaRPr lang="en-US" sz="910" dirty="0"/>
          </a:p>
        </p:txBody>
      </p:sp>
      <p:sp>
        <p:nvSpPr>
          <p:cNvPr id="28" name="Text 26"/>
          <p:cNvSpPr/>
          <p:nvPr/>
        </p:nvSpPr>
        <p:spPr>
          <a:xfrm>
            <a:off x="2560320" y="4215384"/>
            <a:ext cx="1691640" cy="164592"/>
          </a:xfrm>
          <a:prstGeom prst="rect">
            <a:avLst/>
          </a:prstGeom>
          <a:noFill/>
          <a:ln/>
        </p:spPr>
        <p:txBody>
          <a:bodyPr wrap="square" lIns="0" tIns="0" rIns="0" bIns="0" rtlCol="0" anchor="ctr">
            <a:normAutofit/>
          </a:bodyPr>
          <a:lstStyle/>
          <a:p>
            <a:pPr algn="l" indent="0" marL="0">
              <a:buNone/>
            </a:pPr>
            <a:r>
              <a:rPr lang="en-US" sz="780" dirty="0">
                <a:solidFill>
                  <a:srgbClr val="42566D"/>
                </a:solidFill>
                <a:latin typeface="Aptos" pitchFamily="34" charset="0"/>
                <a:ea typeface="Aptos" pitchFamily="34" charset="-122"/>
                <a:cs typeface="Aptos" pitchFamily="34" charset="-120"/>
              </a:rPr>
              <a:t>AI / life sciences · Hyderabad</a:t>
            </a:r>
            <a:endParaRPr lang="en-US" sz="780" dirty="0"/>
          </a:p>
        </p:txBody>
      </p:sp>
      <p:sp>
        <p:nvSpPr>
          <p:cNvPr id="29" name="Text 27"/>
          <p:cNvSpPr/>
          <p:nvPr/>
        </p:nvSpPr>
        <p:spPr>
          <a:xfrm>
            <a:off x="4251960" y="4215384"/>
            <a:ext cx="1371600" cy="246888"/>
          </a:xfrm>
          <a:prstGeom prst="rect">
            <a:avLst/>
          </a:prstGeom>
          <a:noFill/>
          <a:ln/>
        </p:spPr>
        <p:txBody>
          <a:bodyPr wrap="square" lIns="0" tIns="0" rIns="0" bIns="0" rtlCol="0" anchor="ctr">
            <a:normAutofit/>
          </a:bodyPr>
          <a:lstStyle/>
          <a:p>
            <a:pPr algn="l" indent="0" marL="0">
              <a:buNone/>
            </a:pPr>
            <a:r>
              <a:rPr lang="en-US" sz="740" dirty="0">
                <a:solidFill>
                  <a:srgbClr val="718196"/>
                </a:solidFill>
                <a:latin typeface="Aptos" pitchFamily="34" charset="0"/>
                <a:ea typeface="Aptos" pitchFamily="34" charset="-122"/>
                <a:cs typeface="Aptos" pitchFamily="34" charset="-120"/>
              </a:rPr>
              <a:t>Scale-up plan reported</a:t>
            </a:r>
            <a:endParaRPr lang="en-US" sz="740" dirty="0"/>
          </a:p>
        </p:txBody>
      </p:sp>
      <p:sp>
        <p:nvSpPr>
          <p:cNvPr id="30" name="Shape 28"/>
          <p:cNvSpPr/>
          <p:nvPr/>
        </p:nvSpPr>
        <p:spPr>
          <a:xfrm>
            <a:off x="5788152" y="4206240"/>
            <a:ext cx="685800" cy="237744"/>
          </a:xfrm>
          <a:prstGeom prst="roundRect">
            <a:avLst>
              <a:gd name="adj" fmla="val 38462"/>
            </a:avLst>
          </a:prstGeom>
          <a:solidFill>
            <a:srgbClr val="FFF2D9"/>
          </a:solidFill>
          <a:ln w="10160">
            <a:solidFill>
              <a:srgbClr val="FFF2D9">
                <a:alpha val="0"/>
              </a:srgbClr>
            </a:solidFill>
            <a:prstDash val="solid"/>
          </a:ln>
        </p:spPr>
      </p:sp>
      <p:sp>
        <p:nvSpPr>
          <p:cNvPr id="31" name="Text 29"/>
          <p:cNvSpPr/>
          <p:nvPr/>
        </p:nvSpPr>
        <p:spPr>
          <a:xfrm>
            <a:off x="5852160" y="4224528"/>
            <a:ext cx="557784" cy="173736"/>
          </a:xfrm>
          <a:prstGeom prst="rect">
            <a:avLst/>
          </a:prstGeom>
          <a:noFill/>
          <a:ln/>
        </p:spPr>
        <p:txBody>
          <a:bodyPr wrap="square" lIns="0" tIns="0" rIns="0" bIns="0" rtlCol="0" anchor="ctr">
            <a:normAutofit/>
          </a:bodyPr>
          <a:lstStyle/>
          <a:p>
            <a:pPr algn="ctr" indent="0" marL="0">
              <a:buNone/>
            </a:pPr>
            <a:r>
              <a:rPr lang="en-US" sz="780" b="1" dirty="0">
                <a:solidFill>
                  <a:srgbClr val="B87912"/>
                </a:solidFill>
                <a:latin typeface="Aptos" pitchFamily="34" charset="0"/>
                <a:ea typeface="Aptos" pitchFamily="34" charset="-122"/>
                <a:cs typeface="Aptos" pitchFamily="34" charset="-120"/>
              </a:rPr>
              <a:t>MED-HIGH</a:t>
            </a:r>
            <a:endParaRPr lang="en-US" sz="780" dirty="0"/>
          </a:p>
        </p:txBody>
      </p:sp>
      <p:sp>
        <p:nvSpPr>
          <p:cNvPr id="32" name="Shape 30"/>
          <p:cNvSpPr/>
          <p:nvPr/>
        </p:nvSpPr>
        <p:spPr>
          <a:xfrm>
            <a:off x="832104" y="5148072"/>
            <a:ext cx="4992624" cy="0"/>
          </a:xfrm>
          <a:prstGeom prst="line">
            <a:avLst/>
          </a:prstGeom>
          <a:noFill/>
          <a:ln w="7620">
            <a:solidFill>
              <a:srgbClr val="E9EEF2"/>
            </a:solidFill>
            <a:prstDash val="solid"/>
            <a:headEnd type="none"/>
            <a:tailEnd type="none"/>
          </a:ln>
        </p:spPr>
      </p:sp>
      <p:sp>
        <p:nvSpPr>
          <p:cNvPr id="33" name="Text 31"/>
          <p:cNvSpPr/>
          <p:nvPr/>
        </p:nvSpPr>
        <p:spPr>
          <a:xfrm>
            <a:off x="868680" y="4709160"/>
            <a:ext cx="1828800" cy="164592"/>
          </a:xfrm>
          <a:prstGeom prst="rect">
            <a:avLst/>
          </a:prstGeom>
          <a:noFill/>
          <a:ln/>
        </p:spPr>
        <p:txBody>
          <a:bodyPr wrap="square" lIns="0" tIns="0" rIns="0" bIns="0" rtlCol="0" anchor="ctr">
            <a:normAutofit/>
          </a:bodyPr>
          <a:lstStyle/>
          <a:p>
            <a:pPr algn="l" indent="0" marL="0">
              <a:buNone/>
            </a:pPr>
            <a:r>
              <a:rPr lang="en-US" sz="910" b="1" dirty="0">
                <a:solidFill>
                  <a:srgbClr val="17283F"/>
                </a:solidFill>
                <a:latin typeface="Aptos" pitchFamily="34" charset="0"/>
                <a:ea typeface="Aptos" pitchFamily="34" charset="-122"/>
                <a:cs typeface="Aptos" pitchFamily="34" charset="-120"/>
              </a:rPr>
              <a:t>Citizens Financial × Cognizant</a:t>
            </a:r>
            <a:endParaRPr lang="en-US" sz="910" dirty="0"/>
          </a:p>
        </p:txBody>
      </p:sp>
      <p:sp>
        <p:nvSpPr>
          <p:cNvPr id="34" name="Text 32"/>
          <p:cNvSpPr/>
          <p:nvPr/>
        </p:nvSpPr>
        <p:spPr>
          <a:xfrm>
            <a:off x="2560320" y="4709160"/>
            <a:ext cx="1691640" cy="164592"/>
          </a:xfrm>
          <a:prstGeom prst="rect">
            <a:avLst/>
          </a:prstGeom>
          <a:noFill/>
          <a:ln/>
        </p:spPr>
        <p:txBody>
          <a:bodyPr wrap="square" lIns="0" tIns="0" rIns="0" bIns="0" rtlCol="0" anchor="ctr">
            <a:normAutofit/>
          </a:bodyPr>
          <a:lstStyle/>
          <a:p>
            <a:pPr algn="l" indent="0" marL="0">
              <a:buNone/>
            </a:pPr>
            <a:r>
              <a:rPr lang="en-US" sz="780" dirty="0">
                <a:solidFill>
                  <a:srgbClr val="42566D"/>
                </a:solidFill>
                <a:latin typeface="Aptos" pitchFamily="34" charset="0"/>
                <a:ea typeface="Aptos" pitchFamily="34" charset="-122"/>
                <a:cs typeface="Aptos" pitchFamily="34" charset="-120"/>
              </a:rPr>
              <a:t>Centre launch · Hyderabad</a:t>
            </a:r>
            <a:endParaRPr lang="en-US" sz="780" dirty="0"/>
          </a:p>
        </p:txBody>
      </p:sp>
      <p:sp>
        <p:nvSpPr>
          <p:cNvPr id="35" name="Text 33"/>
          <p:cNvSpPr/>
          <p:nvPr/>
        </p:nvSpPr>
        <p:spPr>
          <a:xfrm>
            <a:off x="4251960" y="4709160"/>
            <a:ext cx="1371600" cy="246888"/>
          </a:xfrm>
          <a:prstGeom prst="rect">
            <a:avLst/>
          </a:prstGeom>
          <a:noFill/>
          <a:ln/>
        </p:spPr>
        <p:txBody>
          <a:bodyPr wrap="square" lIns="0" tIns="0" rIns="0" bIns="0" rtlCol="0" anchor="ctr">
            <a:normAutofit/>
          </a:bodyPr>
          <a:lstStyle/>
          <a:p>
            <a:pPr algn="l" indent="0" marL="0">
              <a:buNone/>
            </a:pPr>
            <a:r>
              <a:rPr lang="en-US" sz="740" dirty="0">
                <a:solidFill>
                  <a:srgbClr val="718196"/>
                </a:solidFill>
                <a:latin typeface="Aptos" pitchFamily="34" charset="0"/>
                <a:ea typeface="Aptos" pitchFamily="34" charset="-122"/>
                <a:cs typeface="Aptos" pitchFamily="34" charset="-120"/>
              </a:rPr>
              <a:t>BFSI technology mandate</a:t>
            </a:r>
            <a:endParaRPr lang="en-US" sz="740" dirty="0"/>
          </a:p>
        </p:txBody>
      </p:sp>
      <p:sp>
        <p:nvSpPr>
          <p:cNvPr id="36" name="Shape 34"/>
          <p:cNvSpPr/>
          <p:nvPr/>
        </p:nvSpPr>
        <p:spPr>
          <a:xfrm>
            <a:off x="5788152" y="4700016"/>
            <a:ext cx="685800" cy="237744"/>
          </a:xfrm>
          <a:prstGeom prst="roundRect">
            <a:avLst>
              <a:gd name="adj" fmla="val 38462"/>
            </a:avLst>
          </a:prstGeom>
          <a:solidFill>
            <a:srgbClr val="E2F7F3"/>
          </a:solidFill>
          <a:ln w="10160">
            <a:solidFill>
              <a:srgbClr val="E2F7F3">
                <a:alpha val="0"/>
              </a:srgbClr>
            </a:solidFill>
            <a:prstDash val="solid"/>
          </a:ln>
        </p:spPr>
      </p:sp>
      <p:sp>
        <p:nvSpPr>
          <p:cNvPr id="37" name="Text 35"/>
          <p:cNvSpPr/>
          <p:nvPr/>
        </p:nvSpPr>
        <p:spPr>
          <a:xfrm>
            <a:off x="5852160" y="4718304"/>
            <a:ext cx="557784"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HIGH</a:t>
            </a:r>
            <a:endParaRPr lang="en-US" sz="780" dirty="0"/>
          </a:p>
        </p:txBody>
      </p:sp>
      <p:sp>
        <p:nvSpPr>
          <p:cNvPr id="38" name="Shape 36"/>
          <p:cNvSpPr/>
          <p:nvPr/>
        </p:nvSpPr>
        <p:spPr>
          <a:xfrm>
            <a:off x="6601968" y="2157984"/>
            <a:ext cx="1261872" cy="3611880"/>
          </a:xfrm>
          <a:prstGeom prst="roundRect">
            <a:avLst>
              <a:gd name="adj" fmla="val 7246"/>
            </a:avLst>
          </a:prstGeom>
          <a:solidFill>
            <a:srgbClr val="F1F8F7"/>
          </a:solidFill>
          <a:ln w="10160">
            <a:solidFill>
              <a:srgbClr val="D4ECE6"/>
            </a:solidFill>
            <a:prstDash val="solid"/>
          </a:ln>
        </p:spPr>
      </p:sp>
      <p:sp>
        <p:nvSpPr>
          <p:cNvPr id="39" name="Text 37"/>
          <p:cNvSpPr/>
          <p:nvPr/>
        </p:nvSpPr>
        <p:spPr>
          <a:xfrm>
            <a:off x="6739128" y="2404872"/>
            <a:ext cx="914400" cy="164592"/>
          </a:xfrm>
          <a:prstGeom prst="rect">
            <a:avLst/>
          </a:prstGeom>
          <a:noFill/>
          <a:ln/>
        </p:spPr>
        <p:txBody>
          <a:bodyPr wrap="square" lIns="0" tIns="0" rIns="0" bIns="0" rtlCol="0" anchor="ctr">
            <a:normAutofit/>
          </a:bodyPr>
          <a:lstStyle/>
          <a:p>
            <a:pPr algn="l" indent="0" marL="0">
              <a:buNone/>
            </a:pPr>
            <a:r>
              <a:rPr lang="en-US" sz="750" b="1" spc="80" kern="0" dirty="0">
                <a:solidFill>
                  <a:srgbClr val="00A994"/>
                </a:solidFill>
                <a:latin typeface="Aptos" pitchFamily="34" charset="0"/>
                <a:ea typeface="Aptos" pitchFamily="34" charset="-122"/>
                <a:cs typeface="Aptos" pitchFamily="34" charset="-120"/>
              </a:rPr>
              <a:t>EVIDENCE</a:t>
            </a:r>
            <a:endParaRPr lang="en-US" sz="750" dirty="0"/>
          </a:p>
        </p:txBody>
      </p:sp>
      <p:sp>
        <p:nvSpPr>
          <p:cNvPr id="40" name="Text 38"/>
          <p:cNvSpPr/>
          <p:nvPr/>
        </p:nvSpPr>
        <p:spPr>
          <a:xfrm>
            <a:off x="6739128" y="2761488"/>
            <a:ext cx="868680" cy="274320"/>
          </a:xfrm>
          <a:prstGeom prst="rect">
            <a:avLst/>
          </a:prstGeom>
          <a:noFill/>
          <a:ln/>
        </p:spPr>
        <p:txBody>
          <a:bodyPr wrap="square" lIns="0" tIns="0" rIns="0" bIns="0" rtlCol="0" anchor="ctr">
            <a:normAutofit/>
          </a:bodyPr>
          <a:lstStyle/>
          <a:p>
            <a:pPr algn="l" indent="0" marL="0">
              <a:buNone/>
            </a:pPr>
            <a:r>
              <a:rPr lang="en-US" sz="2000" b="1" dirty="0">
                <a:solidFill>
                  <a:srgbClr val="17283F"/>
                </a:solidFill>
                <a:latin typeface="Aptos Display" pitchFamily="34" charset="0"/>
                <a:ea typeface="Aptos Display" pitchFamily="34" charset="-122"/>
                <a:cs typeface="Aptos Display" pitchFamily="34" charset="-120"/>
              </a:rPr>
              <a:t>92/100</a:t>
            </a:r>
            <a:endParaRPr lang="en-US" sz="2000" dirty="0"/>
          </a:p>
        </p:txBody>
      </p:sp>
      <p:sp>
        <p:nvSpPr>
          <p:cNvPr id="41" name="Text 39"/>
          <p:cNvSpPr/>
          <p:nvPr/>
        </p:nvSpPr>
        <p:spPr>
          <a:xfrm>
            <a:off x="6739128" y="3044952"/>
            <a:ext cx="868680" cy="146304"/>
          </a:xfrm>
          <a:prstGeom prst="rect">
            <a:avLst/>
          </a:prstGeom>
          <a:noFill/>
          <a:ln/>
        </p:spPr>
        <p:txBody>
          <a:bodyPr wrap="square" lIns="0" tIns="0" rIns="0" bIns="0" rtlCol="0" anchor="ctr">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Source strength</a:t>
            </a:r>
            <a:endParaRPr lang="en-US" sz="770" dirty="0"/>
          </a:p>
        </p:txBody>
      </p:sp>
      <p:sp>
        <p:nvSpPr>
          <p:cNvPr id="42" name="Shape 40"/>
          <p:cNvSpPr/>
          <p:nvPr/>
        </p:nvSpPr>
        <p:spPr>
          <a:xfrm>
            <a:off x="6739128" y="3310128"/>
            <a:ext cx="969264" cy="0"/>
          </a:xfrm>
          <a:prstGeom prst="line">
            <a:avLst/>
          </a:prstGeom>
          <a:noFill/>
          <a:ln w="8890">
            <a:solidFill>
              <a:srgbClr val="D4E8E3"/>
            </a:solidFill>
            <a:prstDash val="solid"/>
            <a:headEnd type="none"/>
            <a:tailEnd type="none"/>
          </a:ln>
        </p:spPr>
      </p:sp>
      <p:sp>
        <p:nvSpPr>
          <p:cNvPr id="43" name="Text 41"/>
          <p:cNvSpPr/>
          <p:nvPr/>
        </p:nvSpPr>
        <p:spPr>
          <a:xfrm>
            <a:off x="6739128" y="3465576"/>
            <a:ext cx="768096" cy="146304"/>
          </a:xfrm>
          <a:prstGeom prst="rect">
            <a:avLst/>
          </a:prstGeom>
          <a:noFill/>
          <a:ln/>
        </p:spPr>
        <p:txBody>
          <a:bodyPr wrap="square" lIns="0" tIns="0" rIns="0" bIns="0" rtlCol="0" anchor="ctr">
            <a:normAutofit/>
          </a:bodyPr>
          <a:lstStyle/>
          <a:p>
            <a:pPr algn="l" indent="0" marL="0">
              <a:buNone/>
            </a:pPr>
            <a:r>
              <a:rPr lang="en-US" sz="710" b="1" dirty="0">
                <a:solidFill>
                  <a:srgbClr val="718196"/>
                </a:solidFill>
                <a:latin typeface="Aptos" pitchFamily="34" charset="0"/>
                <a:ea typeface="Aptos" pitchFamily="34" charset="-122"/>
                <a:cs typeface="Aptos" pitchFamily="34" charset="-120"/>
              </a:rPr>
              <a:t>STATUS</a:t>
            </a:r>
            <a:endParaRPr lang="en-US" sz="710" dirty="0"/>
          </a:p>
        </p:txBody>
      </p:sp>
      <p:sp>
        <p:nvSpPr>
          <p:cNvPr id="44" name="Text 42"/>
          <p:cNvSpPr/>
          <p:nvPr/>
        </p:nvSpPr>
        <p:spPr>
          <a:xfrm>
            <a:off x="6739128" y="3675888"/>
            <a:ext cx="868680" cy="173736"/>
          </a:xfrm>
          <a:prstGeom prst="rect">
            <a:avLst/>
          </a:prstGeom>
          <a:noFill/>
          <a:ln/>
        </p:spPr>
        <p:txBody>
          <a:bodyPr wrap="square" lIns="0" tIns="0" rIns="0" bIns="0" rtlCol="0" anchor="ctr">
            <a:normAutofit/>
          </a:bodyPr>
          <a:lstStyle/>
          <a:p>
            <a:pPr algn="l" indent="0" marL="0">
              <a:buNone/>
            </a:pPr>
            <a:r>
              <a:rPr lang="en-US" sz="900" b="1" dirty="0">
                <a:solidFill>
                  <a:srgbClr val="17283F"/>
                </a:solidFill>
                <a:latin typeface="Aptos" pitchFamily="34" charset="0"/>
                <a:ea typeface="Aptos" pitchFamily="34" charset="-122"/>
                <a:cs typeface="Aptos" pitchFamily="34" charset="-120"/>
              </a:rPr>
              <a:t>Planned</a:t>
            </a:r>
            <a:endParaRPr lang="en-US" sz="900" dirty="0"/>
          </a:p>
        </p:txBody>
      </p:sp>
      <p:sp>
        <p:nvSpPr>
          <p:cNvPr id="45" name="Text 43"/>
          <p:cNvSpPr/>
          <p:nvPr/>
        </p:nvSpPr>
        <p:spPr>
          <a:xfrm>
            <a:off x="6739128" y="4032504"/>
            <a:ext cx="768096" cy="146304"/>
          </a:xfrm>
          <a:prstGeom prst="rect">
            <a:avLst/>
          </a:prstGeom>
          <a:noFill/>
          <a:ln/>
        </p:spPr>
        <p:txBody>
          <a:bodyPr wrap="square" lIns="0" tIns="0" rIns="0" bIns="0" rtlCol="0" anchor="ctr">
            <a:normAutofit/>
          </a:bodyPr>
          <a:lstStyle/>
          <a:p>
            <a:pPr algn="l" indent="0" marL="0">
              <a:buNone/>
            </a:pPr>
            <a:r>
              <a:rPr lang="en-US" sz="710" b="1" dirty="0">
                <a:solidFill>
                  <a:srgbClr val="718196"/>
                </a:solidFill>
                <a:latin typeface="Aptos" pitchFamily="34" charset="0"/>
                <a:ea typeface="Aptos" pitchFamily="34" charset="-122"/>
                <a:cs typeface="Aptos" pitchFamily="34" charset="-120"/>
              </a:rPr>
              <a:t>CAVEAT</a:t>
            </a:r>
            <a:endParaRPr lang="en-US" sz="710" dirty="0"/>
          </a:p>
        </p:txBody>
      </p:sp>
      <p:sp>
        <p:nvSpPr>
          <p:cNvPr id="46" name="Text 44"/>
          <p:cNvSpPr/>
          <p:nvPr/>
        </p:nvSpPr>
        <p:spPr>
          <a:xfrm>
            <a:off x="6739128" y="4251960"/>
            <a:ext cx="923544" cy="393192"/>
          </a:xfrm>
          <a:prstGeom prst="rect">
            <a:avLst/>
          </a:prstGeom>
          <a:noFill/>
          <a:ln/>
        </p:spPr>
        <p:txBody>
          <a:bodyPr wrap="square" lIns="0" tIns="0" rIns="0" bIns="0" rtlCol="0" anchor="ctr">
            <a:normAutofit/>
          </a:bodyPr>
          <a:lstStyle/>
          <a:p>
            <a:pPr algn="l" indent="0" marL="0">
              <a:buNone/>
            </a:pPr>
            <a:r>
              <a:rPr lang="en-US" sz="810" dirty="0">
                <a:solidFill>
                  <a:srgbClr val="42566D"/>
                </a:solidFill>
                <a:latin typeface="Aptos" pitchFamily="34" charset="0"/>
                <a:ea typeface="Aptos" pitchFamily="34" charset="-122"/>
                <a:cs typeface="Aptos" pitchFamily="34" charset="-120"/>
              </a:rPr>
              <a:t>Headcount</a:t>
            </a:r>
            <a:endParaRPr lang="en-US" sz="810" dirty="0"/>
          </a:p>
          <a:p>
            <a:pPr algn="l" indent="0" marL="0">
              <a:buNone/>
            </a:pPr>
            <a:r>
              <a:rPr lang="en-US" sz="810" dirty="0">
                <a:solidFill>
                  <a:srgbClr val="42566D"/>
                </a:solidFill>
                <a:latin typeface="Aptos" pitchFamily="34" charset="0"/>
                <a:ea typeface="Aptos" pitchFamily="34" charset="-122"/>
                <a:cs typeface="Aptos" pitchFamily="34" charset="-120"/>
              </a:rPr>
              <a:t>not verified</a:t>
            </a:r>
            <a:endParaRPr lang="en-US" sz="810" dirty="0"/>
          </a:p>
        </p:txBody>
      </p:sp>
      <p:sp>
        <p:nvSpPr>
          <p:cNvPr id="47" name="Text 45"/>
          <p:cNvSpPr/>
          <p:nvPr/>
        </p:nvSpPr>
        <p:spPr>
          <a:xfrm>
            <a:off x="6739128" y="4983480"/>
            <a:ext cx="868680" cy="146304"/>
          </a:xfrm>
          <a:prstGeom prst="rect">
            <a:avLst/>
          </a:prstGeom>
          <a:noFill/>
          <a:ln/>
        </p:spPr>
        <p:txBody>
          <a:bodyPr wrap="square" lIns="0" tIns="0" rIns="0" bIns="0" rtlCol="0" anchor="ctr">
            <a:normAutofit/>
          </a:bodyPr>
          <a:lstStyle/>
          <a:p>
            <a:pPr algn="l" indent="0" marL="0">
              <a:buNone/>
            </a:pPr>
            <a:r>
              <a:rPr lang="en-US" sz="750" b="1" dirty="0">
                <a:solidFill>
                  <a:srgbClr val="00A994"/>
                </a:solidFill>
                <a:latin typeface="Aptos" pitchFamily="34" charset="0"/>
                <a:ea typeface="Aptos" pitchFamily="34" charset="-122"/>
                <a:cs typeface="Aptos" pitchFamily="34" charset="-120"/>
              </a:rPr>
              <a:t>SOURCE ↗</a:t>
            </a:r>
            <a:endParaRPr lang="en-US" sz="750" dirty="0"/>
          </a:p>
        </p:txBody>
      </p:sp>
      <p:sp>
        <p:nvSpPr>
          <p:cNvPr id="48" name="Shape 46"/>
          <p:cNvSpPr/>
          <p:nvPr/>
        </p:nvSpPr>
        <p:spPr>
          <a:xfrm>
            <a:off x="8540496" y="1847088"/>
            <a:ext cx="320040" cy="320040"/>
          </a:xfrm>
          <a:prstGeom prst="ellipse">
            <a:avLst/>
          </a:prstGeom>
          <a:solidFill>
            <a:srgbClr val="E2F7F3"/>
          </a:solidFill>
          <a:ln w="12700">
            <a:solidFill>
              <a:srgbClr val="E2F7F3">
                <a:alpha val="0"/>
              </a:srgbClr>
            </a:solidFill>
            <a:prstDash val="solid"/>
          </a:ln>
        </p:spPr>
      </p:sp>
      <p:sp>
        <p:nvSpPr>
          <p:cNvPr id="49" name="Text 47"/>
          <p:cNvSpPr/>
          <p:nvPr/>
        </p:nvSpPr>
        <p:spPr>
          <a:xfrm>
            <a:off x="8540496" y="1865376"/>
            <a:ext cx="320040" cy="201168"/>
          </a:xfrm>
          <a:prstGeom prst="rect">
            <a:avLst/>
          </a:prstGeom>
          <a:noFill/>
          <a:ln/>
        </p:spPr>
        <p:txBody>
          <a:bodyPr wrap="square" lIns="0" tIns="0" rIns="0" bIns="0" rtlCol="0" anchor="ctr">
            <a:normAutofit/>
          </a:bodyPr>
          <a:lstStyle/>
          <a:p>
            <a:pPr algn="ctr" indent="0" marL="0">
              <a:buNone/>
            </a:pPr>
            <a:r>
              <a:rPr lang="en-US" sz="850" b="1" dirty="0">
                <a:solidFill>
                  <a:srgbClr val="00A994"/>
                </a:solidFill>
                <a:latin typeface="Aptos" pitchFamily="34" charset="0"/>
                <a:ea typeface="Aptos" pitchFamily="34" charset="-122"/>
                <a:cs typeface="Aptos" pitchFamily="34" charset="-120"/>
              </a:rPr>
              <a:t>01</a:t>
            </a:r>
            <a:endParaRPr lang="en-US" sz="850" dirty="0"/>
          </a:p>
        </p:txBody>
      </p:sp>
      <p:sp>
        <p:nvSpPr>
          <p:cNvPr id="50" name="Text 48"/>
          <p:cNvSpPr/>
          <p:nvPr/>
        </p:nvSpPr>
        <p:spPr>
          <a:xfrm>
            <a:off x="9015984" y="1828800"/>
            <a:ext cx="2194560" cy="228600"/>
          </a:xfrm>
          <a:prstGeom prst="rect">
            <a:avLst/>
          </a:prstGeom>
          <a:noFill/>
          <a:ln/>
        </p:spPr>
        <p:txBody>
          <a:bodyPr wrap="square" lIns="0" tIns="0" rIns="0" bIns="0" rtlCol="0" anchor="ctr">
            <a:normAutofit/>
          </a:bodyPr>
          <a:lstStyle/>
          <a:p>
            <a:pPr algn="l" indent="0" marL="0">
              <a:buNone/>
            </a:pPr>
            <a:r>
              <a:rPr lang="en-US" sz="1300" b="1" dirty="0">
                <a:solidFill>
                  <a:srgbClr val="17283F"/>
                </a:solidFill>
                <a:latin typeface="Aptos" pitchFamily="34" charset="0"/>
                <a:ea typeface="Aptos" pitchFamily="34" charset="-122"/>
                <a:cs typeface="Aptos" pitchFamily="34" charset="-120"/>
              </a:rPr>
              <a:t>Monitor</a:t>
            </a:r>
            <a:endParaRPr lang="en-US" sz="1300" dirty="0"/>
          </a:p>
        </p:txBody>
      </p:sp>
      <p:sp>
        <p:nvSpPr>
          <p:cNvPr id="51" name="Text 49"/>
          <p:cNvSpPr/>
          <p:nvPr/>
        </p:nvSpPr>
        <p:spPr>
          <a:xfrm>
            <a:off x="9015984" y="2139696"/>
            <a:ext cx="2331720" cy="521208"/>
          </a:xfrm>
          <a:prstGeom prst="rect">
            <a:avLst/>
          </a:prstGeom>
          <a:noFill/>
          <a:ln/>
        </p:spPr>
        <p:txBody>
          <a:bodyPr wrap="square" lIns="0" tIns="0" rIns="0" bIns="0" rtlCol="0" anchor="t">
            <a:normAutofit/>
          </a:bodyPr>
          <a:lstStyle/>
          <a:p>
            <a:pPr algn="l" indent="0" marL="0">
              <a:buNone/>
            </a:pPr>
            <a:r>
              <a:rPr lang="en-US" sz="1020" dirty="0">
                <a:solidFill>
                  <a:srgbClr val="718196"/>
                </a:solidFill>
                <a:latin typeface="Aptos" pitchFamily="34" charset="0"/>
                <a:ea typeface="Aptos" pitchFamily="34" charset="-122"/>
                <a:cs typeface="Aptos" pitchFamily="34" charset="-120"/>
              </a:rPr>
              <a:t>New setup, expansion, hiring, office and policy signals.</a:t>
            </a:r>
            <a:endParaRPr lang="en-US" sz="1020" dirty="0"/>
          </a:p>
        </p:txBody>
      </p:sp>
      <p:sp>
        <p:nvSpPr>
          <p:cNvPr id="52" name="Shape 50"/>
          <p:cNvSpPr/>
          <p:nvPr/>
        </p:nvSpPr>
        <p:spPr>
          <a:xfrm>
            <a:off x="8540496" y="3081528"/>
            <a:ext cx="320040" cy="320040"/>
          </a:xfrm>
          <a:prstGeom prst="ellipse">
            <a:avLst/>
          </a:prstGeom>
          <a:solidFill>
            <a:srgbClr val="E2F7F3"/>
          </a:solidFill>
          <a:ln w="12700">
            <a:solidFill>
              <a:srgbClr val="E2F7F3">
                <a:alpha val="0"/>
              </a:srgbClr>
            </a:solidFill>
            <a:prstDash val="solid"/>
          </a:ln>
        </p:spPr>
      </p:sp>
      <p:sp>
        <p:nvSpPr>
          <p:cNvPr id="53" name="Text 51"/>
          <p:cNvSpPr/>
          <p:nvPr/>
        </p:nvSpPr>
        <p:spPr>
          <a:xfrm>
            <a:off x="8540496" y="3099816"/>
            <a:ext cx="320040" cy="201168"/>
          </a:xfrm>
          <a:prstGeom prst="rect">
            <a:avLst/>
          </a:prstGeom>
          <a:noFill/>
          <a:ln/>
        </p:spPr>
        <p:txBody>
          <a:bodyPr wrap="square" lIns="0" tIns="0" rIns="0" bIns="0" rtlCol="0" anchor="ctr">
            <a:normAutofit/>
          </a:bodyPr>
          <a:lstStyle/>
          <a:p>
            <a:pPr algn="ctr" indent="0" marL="0">
              <a:buNone/>
            </a:pPr>
            <a:r>
              <a:rPr lang="en-US" sz="850" b="1" dirty="0">
                <a:solidFill>
                  <a:srgbClr val="00A994"/>
                </a:solidFill>
                <a:latin typeface="Aptos" pitchFamily="34" charset="0"/>
                <a:ea typeface="Aptos" pitchFamily="34" charset="-122"/>
                <a:cs typeface="Aptos" pitchFamily="34" charset="-120"/>
              </a:rPr>
              <a:t>02</a:t>
            </a:r>
            <a:endParaRPr lang="en-US" sz="850" dirty="0"/>
          </a:p>
        </p:txBody>
      </p:sp>
      <p:sp>
        <p:nvSpPr>
          <p:cNvPr id="54" name="Text 52"/>
          <p:cNvSpPr/>
          <p:nvPr/>
        </p:nvSpPr>
        <p:spPr>
          <a:xfrm>
            <a:off x="9015984" y="3063240"/>
            <a:ext cx="2194560" cy="228600"/>
          </a:xfrm>
          <a:prstGeom prst="rect">
            <a:avLst/>
          </a:prstGeom>
          <a:noFill/>
          <a:ln/>
        </p:spPr>
        <p:txBody>
          <a:bodyPr wrap="square" lIns="0" tIns="0" rIns="0" bIns="0" rtlCol="0" anchor="ctr">
            <a:normAutofit/>
          </a:bodyPr>
          <a:lstStyle/>
          <a:p>
            <a:pPr algn="l" indent="0" marL="0">
              <a:buNone/>
            </a:pPr>
            <a:r>
              <a:rPr lang="en-US" sz="1300" b="1" dirty="0">
                <a:solidFill>
                  <a:srgbClr val="17283F"/>
                </a:solidFill>
                <a:latin typeface="Aptos" pitchFamily="34" charset="0"/>
                <a:ea typeface="Aptos" pitchFamily="34" charset="-122"/>
                <a:cs typeface="Aptos" pitchFamily="34" charset="-120"/>
              </a:rPr>
              <a:t>Verify</a:t>
            </a:r>
            <a:endParaRPr lang="en-US" sz="1300" dirty="0"/>
          </a:p>
        </p:txBody>
      </p:sp>
      <p:sp>
        <p:nvSpPr>
          <p:cNvPr id="55" name="Text 53"/>
          <p:cNvSpPr/>
          <p:nvPr/>
        </p:nvSpPr>
        <p:spPr>
          <a:xfrm>
            <a:off x="9015984" y="3374136"/>
            <a:ext cx="2331720" cy="521208"/>
          </a:xfrm>
          <a:prstGeom prst="rect">
            <a:avLst/>
          </a:prstGeom>
          <a:noFill/>
          <a:ln/>
        </p:spPr>
        <p:txBody>
          <a:bodyPr wrap="square" lIns="0" tIns="0" rIns="0" bIns="0" rtlCol="0" anchor="t">
            <a:normAutofit/>
          </a:bodyPr>
          <a:lstStyle/>
          <a:p>
            <a:pPr algn="l" indent="0" marL="0">
              <a:buNone/>
            </a:pPr>
            <a:r>
              <a:rPr lang="en-US" sz="1020" dirty="0">
                <a:solidFill>
                  <a:srgbClr val="718196"/>
                </a:solidFill>
                <a:latin typeface="Aptos" pitchFamily="34" charset="0"/>
                <a:ea typeface="Aptos" pitchFamily="34" charset="-122"/>
                <a:cs typeface="Aptos" pitchFamily="34" charset="-120"/>
              </a:rPr>
              <a:t>Entity resolution, status, confidence, source excerpt and change history.</a:t>
            </a:r>
            <a:endParaRPr lang="en-US" sz="1020" dirty="0"/>
          </a:p>
        </p:txBody>
      </p:sp>
      <p:sp>
        <p:nvSpPr>
          <p:cNvPr id="56" name="Shape 54"/>
          <p:cNvSpPr/>
          <p:nvPr/>
        </p:nvSpPr>
        <p:spPr>
          <a:xfrm>
            <a:off x="8540496" y="4315968"/>
            <a:ext cx="320040" cy="320040"/>
          </a:xfrm>
          <a:prstGeom prst="ellipse">
            <a:avLst/>
          </a:prstGeom>
          <a:solidFill>
            <a:srgbClr val="E2F7F3"/>
          </a:solidFill>
          <a:ln w="12700">
            <a:solidFill>
              <a:srgbClr val="E2F7F3">
                <a:alpha val="0"/>
              </a:srgbClr>
            </a:solidFill>
            <a:prstDash val="solid"/>
          </a:ln>
        </p:spPr>
      </p:sp>
      <p:sp>
        <p:nvSpPr>
          <p:cNvPr id="57" name="Text 55"/>
          <p:cNvSpPr/>
          <p:nvPr/>
        </p:nvSpPr>
        <p:spPr>
          <a:xfrm>
            <a:off x="8540496" y="4334256"/>
            <a:ext cx="320040" cy="201168"/>
          </a:xfrm>
          <a:prstGeom prst="rect">
            <a:avLst/>
          </a:prstGeom>
          <a:noFill/>
          <a:ln/>
        </p:spPr>
        <p:txBody>
          <a:bodyPr wrap="square" lIns="0" tIns="0" rIns="0" bIns="0" rtlCol="0" anchor="ctr">
            <a:normAutofit/>
          </a:bodyPr>
          <a:lstStyle/>
          <a:p>
            <a:pPr algn="ctr" indent="0" marL="0">
              <a:buNone/>
            </a:pPr>
            <a:r>
              <a:rPr lang="en-US" sz="850" b="1" dirty="0">
                <a:solidFill>
                  <a:srgbClr val="00A994"/>
                </a:solidFill>
                <a:latin typeface="Aptos" pitchFamily="34" charset="0"/>
                <a:ea typeface="Aptos" pitchFamily="34" charset="-122"/>
                <a:cs typeface="Aptos" pitchFamily="34" charset="-120"/>
              </a:rPr>
              <a:t>03</a:t>
            </a:r>
            <a:endParaRPr lang="en-US" sz="850" dirty="0"/>
          </a:p>
        </p:txBody>
      </p:sp>
      <p:sp>
        <p:nvSpPr>
          <p:cNvPr id="58" name="Text 56"/>
          <p:cNvSpPr/>
          <p:nvPr/>
        </p:nvSpPr>
        <p:spPr>
          <a:xfrm>
            <a:off x="9015984" y="4297680"/>
            <a:ext cx="2194560" cy="228600"/>
          </a:xfrm>
          <a:prstGeom prst="rect">
            <a:avLst/>
          </a:prstGeom>
          <a:noFill/>
          <a:ln/>
        </p:spPr>
        <p:txBody>
          <a:bodyPr wrap="square" lIns="0" tIns="0" rIns="0" bIns="0" rtlCol="0" anchor="ctr">
            <a:normAutofit/>
          </a:bodyPr>
          <a:lstStyle/>
          <a:p>
            <a:pPr algn="l" indent="0" marL="0">
              <a:buNone/>
            </a:pPr>
            <a:r>
              <a:rPr lang="en-US" sz="1300" b="1" dirty="0">
                <a:solidFill>
                  <a:srgbClr val="17283F"/>
                </a:solidFill>
                <a:latin typeface="Aptos" pitchFamily="34" charset="0"/>
                <a:ea typeface="Aptos" pitchFamily="34" charset="-122"/>
                <a:cs typeface="Aptos" pitchFamily="34" charset="-120"/>
              </a:rPr>
              <a:t>Decide</a:t>
            </a:r>
            <a:endParaRPr lang="en-US" sz="1300" dirty="0"/>
          </a:p>
        </p:txBody>
      </p:sp>
      <p:sp>
        <p:nvSpPr>
          <p:cNvPr id="59" name="Text 57"/>
          <p:cNvSpPr/>
          <p:nvPr/>
        </p:nvSpPr>
        <p:spPr>
          <a:xfrm>
            <a:off x="9015984" y="4608576"/>
            <a:ext cx="2331720" cy="521208"/>
          </a:xfrm>
          <a:prstGeom prst="rect">
            <a:avLst/>
          </a:prstGeom>
          <a:noFill/>
          <a:ln/>
        </p:spPr>
        <p:txBody>
          <a:bodyPr wrap="square" lIns="0" tIns="0" rIns="0" bIns="0" rtlCol="0" anchor="t">
            <a:normAutofit/>
          </a:bodyPr>
          <a:lstStyle/>
          <a:p>
            <a:pPr algn="l" indent="0" marL="0">
              <a:buNone/>
            </a:pPr>
            <a:r>
              <a:rPr lang="en-US" sz="1020" dirty="0">
                <a:solidFill>
                  <a:srgbClr val="718196"/>
                </a:solidFill>
                <a:latin typeface="Aptos" pitchFamily="34" charset="0"/>
                <a:ea typeface="Aptos" pitchFamily="34" charset="-122"/>
                <a:cs typeface="Aptos" pitchFamily="34" charset="-120"/>
              </a:rPr>
              <a:t>Prioritised account lists, city comparisons and partner diligence briefs.</a:t>
            </a:r>
            <a:endParaRPr lang="en-US" sz="1020" dirty="0"/>
          </a:p>
        </p:txBody>
      </p:sp>
      <p:sp>
        <p:nvSpPr>
          <p:cNvPr id="60" name="Shape 58"/>
          <p:cNvSpPr/>
          <p:nvPr/>
        </p:nvSpPr>
        <p:spPr>
          <a:xfrm>
            <a:off x="8540496" y="5532120"/>
            <a:ext cx="3063240" cy="448056"/>
          </a:xfrm>
          <a:prstGeom prst="roundRect">
            <a:avLst>
              <a:gd name="adj" fmla="val 20408"/>
            </a:avLst>
          </a:prstGeom>
          <a:solidFill>
            <a:srgbClr val="E2F7F3"/>
          </a:solidFill>
          <a:ln w="8890">
            <a:solidFill>
              <a:srgbClr val="D3EEE7"/>
            </a:solidFill>
            <a:prstDash val="solid"/>
          </a:ln>
        </p:spPr>
      </p:sp>
      <p:sp>
        <p:nvSpPr>
          <p:cNvPr id="61" name="Text 59"/>
          <p:cNvSpPr/>
          <p:nvPr/>
        </p:nvSpPr>
        <p:spPr>
          <a:xfrm>
            <a:off x="8723376" y="5650992"/>
            <a:ext cx="2724912" cy="155448"/>
          </a:xfrm>
          <a:prstGeom prst="rect">
            <a:avLst/>
          </a:prstGeom>
          <a:noFill/>
          <a:ln/>
        </p:spPr>
        <p:txBody>
          <a:bodyPr wrap="square" lIns="0" tIns="0" rIns="0" bIns="0" rtlCol="0" anchor="ctr">
            <a:normAutofit/>
          </a:bodyPr>
          <a:lstStyle/>
          <a:p>
            <a:pPr algn="l" indent="0" marL="0">
              <a:buNone/>
            </a:pPr>
            <a:r>
              <a:rPr lang="en-US" sz="1020" b="1" dirty="0">
                <a:solidFill>
                  <a:srgbClr val="00A994"/>
                </a:solidFill>
                <a:latin typeface="Aptos" pitchFamily="34" charset="0"/>
                <a:ea typeface="Aptos" pitchFamily="34" charset="-122"/>
                <a:cs typeface="Aptos" pitchFamily="34" charset="-120"/>
              </a:rPr>
              <a:t>AI drafts; sources make it auditable.</a:t>
            </a:r>
            <a:endParaRPr lang="en-US" sz="102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08 · POSITIONING</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The category is forming. Do not pretend the whitespace is empty.</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GCC intelligence products already exist. The defensible position is independent evidence quality + a joined decision workflow.</a:t>
            </a:r>
            <a:endParaRPr lang="en-US" sz="1120" dirty="0"/>
          </a:p>
        </p:txBody>
      </p:sp>
      <p:sp>
        <p:nvSpPr>
          <p:cNvPr id="5" name="Text 3"/>
          <p:cNvSpPr/>
          <p:nvPr/>
        </p:nvSpPr>
        <p:spPr>
          <a:xfrm>
            <a:off x="658368" y="1719072"/>
            <a:ext cx="1975104" cy="164592"/>
          </a:xfrm>
          <a:prstGeom prst="rect">
            <a:avLst/>
          </a:prstGeom>
          <a:noFill/>
          <a:ln/>
        </p:spPr>
        <p:txBody>
          <a:bodyPr wrap="square" lIns="0" tIns="0" rIns="0" bIns="0" rtlCol="0" anchor="ctr">
            <a:normAutofit/>
          </a:bodyPr>
          <a:lstStyle/>
          <a:p>
            <a:pPr algn="l" indent="0" marL="0">
              <a:buNone/>
            </a:pPr>
            <a:r>
              <a:rPr lang="en-US" sz="770" b="1" spc="70" kern="0" dirty="0">
                <a:solidFill>
                  <a:srgbClr val="718196"/>
                </a:solidFill>
                <a:latin typeface="Aptos" pitchFamily="34" charset="0"/>
                <a:ea typeface="Aptos" pitchFamily="34" charset="-122"/>
                <a:cs typeface="Aptos" pitchFamily="34" charset="-120"/>
              </a:rPr>
              <a:t>ALTERNATIVE</a:t>
            </a:r>
            <a:endParaRPr lang="en-US" sz="770" dirty="0"/>
          </a:p>
        </p:txBody>
      </p:sp>
      <p:sp>
        <p:nvSpPr>
          <p:cNvPr id="6" name="Text 4"/>
          <p:cNvSpPr/>
          <p:nvPr/>
        </p:nvSpPr>
        <p:spPr>
          <a:xfrm>
            <a:off x="2761488" y="1719072"/>
            <a:ext cx="2103120" cy="164592"/>
          </a:xfrm>
          <a:prstGeom prst="rect">
            <a:avLst/>
          </a:prstGeom>
          <a:noFill/>
          <a:ln/>
        </p:spPr>
        <p:txBody>
          <a:bodyPr wrap="square" lIns="0" tIns="0" rIns="0" bIns="0" rtlCol="0" anchor="ctr">
            <a:normAutofit/>
          </a:bodyPr>
          <a:lstStyle/>
          <a:p>
            <a:pPr algn="l" indent="0" marL="0">
              <a:buNone/>
            </a:pPr>
            <a:r>
              <a:rPr lang="en-US" sz="770" b="1" spc="70" kern="0" dirty="0">
                <a:solidFill>
                  <a:srgbClr val="718196"/>
                </a:solidFill>
                <a:latin typeface="Aptos" pitchFamily="34" charset="0"/>
                <a:ea typeface="Aptos" pitchFamily="34" charset="-122"/>
                <a:cs typeface="Aptos" pitchFamily="34" charset="-120"/>
              </a:rPr>
              <a:t>STRENGTH</a:t>
            </a:r>
            <a:endParaRPr lang="en-US" sz="770" dirty="0"/>
          </a:p>
        </p:txBody>
      </p:sp>
      <p:sp>
        <p:nvSpPr>
          <p:cNvPr id="7" name="Text 5"/>
          <p:cNvSpPr/>
          <p:nvPr/>
        </p:nvSpPr>
        <p:spPr>
          <a:xfrm>
            <a:off x="4992624" y="1719072"/>
            <a:ext cx="2176272" cy="164592"/>
          </a:xfrm>
          <a:prstGeom prst="rect">
            <a:avLst/>
          </a:prstGeom>
          <a:noFill/>
          <a:ln/>
        </p:spPr>
        <p:txBody>
          <a:bodyPr wrap="square" lIns="0" tIns="0" rIns="0" bIns="0" rtlCol="0" anchor="ctr">
            <a:normAutofit/>
          </a:bodyPr>
          <a:lstStyle/>
          <a:p>
            <a:pPr algn="l" indent="0" marL="0">
              <a:buNone/>
            </a:pPr>
            <a:r>
              <a:rPr lang="en-US" sz="770" b="1" spc="70" kern="0" dirty="0">
                <a:solidFill>
                  <a:srgbClr val="718196"/>
                </a:solidFill>
                <a:latin typeface="Aptos" pitchFamily="34" charset="0"/>
                <a:ea typeface="Aptos" pitchFamily="34" charset="-122"/>
                <a:cs typeface="Aptos" pitchFamily="34" charset="-120"/>
              </a:rPr>
              <a:t>LIMITATION TO TEST</a:t>
            </a:r>
            <a:endParaRPr lang="en-US" sz="770" dirty="0"/>
          </a:p>
        </p:txBody>
      </p:sp>
      <p:sp>
        <p:nvSpPr>
          <p:cNvPr id="8" name="Text 6"/>
          <p:cNvSpPr/>
          <p:nvPr/>
        </p:nvSpPr>
        <p:spPr>
          <a:xfrm>
            <a:off x="7315200" y="1719072"/>
            <a:ext cx="2103120" cy="164592"/>
          </a:xfrm>
          <a:prstGeom prst="rect">
            <a:avLst/>
          </a:prstGeom>
          <a:noFill/>
          <a:ln/>
        </p:spPr>
        <p:txBody>
          <a:bodyPr wrap="square" lIns="0" tIns="0" rIns="0" bIns="0" rtlCol="0" anchor="ctr">
            <a:normAutofit/>
          </a:bodyPr>
          <a:lstStyle/>
          <a:p>
            <a:pPr algn="l" indent="0" marL="0">
              <a:buNone/>
            </a:pPr>
            <a:r>
              <a:rPr lang="en-US" sz="770" b="1" spc="70" kern="0" dirty="0">
                <a:solidFill>
                  <a:srgbClr val="718196"/>
                </a:solidFill>
                <a:latin typeface="Aptos" pitchFamily="34" charset="0"/>
                <a:ea typeface="Aptos" pitchFamily="34" charset="-122"/>
                <a:cs typeface="Aptos" pitchFamily="34" charset="-120"/>
              </a:rPr>
              <a:t>EXAMPLES</a:t>
            </a:r>
            <a:endParaRPr lang="en-US" sz="770" dirty="0"/>
          </a:p>
        </p:txBody>
      </p:sp>
      <p:sp>
        <p:nvSpPr>
          <p:cNvPr id="9" name="Text 7"/>
          <p:cNvSpPr/>
          <p:nvPr/>
        </p:nvSpPr>
        <p:spPr>
          <a:xfrm>
            <a:off x="9509760" y="1719072"/>
            <a:ext cx="1965960" cy="164592"/>
          </a:xfrm>
          <a:prstGeom prst="rect">
            <a:avLst/>
          </a:prstGeom>
          <a:noFill/>
          <a:ln/>
        </p:spPr>
        <p:txBody>
          <a:bodyPr wrap="square" lIns="0" tIns="0" rIns="0" bIns="0" rtlCol="0" anchor="ctr">
            <a:normAutofit/>
          </a:bodyPr>
          <a:lstStyle/>
          <a:p>
            <a:pPr algn="l" indent="0" marL="0">
              <a:buNone/>
            </a:pPr>
            <a:r>
              <a:rPr lang="en-US" sz="770" b="1" spc="70" kern="0" dirty="0">
                <a:solidFill>
                  <a:srgbClr val="718196"/>
                </a:solidFill>
                <a:latin typeface="Aptos" pitchFamily="34" charset="0"/>
                <a:ea typeface="Aptos" pitchFamily="34" charset="-122"/>
                <a:cs typeface="Aptos" pitchFamily="34" charset="-120"/>
              </a:rPr>
              <a:t>POSITION</a:t>
            </a:r>
            <a:endParaRPr lang="en-US" sz="770" dirty="0"/>
          </a:p>
        </p:txBody>
      </p:sp>
      <p:sp>
        <p:nvSpPr>
          <p:cNvPr id="10" name="Shape 8"/>
          <p:cNvSpPr/>
          <p:nvPr/>
        </p:nvSpPr>
        <p:spPr>
          <a:xfrm>
            <a:off x="621792" y="2011680"/>
            <a:ext cx="11018520" cy="530352"/>
          </a:xfrm>
          <a:prstGeom prst="roundRect">
            <a:avLst>
              <a:gd name="adj" fmla="val 17241"/>
            </a:avLst>
          </a:prstGeom>
          <a:solidFill>
            <a:srgbClr val="FFFFFF"/>
          </a:solidFill>
          <a:ln w="6350">
            <a:solidFill>
              <a:srgbClr val="E7EDF1"/>
            </a:solidFill>
            <a:prstDash val="solid"/>
          </a:ln>
        </p:spPr>
      </p:sp>
      <p:sp>
        <p:nvSpPr>
          <p:cNvPr id="11" name="Text 9"/>
          <p:cNvSpPr/>
          <p:nvPr/>
        </p:nvSpPr>
        <p:spPr>
          <a:xfrm>
            <a:off x="658368" y="2084832"/>
            <a:ext cx="1920240" cy="365760"/>
          </a:xfrm>
          <a:prstGeom prst="rect">
            <a:avLst/>
          </a:prstGeom>
          <a:noFill/>
          <a:ln/>
        </p:spPr>
        <p:txBody>
          <a:bodyPr wrap="square" lIns="0" tIns="0" rIns="0" bIns="0" rtlCol="0" anchor="ctr">
            <a:normAutofit/>
          </a:bodyPr>
          <a:lstStyle/>
          <a:p>
            <a:pPr algn="l" indent="0" marL="0">
              <a:buNone/>
            </a:pPr>
            <a:r>
              <a:rPr lang="en-US" sz="930" b="1" dirty="0">
                <a:solidFill>
                  <a:srgbClr val="42566D"/>
                </a:solidFill>
                <a:latin typeface="Aptos" pitchFamily="34" charset="0"/>
                <a:ea typeface="Aptos" pitchFamily="34" charset="-122"/>
                <a:cs typeface="Aptos" pitchFamily="34" charset="-120"/>
              </a:rPr>
              <a:t>Consultant reports</a:t>
            </a:r>
            <a:endParaRPr lang="en-US" sz="930" dirty="0"/>
          </a:p>
        </p:txBody>
      </p:sp>
      <p:sp>
        <p:nvSpPr>
          <p:cNvPr id="12" name="Text 10"/>
          <p:cNvSpPr/>
          <p:nvPr/>
        </p:nvSpPr>
        <p:spPr>
          <a:xfrm>
            <a:off x="2761488" y="2084832"/>
            <a:ext cx="2048256"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Deep synthesis; periodic cadence</a:t>
            </a:r>
            <a:endParaRPr lang="en-US" sz="860" dirty="0"/>
          </a:p>
        </p:txBody>
      </p:sp>
      <p:sp>
        <p:nvSpPr>
          <p:cNvPr id="13" name="Text 11"/>
          <p:cNvSpPr/>
          <p:nvPr/>
        </p:nvSpPr>
        <p:spPr>
          <a:xfrm>
            <a:off x="4992624" y="2084832"/>
            <a:ext cx="2121408"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A one-off report, PDF and bespoke budget</a:t>
            </a:r>
            <a:endParaRPr lang="en-US" sz="860" dirty="0"/>
          </a:p>
        </p:txBody>
      </p:sp>
      <p:sp>
        <p:nvSpPr>
          <p:cNvPr id="14" name="Shape 12"/>
          <p:cNvSpPr/>
          <p:nvPr/>
        </p:nvSpPr>
        <p:spPr>
          <a:xfrm>
            <a:off x="621792" y="2651760"/>
            <a:ext cx="11018520" cy="530352"/>
          </a:xfrm>
          <a:prstGeom prst="roundRect">
            <a:avLst>
              <a:gd name="adj" fmla="val 17241"/>
            </a:avLst>
          </a:prstGeom>
          <a:solidFill>
            <a:srgbClr val="F9FBFC"/>
          </a:solidFill>
          <a:ln w="6350">
            <a:solidFill>
              <a:srgbClr val="E7EDF1"/>
            </a:solidFill>
            <a:prstDash val="solid"/>
          </a:ln>
        </p:spPr>
      </p:sp>
      <p:sp>
        <p:nvSpPr>
          <p:cNvPr id="15" name="Text 13"/>
          <p:cNvSpPr/>
          <p:nvPr/>
        </p:nvSpPr>
        <p:spPr>
          <a:xfrm>
            <a:off x="658368" y="2724912"/>
            <a:ext cx="1920240" cy="365760"/>
          </a:xfrm>
          <a:prstGeom prst="rect">
            <a:avLst/>
          </a:prstGeom>
          <a:noFill/>
          <a:ln/>
        </p:spPr>
        <p:txBody>
          <a:bodyPr wrap="square" lIns="0" tIns="0" rIns="0" bIns="0" rtlCol="0" anchor="ctr">
            <a:normAutofit/>
          </a:bodyPr>
          <a:lstStyle/>
          <a:p>
            <a:pPr algn="l" indent="0" marL="0">
              <a:buNone/>
            </a:pPr>
            <a:r>
              <a:rPr lang="en-US" sz="930" b="1" dirty="0">
                <a:solidFill>
                  <a:srgbClr val="42566D"/>
                </a:solidFill>
                <a:latin typeface="Aptos" pitchFamily="34" charset="0"/>
                <a:ea typeface="Aptos" pitchFamily="34" charset="-122"/>
                <a:cs typeface="Aptos" pitchFamily="34" charset="-120"/>
              </a:rPr>
              <a:t>Govt. / investment portals</a:t>
            </a:r>
            <a:endParaRPr lang="en-US" sz="930" dirty="0"/>
          </a:p>
        </p:txBody>
      </p:sp>
      <p:sp>
        <p:nvSpPr>
          <p:cNvPr id="16" name="Text 14"/>
          <p:cNvSpPr/>
          <p:nvPr/>
        </p:nvSpPr>
        <p:spPr>
          <a:xfrm>
            <a:off x="2761488" y="2724912"/>
            <a:ext cx="2048256"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Official policy and investment signals</a:t>
            </a:r>
            <a:endParaRPr lang="en-US" sz="860" dirty="0"/>
          </a:p>
        </p:txBody>
      </p:sp>
      <p:sp>
        <p:nvSpPr>
          <p:cNvPr id="17" name="Text 15"/>
          <p:cNvSpPr/>
          <p:nvPr/>
        </p:nvSpPr>
        <p:spPr>
          <a:xfrm>
            <a:off x="4992624" y="2724912"/>
            <a:ext cx="2121408"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State-by-state navigation; limited cross-city join-up</a:t>
            </a:r>
            <a:endParaRPr lang="en-US" sz="860" dirty="0"/>
          </a:p>
        </p:txBody>
      </p:sp>
      <p:sp>
        <p:nvSpPr>
          <p:cNvPr id="18" name="Shape 16"/>
          <p:cNvSpPr/>
          <p:nvPr/>
        </p:nvSpPr>
        <p:spPr>
          <a:xfrm>
            <a:off x="621792" y="3291840"/>
            <a:ext cx="11018520" cy="530352"/>
          </a:xfrm>
          <a:prstGeom prst="roundRect">
            <a:avLst>
              <a:gd name="adj" fmla="val 17241"/>
            </a:avLst>
          </a:prstGeom>
          <a:solidFill>
            <a:srgbClr val="FFFFFF"/>
          </a:solidFill>
          <a:ln w="6350">
            <a:solidFill>
              <a:srgbClr val="E7EDF1"/>
            </a:solidFill>
            <a:prstDash val="solid"/>
          </a:ln>
        </p:spPr>
      </p:sp>
      <p:sp>
        <p:nvSpPr>
          <p:cNvPr id="19" name="Text 17"/>
          <p:cNvSpPr/>
          <p:nvPr/>
        </p:nvSpPr>
        <p:spPr>
          <a:xfrm>
            <a:off x="658368" y="3364992"/>
            <a:ext cx="1920240" cy="365760"/>
          </a:xfrm>
          <a:prstGeom prst="rect">
            <a:avLst/>
          </a:prstGeom>
          <a:noFill/>
          <a:ln/>
        </p:spPr>
        <p:txBody>
          <a:bodyPr wrap="square" lIns="0" tIns="0" rIns="0" bIns="0" rtlCol="0" anchor="ctr">
            <a:normAutofit/>
          </a:bodyPr>
          <a:lstStyle/>
          <a:p>
            <a:pPr algn="l" indent="0" marL="0">
              <a:buNone/>
            </a:pPr>
            <a:r>
              <a:rPr lang="en-US" sz="930" b="1" dirty="0">
                <a:solidFill>
                  <a:srgbClr val="42566D"/>
                </a:solidFill>
                <a:latin typeface="Aptos" pitchFamily="34" charset="0"/>
                <a:ea typeface="Aptos" pitchFamily="34" charset="-122"/>
                <a:cs typeface="Aptos" pitchFamily="34" charset="-120"/>
              </a:rPr>
              <a:t>Real estate / talent datasets</a:t>
            </a:r>
            <a:endParaRPr lang="en-US" sz="930" dirty="0"/>
          </a:p>
        </p:txBody>
      </p:sp>
      <p:sp>
        <p:nvSpPr>
          <p:cNvPr id="20" name="Text 18"/>
          <p:cNvSpPr/>
          <p:nvPr/>
        </p:nvSpPr>
        <p:spPr>
          <a:xfrm>
            <a:off x="2761488" y="3364992"/>
            <a:ext cx="2048256"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Strong domain depth and specialist benchmarks</a:t>
            </a:r>
            <a:endParaRPr lang="en-US" sz="860" dirty="0"/>
          </a:p>
        </p:txBody>
      </p:sp>
      <p:sp>
        <p:nvSpPr>
          <p:cNvPr id="21" name="Text 19"/>
          <p:cNvSpPr/>
          <p:nvPr/>
        </p:nvSpPr>
        <p:spPr>
          <a:xfrm>
            <a:off x="4992624" y="3364992"/>
            <a:ext cx="2121408"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One slice of the operating decision</a:t>
            </a:r>
            <a:endParaRPr lang="en-US" sz="860" dirty="0"/>
          </a:p>
        </p:txBody>
      </p:sp>
      <p:sp>
        <p:nvSpPr>
          <p:cNvPr id="22" name="Shape 20"/>
          <p:cNvSpPr/>
          <p:nvPr/>
        </p:nvSpPr>
        <p:spPr>
          <a:xfrm>
            <a:off x="621792" y="3931920"/>
            <a:ext cx="11018520" cy="530352"/>
          </a:xfrm>
          <a:prstGeom prst="roundRect">
            <a:avLst>
              <a:gd name="adj" fmla="val 17241"/>
            </a:avLst>
          </a:prstGeom>
          <a:solidFill>
            <a:srgbClr val="F9FBFC"/>
          </a:solidFill>
          <a:ln w="6350">
            <a:solidFill>
              <a:srgbClr val="E7EDF1"/>
            </a:solidFill>
            <a:prstDash val="solid"/>
          </a:ln>
        </p:spPr>
      </p:sp>
      <p:sp>
        <p:nvSpPr>
          <p:cNvPr id="23" name="Text 21"/>
          <p:cNvSpPr/>
          <p:nvPr/>
        </p:nvSpPr>
        <p:spPr>
          <a:xfrm>
            <a:off x="658368" y="4005072"/>
            <a:ext cx="1920240" cy="365760"/>
          </a:xfrm>
          <a:prstGeom prst="rect">
            <a:avLst/>
          </a:prstGeom>
          <a:noFill/>
          <a:ln/>
        </p:spPr>
        <p:txBody>
          <a:bodyPr wrap="square" lIns="0" tIns="0" rIns="0" bIns="0" rtlCol="0" anchor="ctr">
            <a:normAutofit/>
          </a:bodyPr>
          <a:lstStyle/>
          <a:p>
            <a:pPr algn="l" indent="0" marL="0">
              <a:buNone/>
            </a:pPr>
            <a:r>
              <a:rPr lang="en-US" sz="930" b="1" dirty="0">
                <a:solidFill>
                  <a:srgbClr val="42566D"/>
                </a:solidFill>
                <a:latin typeface="Aptos" pitchFamily="34" charset="0"/>
                <a:ea typeface="Aptos" pitchFamily="34" charset="-122"/>
                <a:cs typeface="Aptos" pitchFamily="34" charset="-120"/>
              </a:rPr>
              <a:t>GCC intelligence platforms</a:t>
            </a:r>
            <a:endParaRPr lang="en-US" sz="930" dirty="0"/>
          </a:p>
        </p:txBody>
      </p:sp>
      <p:sp>
        <p:nvSpPr>
          <p:cNvPr id="24" name="Text 22"/>
          <p:cNvSpPr/>
          <p:nvPr/>
        </p:nvSpPr>
        <p:spPr>
          <a:xfrm>
            <a:off x="2761488" y="4005072"/>
            <a:ext cx="2048256"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Directories, signals and GTM intelligence</a:t>
            </a:r>
            <a:endParaRPr lang="en-US" sz="860" dirty="0"/>
          </a:p>
        </p:txBody>
      </p:sp>
      <p:sp>
        <p:nvSpPr>
          <p:cNvPr id="25" name="Text 23"/>
          <p:cNvSpPr/>
          <p:nvPr/>
        </p:nvSpPr>
        <p:spPr>
          <a:xfrm>
            <a:off x="4992624" y="4005072"/>
            <a:ext cx="2121408" cy="365760"/>
          </a:xfrm>
          <a:prstGeom prst="rect">
            <a:avLst/>
          </a:prstGeom>
          <a:noFill/>
          <a:ln/>
        </p:spPr>
        <p:txBody>
          <a:bodyPr wrap="square" lIns="0" tIns="0" rIns="0" bIns="0" rtlCol="0" anchor="ctr">
            <a:normAutofit/>
          </a:bodyPr>
          <a:lstStyle/>
          <a:p>
            <a:pPr algn="l" indent="0" marL="0">
              <a:buNone/>
            </a:pPr>
            <a:r>
              <a:rPr lang="en-US" sz="860" dirty="0">
                <a:solidFill>
                  <a:srgbClr val="42566D"/>
                </a:solidFill>
                <a:latin typeface="Aptos" pitchFamily="34" charset="0"/>
                <a:ea typeface="Aptos" pitchFamily="34" charset="-122"/>
                <a:cs typeface="Aptos" pitchFamily="34" charset="-120"/>
              </a:rPr>
              <a:t>Direct competition; feature overlap is real</a:t>
            </a:r>
            <a:endParaRPr lang="en-US" sz="860" dirty="0"/>
          </a:p>
        </p:txBody>
      </p:sp>
      <p:sp>
        <p:nvSpPr>
          <p:cNvPr id="26" name="Shape 24"/>
          <p:cNvSpPr/>
          <p:nvPr/>
        </p:nvSpPr>
        <p:spPr>
          <a:xfrm>
            <a:off x="621792" y="4572000"/>
            <a:ext cx="11018520" cy="530352"/>
          </a:xfrm>
          <a:prstGeom prst="roundRect">
            <a:avLst>
              <a:gd name="adj" fmla="val 17241"/>
            </a:avLst>
          </a:prstGeom>
          <a:solidFill>
            <a:srgbClr val="E2F7F3"/>
          </a:solidFill>
          <a:ln w="12700">
            <a:solidFill>
              <a:srgbClr val="BDE7DF"/>
            </a:solidFill>
            <a:prstDash val="solid"/>
          </a:ln>
        </p:spPr>
      </p:sp>
      <p:sp>
        <p:nvSpPr>
          <p:cNvPr id="27" name="Text 25"/>
          <p:cNvSpPr/>
          <p:nvPr/>
        </p:nvSpPr>
        <p:spPr>
          <a:xfrm>
            <a:off x="658368" y="4645152"/>
            <a:ext cx="1920240" cy="365760"/>
          </a:xfrm>
          <a:prstGeom prst="rect">
            <a:avLst/>
          </a:prstGeom>
          <a:noFill/>
          <a:ln/>
        </p:spPr>
        <p:txBody>
          <a:bodyPr wrap="square" lIns="0" tIns="0" rIns="0" bIns="0" rtlCol="0" anchor="ctr">
            <a:normAutofit/>
          </a:bodyPr>
          <a:lstStyle/>
          <a:p>
            <a:pPr algn="l" indent="0" marL="0">
              <a:buNone/>
            </a:pPr>
            <a:r>
              <a:rPr lang="en-US" sz="930" b="1" dirty="0">
                <a:solidFill>
                  <a:srgbClr val="00A994"/>
                </a:solidFill>
                <a:latin typeface="Aptos" pitchFamily="34" charset="0"/>
                <a:ea typeface="Aptos" pitchFamily="34" charset="-122"/>
                <a:cs typeface="Aptos" pitchFamily="34" charset="-120"/>
              </a:rPr>
              <a:t>GCC ATLAS</a:t>
            </a:r>
            <a:endParaRPr lang="en-US" sz="930" dirty="0"/>
          </a:p>
        </p:txBody>
      </p:sp>
      <p:sp>
        <p:nvSpPr>
          <p:cNvPr id="28" name="Text 26"/>
          <p:cNvSpPr/>
          <p:nvPr/>
        </p:nvSpPr>
        <p:spPr>
          <a:xfrm>
            <a:off x="2761488" y="4645152"/>
            <a:ext cx="2048256" cy="365760"/>
          </a:xfrm>
          <a:prstGeom prst="rect">
            <a:avLst/>
          </a:prstGeom>
          <a:noFill/>
          <a:ln/>
        </p:spPr>
        <p:txBody>
          <a:bodyPr wrap="square" lIns="0" tIns="0" rIns="0" bIns="0" rtlCol="0" anchor="ctr">
            <a:normAutofit/>
          </a:bodyPr>
          <a:lstStyle/>
          <a:p>
            <a:pPr algn="l" indent="0" marL="0">
              <a:buNone/>
            </a:pPr>
            <a:r>
              <a:rPr lang="en-US" sz="860" b="1" dirty="0">
                <a:solidFill>
                  <a:srgbClr val="42566D"/>
                </a:solidFill>
                <a:latin typeface="Aptos" pitchFamily="34" charset="0"/>
                <a:ea typeface="Aptos" pitchFamily="34" charset="-122"/>
                <a:cs typeface="Aptos" pitchFamily="34" charset="-120"/>
              </a:rPr>
              <a:t>Source-linked events + entity graph + decision workflows</a:t>
            </a:r>
            <a:endParaRPr lang="en-US" sz="860" dirty="0"/>
          </a:p>
        </p:txBody>
      </p:sp>
      <p:sp>
        <p:nvSpPr>
          <p:cNvPr id="29" name="Text 27"/>
          <p:cNvSpPr/>
          <p:nvPr/>
        </p:nvSpPr>
        <p:spPr>
          <a:xfrm>
            <a:off x="4992624" y="4645152"/>
            <a:ext cx="2121408" cy="365760"/>
          </a:xfrm>
          <a:prstGeom prst="rect">
            <a:avLst/>
          </a:prstGeom>
          <a:noFill/>
          <a:ln/>
        </p:spPr>
        <p:txBody>
          <a:bodyPr wrap="square" lIns="0" tIns="0" rIns="0" bIns="0" rtlCol="0" anchor="ctr">
            <a:normAutofit/>
          </a:bodyPr>
          <a:lstStyle/>
          <a:p>
            <a:pPr algn="l" indent="0" marL="0">
              <a:buNone/>
            </a:pPr>
            <a:r>
              <a:rPr lang="en-US" sz="860" b="1" dirty="0">
                <a:solidFill>
                  <a:srgbClr val="42566D"/>
                </a:solidFill>
                <a:latin typeface="Aptos" pitchFamily="34" charset="0"/>
                <a:ea typeface="Aptos" pitchFamily="34" charset="-122"/>
                <a:cs typeface="Aptos" pitchFamily="34" charset="-120"/>
              </a:rPr>
              <a:t>Traceable facts, status history, missing-data prompts and independent ranking</a:t>
            </a:r>
            <a:endParaRPr lang="en-US" sz="860" dirty="0"/>
          </a:p>
        </p:txBody>
      </p:sp>
      <p:sp>
        <p:nvSpPr>
          <p:cNvPr id="30" name="Text 28"/>
          <p:cNvSpPr/>
          <p:nvPr/>
        </p:nvSpPr>
        <p:spPr>
          <a:xfrm>
            <a:off x="685800" y="5449824"/>
            <a:ext cx="10698480" cy="411480"/>
          </a:xfrm>
          <a:prstGeom prst="rect">
            <a:avLst/>
          </a:prstGeom>
          <a:noFill/>
          <a:ln/>
        </p:spPr>
        <p:txBody>
          <a:bodyPr wrap="square" lIns="0" tIns="0" rIns="0" bIns="0" rtlCol="0" anchor="ctr">
            <a:normAutofit/>
          </a:bodyPr>
          <a:lstStyle/>
          <a:p>
            <a:pPr algn="l" indent="0" marL="0">
              <a:buNone/>
            </a:pPr>
            <a:r>
              <a:rPr lang="en-US" sz="970" b="1" dirty="0">
                <a:solidFill>
                  <a:srgbClr val="17283F"/>
                </a:solidFill>
                <a:latin typeface="Aptos" pitchFamily="34" charset="0"/>
                <a:ea typeface="Aptos" pitchFamily="34" charset="-122"/>
                <a:cs typeface="Aptos" pitchFamily="34" charset="-120"/>
              </a:rPr>
              <a:t>Current direct-category examples (vendor-published positioning): Bamboo Reports, GCC Index, Sansovi GCC. Zinnov–Nasscom and JLL are essential primary market-intelligence sources—not just competitors.</a:t>
            </a:r>
            <a:endParaRPr lang="en-US" sz="970" dirty="0"/>
          </a:p>
        </p:txBody>
      </p:sp>
      <p:sp>
        <p:nvSpPr>
          <p:cNvPr id="31" name="Text 29"/>
          <p:cNvSpPr/>
          <p:nvPr/>
        </p:nvSpPr>
        <p:spPr>
          <a:xfrm>
            <a:off x="685800" y="5952744"/>
            <a:ext cx="10698480" cy="210312"/>
          </a:xfrm>
          <a:prstGeom prst="rect">
            <a:avLst/>
          </a:prstGeom>
          <a:noFill/>
          <a:ln/>
        </p:spPr>
        <p:txBody>
          <a:bodyPr wrap="square" lIns="0" tIns="0" rIns="0" bIns="0" rtlCol="0" anchor="ctr">
            <a:normAutofit/>
          </a:bodyPr>
          <a:lstStyle/>
          <a:p>
            <a:pPr algn="l" indent="0" marL="0">
              <a:buNone/>
            </a:pPr>
            <a:r>
              <a:rPr lang="en-US" sz="800" i="1" dirty="0">
                <a:solidFill>
                  <a:srgbClr val="718196"/>
                </a:solidFill>
                <a:latin typeface="Aptos" pitchFamily="34" charset="0"/>
                <a:ea typeface="Aptos" pitchFamily="34" charset="-122"/>
                <a:cs typeface="Aptos" pitchFamily="34" charset="-120"/>
              </a:rPr>
              <a:t>Sources: S1–S4 and S6–S8. Capability statements are based on public websites; this is not a feature-by-feature independent audit.</a:t>
            </a:r>
            <a:endParaRPr lang="en-US" sz="8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09 · HOW IT WORKS</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AI should reduce research work—not become the source of truth.</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Use automation where it is fast, deterministic controls where it matters, and human review for high-impact conflicts.</a:t>
            </a:r>
            <a:endParaRPr lang="en-US" sz="1120" dirty="0"/>
          </a:p>
        </p:txBody>
      </p:sp>
      <p:sp>
        <p:nvSpPr>
          <p:cNvPr id="5" name="Shape 3"/>
          <p:cNvSpPr/>
          <p:nvPr/>
        </p:nvSpPr>
        <p:spPr>
          <a:xfrm>
            <a:off x="667512" y="1874520"/>
            <a:ext cx="1993392" cy="2286000"/>
          </a:xfrm>
          <a:prstGeom prst="roundRect">
            <a:avLst>
              <a:gd name="adj" fmla="val 4587"/>
            </a:avLst>
          </a:prstGeom>
          <a:solidFill>
            <a:srgbClr val="FFFFFF"/>
          </a:solidFill>
          <a:ln w="8890">
            <a:solidFill>
              <a:srgbClr val="DEE6EC"/>
            </a:solidFill>
            <a:prstDash val="solid"/>
          </a:ln>
        </p:spPr>
      </p:sp>
      <p:sp>
        <p:nvSpPr>
          <p:cNvPr id="6" name="Shape 4"/>
          <p:cNvSpPr/>
          <p:nvPr/>
        </p:nvSpPr>
        <p:spPr>
          <a:xfrm>
            <a:off x="795528" y="2029968"/>
            <a:ext cx="393192" cy="237744"/>
          </a:xfrm>
          <a:prstGeom prst="roundRect">
            <a:avLst>
              <a:gd name="adj" fmla="val 38462"/>
            </a:avLst>
          </a:prstGeom>
          <a:solidFill>
            <a:srgbClr val="E2F7F3"/>
          </a:solidFill>
          <a:ln w="10160">
            <a:solidFill>
              <a:srgbClr val="E2F7F3">
                <a:alpha val="0"/>
              </a:srgbClr>
            </a:solidFill>
            <a:prstDash val="solid"/>
          </a:ln>
        </p:spPr>
      </p:sp>
      <p:sp>
        <p:nvSpPr>
          <p:cNvPr id="7" name="Text 5"/>
          <p:cNvSpPr/>
          <p:nvPr/>
        </p:nvSpPr>
        <p:spPr>
          <a:xfrm>
            <a:off x="859536" y="2048256"/>
            <a:ext cx="265176"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01</a:t>
            </a:r>
            <a:endParaRPr lang="en-US" sz="780" dirty="0"/>
          </a:p>
        </p:txBody>
      </p:sp>
      <p:sp>
        <p:nvSpPr>
          <p:cNvPr id="8" name="Text 6"/>
          <p:cNvSpPr/>
          <p:nvPr/>
        </p:nvSpPr>
        <p:spPr>
          <a:xfrm>
            <a:off x="795528" y="2450592"/>
            <a:ext cx="1737360" cy="201168"/>
          </a:xfrm>
          <a:prstGeom prst="rect">
            <a:avLst/>
          </a:prstGeom>
          <a:noFill/>
          <a:ln/>
        </p:spPr>
        <p:txBody>
          <a:bodyPr wrap="square" lIns="0" tIns="0" rIns="0" bIns="0" rtlCol="0" anchor="ctr">
            <a:normAutofit/>
          </a:bodyPr>
          <a:lstStyle/>
          <a:p>
            <a:pPr algn="l" indent="0" marL="0">
              <a:buNone/>
            </a:pPr>
            <a:r>
              <a:rPr lang="en-US" sz="950" b="1" spc="50" kern="0" dirty="0">
                <a:solidFill>
                  <a:srgbClr val="17283F"/>
                </a:solidFill>
                <a:latin typeface="Aptos" pitchFamily="34" charset="0"/>
                <a:ea typeface="Aptos" pitchFamily="34" charset="-122"/>
                <a:cs typeface="Aptos" pitchFamily="34" charset="-120"/>
              </a:rPr>
              <a:t>INGEST</a:t>
            </a:r>
            <a:endParaRPr lang="en-US" sz="950" dirty="0"/>
          </a:p>
        </p:txBody>
      </p:sp>
      <p:sp>
        <p:nvSpPr>
          <p:cNvPr id="9" name="Text 7"/>
          <p:cNvSpPr/>
          <p:nvPr/>
        </p:nvSpPr>
        <p:spPr>
          <a:xfrm>
            <a:off x="795528" y="2788920"/>
            <a:ext cx="1755648" cy="822960"/>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Press releases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Government portals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Public reports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Provider pages</a:t>
            </a:r>
            <a:endParaRPr lang="en-US" sz="1000" dirty="0"/>
          </a:p>
        </p:txBody>
      </p:sp>
      <p:sp>
        <p:nvSpPr>
          <p:cNvPr id="10" name="Text 8"/>
          <p:cNvSpPr/>
          <p:nvPr/>
        </p:nvSpPr>
        <p:spPr>
          <a:xfrm>
            <a:off x="795528" y="3840480"/>
            <a:ext cx="1755648" cy="182880"/>
          </a:xfrm>
          <a:prstGeom prst="rect">
            <a:avLst/>
          </a:prstGeom>
          <a:noFill/>
          <a:ln/>
        </p:spPr>
        <p:txBody>
          <a:bodyPr wrap="square" lIns="0" tIns="0" rIns="0" bIns="0" rtlCol="0" anchor="ctr">
            <a:normAutofit/>
          </a:bodyPr>
          <a:lstStyle/>
          <a:p>
            <a:pPr algn="l" indent="0" marL="0">
              <a:buNone/>
            </a:pPr>
            <a:r>
              <a:rPr lang="en-US" sz="780" b="1" dirty="0">
                <a:solidFill>
                  <a:srgbClr val="718196"/>
                </a:solidFill>
                <a:latin typeface="Aptos" pitchFamily="34" charset="0"/>
                <a:ea typeface="Aptos" pitchFamily="34" charset="-122"/>
                <a:cs typeface="Aptos" pitchFamily="34" charset="-120"/>
              </a:rPr>
              <a:t>Connectors + scheduled fetch</a:t>
            </a:r>
            <a:endParaRPr lang="en-US" sz="780" dirty="0"/>
          </a:p>
        </p:txBody>
      </p:sp>
      <p:sp>
        <p:nvSpPr>
          <p:cNvPr id="11" name="Shape 9"/>
          <p:cNvSpPr/>
          <p:nvPr/>
        </p:nvSpPr>
        <p:spPr>
          <a:xfrm>
            <a:off x="2697480" y="2953512"/>
            <a:ext cx="91440" cy="0"/>
          </a:xfrm>
          <a:prstGeom prst="line">
            <a:avLst/>
          </a:prstGeom>
          <a:noFill/>
          <a:ln w="15240">
            <a:solidFill>
              <a:srgbClr val="00A994"/>
            </a:solidFill>
            <a:prstDash val="solid"/>
            <a:headEnd type="none"/>
            <a:tailEnd type="none"/>
          </a:ln>
        </p:spPr>
      </p:sp>
      <p:sp>
        <p:nvSpPr>
          <p:cNvPr id="12" name="Text 10"/>
          <p:cNvSpPr/>
          <p:nvPr/>
        </p:nvSpPr>
        <p:spPr>
          <a:xfrm>
            <a:off x="2697480" y="277063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0A994"/>
                </a:solidFill>
                <a:latin typeface="Aptos" pitchFamily="34" charset="0"/>
                <a:ea typeface="Aptos" pitchFamily="34" charset="-122"/>
                <a:cs typeface="Aptos" pitchFamily="34" charset="-120"/>
              </a:rPr>
              <a:t>›</a:t>
            </a:r>
            <a:endParaRPr lang="en-US" sz="2000" dirty="0"/>
          </a:p>
        </p:txBody>
      </p:sp>
      <p:sp>
        <p:nvSpPr>
          <p:cNvPr id="13" name="Shape 11"/>
          <p:cNvSpPr/>
          <p:nvPr/>
        </p:nvSpPr>
        <p:spPr>
          <a:xfrm>
            <a:off x="2862072" y="1874520"/>
            <a:ext cx="1993392" cy="2286000"/>
          </a:xfrm>
          <a:prstGeom prst="roundRect">
            <a:avLst>
              <a:gd name="adj" fmla="val 4587"/>
            </a:avLst>
          </a:prstGeom>
          <a:solidFill>
            <a:srgbClr val="FFFFFF"/>
          </a:solidFill>
          <a:ln w="8890">
            <a:solidFill>
              <a:srgbClr val="DEE6EC"/>
            </a:solidFill>
            <a:prstDash val="solid"/>
          </a:ln>
        </p:spPr>
      </p:sp>
      <p:sp>
        <p:nvSpPr>
          <p:cNvPr id="14" name="Shape 12"/>
          <p:cNvSpPr/>
          <p:nvPr/>
        </p:nvSpPr>
        <p:spPr>
          <a:xfrm>
            <a:off x="2990088" y="2029968"/>
            <a:ext cx="393192" cy="237744"/>
          </a:xfrm>
          <a:prstGeom prst="roundRect">
            <a:avLst>
              <a:gd name="adj" fmla="val 38462"/>
            </a:avLst>
          </a:prstGeom>
          <a:solidFill>
            <a:srgbClr val="E2F7F3"/>
          </a:solidFill>
          <a:ln w="10160">
            <a:solidFill>
              <a:srgbClr val="E2F7F3">
                <a:alpha val="0"/>
              </a:srgbClr>
            </a:solidFill>
            <a:prstDash val="solid"/>
          </a:ln>
        </p:spPr>
      </p:sp>
      <p:sp>
        <p:nvSpPr>
          <p:cNvPr id="15" name="Text 13"/>
          <p:cNvSpPr/>
          <p:nvPr/>
        </p:nvSpPr>
        <p:spPr>
          <a:xfrm>
            <a:off x="3054096" y="2048256"/>
            <a:ext cx="265176"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02</a:t>
            </a:r>
            <a:endParaRPr lang="en-US" sz="780" dirty="0"/>
          </a:p>
        </p:txBody>
      </p:sp>
      <p:sp>
        <p:nvSpPr>
          <p:cNvPr id="16" name="Text 14"/>
          <p:cNvSpPr/>
          <p:nvPr/>
        </p:nvSpPr>
        <p:spPr>
          <a:xfrm>
            <a:off x="2990088" y="2450592"/>
            <a:ext cx="1737360" cy="201168"/>
          </a:xfrm>
          <a:prstGeom prst="rect">
            <a:avLst/>
          </a:prstGeom>
          <a:noFill/>
          <a:ln/>
        </p:spPr>
        <p:txBody>
          <a:bodyPr wrap="square" lIns="0" tIns="0" rIns="0" bIns="0" rtlCol="0" anchor="ctr">
            <a:normAutofit/>
          </a:bodyPr>
          <a:lstStyle/>
          <a:p>
            <a:pPr algn="l" indent="0" marL="0">
              <a:buNone/>
            </a:pPr>
            <a:r>
              <a:rPr lang="en-US" sz="950" b="1" spc="50" kern="0" dirty="0">
                <a:solidFill>
                  <a:srgbClr val="17283F"/>
                </a:solidFill>
                <a:latin typeface="Aptos" pitchFamily="34" charset="0"/>
                <a:ea typeface="Aptos" pitchFamily="34" charset="-122"/>
                <a:cs typeface="Aptos" pitchFamily="34" charset="-120"/>
              </a:rPr>
              <a:t>EXTRACT</a:t>
            </a:r>
            <a:endParaRPr lang="en-US" sz="950" dirty="0"/>
          </a:p>
        </p:txBody>
      </p:sp>
      <p:sp>
        <p:nvSpPr>
          <p:cNvPr id="17" name="Text 15"/>
          <p:cNvSpPr/>
          <p:nvPr/>
        </p:nvSpPr>
        <p:spPr>
          <a:xfrm>
            <a:off x="2990088" y="2788920"/>
            <a:ext cx="1755648" cy="822960"/>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Company / alias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City / unit / sector</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Event / timing</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Scale / quoted passage</a:t>
            </a:r>
            <a:endParaRPr lang="en-US" sz="1000" dirty="0"/>
          </a:p>
        </p:txBody>
      </p:sp>
      <p:sp>
        <p:nvSpPr>
          <p:cNvPr id="18" name="Text 16"/>
          <p:cNvSpPr/>
          <p:nvPr/>
        </p:nvSpPr>
        <p:spPr>
          <a:xfrm>
            <a:off x="2990088" y="3840480"/>
            <a:ext cx="1755648" cy="182880"/>
          </a:xfrm>
          <a:prstGeom prst="rect">
            <a:avLst/>
          </a:prstGeom>
          <a:noFill/>
          <a:ln/>
        </p:spPr>
        <p:txBody>
          <a:bodyPr wrap="square" lIns="0" tIns="0" rIns="0" bIns="0" rtlCol="0" anchor="ctr">
            <a:normAutofit/>
          </a:bodyPr>
          <a:lstStyle/>
          <a:p>
            <a:pPr algn="l" indent="0" marL="0">
              <a:buNone/>
            </a:pPr>
            <a:r>
              <a:rPr lang="en-US" sz="780" b="1" dirty="0">
                <a:solidFill>
                  <a:srgbClr val="718196"/>
                </a:solidFill>
                <a:latin typeface="Aptos" pitchFamily="34" charset="0"/>
                <a:ea typeface="Aptos" pitchFamily="34" charset="-122"/>
                <a:cs typeface="Aptos" pitchFamily="34" charset="-120"/>
              </a:rPr>
              <a:t>LLM schema extraction</a:t>
            </a:r>
            <a:endParaRPr lang="en-US" sz="780" dirty="0"/>
          </a:p>
        </p:txBody>
      </p:sp>
      <p:sp>
        <p:nvSpPr>
          <p:cNvPr id="19" name="Shape 17"/>
          <p:cNvSpPr/>
          <p:nvPr/>
        </p:nvSpPr>
        <p:spPr>
          <a:xfrm>
            <a:off x="4892040" y="2953512"/>
            <a:ext cx="91440" cy="0"/>
          </a:xfrm>
          <a:prstGeom prst="line">
            <a:avLst/>
          </a:prstGeom>
          <a:noFill/>
          <a:ln w="15240">
            <a:solidFill>
              <a:srgbClr val="00A994"/>
            </a:solidFill>
            <a:prstDash val="solid"/>
            <a:headEnd type="none"/>
            <a:tailEnd type="none"/>
          </a:ln>
        </p:spPr>
      </p:sp>
      <p:sp>
        <p:nvSpPr>
          <p:cNvPr id="20" name="Text 18"/>
          <p:cNvSpPr/>
          <p:nvPr/>
        </p:nvSpPr>
        <p:spPr>
          <a:xfrm>
            <a:off x="4892040" y="277063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0A994"/>
                </a:solidFill>
                <a:latin typeface="Aptos" pitchFamily="34" charset="0"/>
                <a:ea typeface="Aptos" pitchFamily="34" charset="-122"/>
                <a:cs typeface="Aptos" pitchFamily="34" charset="-120"/>
              </a:rPr>
              <a:t>›</a:t>
            </a:r>
            <a:endParaRPr lang="en-US" sz="2000" dirty="0"/>
          </a:p>
        </p:txBody>
      </p:sp>
      <p:sp>
        <p:nvSpPr>
          <p:cNvPr id="21" name="Shape 19"/>
          <p:cNvSpPr/>
          <p:nvPr/>
        </p:nvSpPr>
        <p:spPr>
          <a:xfrm>
            <a:off x="5056632" y="1874520"/>
            <a:ext cx="1993392" cy="2286000"/>
          </a:xfrm>
          <a:prstGeom prst="roundRect">
            <a:avLst>
              <a:gd name="adj" fmla="val 4587"/>
            </a:avLst>
          </a:prstGeom>
          <a:solidFill>
            <a:srgbClr val="FFFFFF"/>
          </a:solidFill>
          <a:ln w="8890">
            <a:solidFill>
              <a:srgbClr val="DEE6EC"/>
            </a:solidFill>
            <a:prstDash val="solid"/>
          </a:ln>
        </p:spPr>
      </p:sp>
      <p:sp>
        <p:nvSpPr>
          <p:cNvPr id="22" name="Shape 20"/>
          <p:cNvSpPr/>
          <p:nvPr/>
        </p:nvSpPr>
        <p:spPr>
          <a:xfrm>
            <a:off x="5184648" y="2029968"/>
            <a:ext cx="393192" cy="237744"/>
          </a:xfrm>
          <a:prstGeom prst="roundRect">
            <a:avLst>
              <a:gd name="adj" fmla="val 38462"/>
            </a:avLst>
          </a:prstGeom>
          <a:solidFill>
            <a:srgbClr val="E2F7F3"/>
          </a:solidFill>
          <a:ln w="10160">
            <a:solidFill>
              <a:srgbClr val="E2F7F3">
                <a:alpha val="0"/>
              </a:srgbClr>
            </a:solidFill>
            <a:prstDash val="solid"/>
          </a:ln>
        </p:spPr>
      </p:sp>
      <p:sp>
        <p:nvSpPr>
          <p:cNvPr id="23" name="Text 21"/>
          <p:cNvSpPr/>
          <p:nvPr/>
        </p:nvSpPr>
        <p:spPr>
          <a:xfrm>
            <a:off x="5248656" y="2048256"/>
            <a:ext cx="265176"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03</a:t>
            </a:r>
            <a:endParaRPr lang="en-US" sz="780" dirty="0"/>
          </a:p>
        </p:txBody>
      </p:sp>
      <p:sp>
        <p:nvSpPr>
          <p:cNvPr id="24" name="Text 22"/>
          <p:cNvSpPr/>
          <p:nvPr/>
        </p:nvSpPr>
        <p:spPr>
          <a:xfrm>
            <a:off x="5184648" y="2450592"/>
            <a:ext cx="1737360" cy="201168"/>
          </a:xfrm>
          <a:prstGeom prst="rect">
            <a:avLst/>
          </a:prstGeom>
          <a:noFill/>
          <a:ln/>
        </p:spPr>
        <p:txBody>
          <a:bodyPr wrap="square" lIns="0" tIns="0" rIns="0" bIns="0" rtlCol="0" anchor="ctr">
            <a:normAutofit/>
          </a:bodyPr>
          <a:lstStyle/>
          <a:p>
            <a:pPr algn="l" indent="0" marL="0">
              <a:buNone/>
            </a:pPr>
            <a:r>
              <a:rPr lang="en-US" sz="950" b="1" spc="50" kern="0" dirty="0">
                <a:solidFill>
                  <a:srgbClr val="17283F"/>
                </a:solidFill>
                <a:latin typeface="Aptos" pitchFamily="34" charset="0"/>
                <a:ea typeface="Aptos" pitchFamily="34" charset="-122"/>
                <a:cs typeface="Aptos" pitchFamily="34" charset="-120"/>
              </a:rPr>
              <a:t>RESOLVE</a:t>
            </a:r>
            <a:endParaRPr lang="en-US" sz="950" dirty="0"/>
          </a:p>
        </p:txBody>
      </p:sp>
      <p:sp>
        <p:nvSpPr>
          <p:cNvPr id="25" name="Text 23"/>
          <p:cNvSpPr/>
          <p:nvPr/>
        </p:nvSpPr>
        <p:spPr>
          <a:xfrm>
            <a:off x="5184648" y="2788920"/>
            <a:ext cx="1755648" cy="822960"/>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Entity linking</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Duplicate detection</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Time-series updates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Conflict flags</a:t>
            </a:r>
            <a:endParaRPr lang="en-US" sz="1000" dirty="0"/>
          </a:p>
        </p:txBody>
      </p:sp>
      <p:sp>
        <p:nvSpPr>
          <p:cNvPr id="26" name="Text 24"/>
          <p:cNvSpPr/>
          <p:nvPr/>
        </p:nvSpPr>
        <p:spPr>
          <a:xfrm>
            <a:off x="5184648" y="3840480"/>
            <a:ext cx="1755648" cy="182880"/>
          </a:xfrm>
          <a:prstGeom prst="rect">
            <a:avLst/>
          </a:prstGeom>
          <a:noFill/>
          <a:ln/>
        </p:spPr>
        <p:txBody>
          <a:bodyPr wrap="square" lIns="0" tIns="0" rIns="0" bIns="0" rtlCol="0" anchor="ctr">
            <a:normAutofit/>
          </a:bodyPr>
          <a:lstStyle/>
          <a:p>
            <a:pPr algn="l" indent="0" marL="0">
              <a:buNone/>
            </a:pPr>
            <a:r>
              <a:rPr lang="en-US" sz="780" b="1" dirty="0">
                <a:solidFill>
                  <a:srgbClr val="718196"/>
                </a:solidFill>
                <a:latin typeface="Aptos" pitchFamily="34" charset="0"/>
                <a:ea typeface="Aptos" pitchFamily="34" charset="-122"/>
                <a:cs typeface="Aptos" pitchFamily="34" charset="-120"/>
              </a:rPr>
              <a:t>Rules + graph + review</a:t>
            </a:r>
            <a:endParaRPr lang="en-US" sz="780" dirty="0"/>
          </a:p>
        </p:txBody>
      </p:sp>
      <p:sp>
        <p:nvSpPr>
          <p:cNvPr id="27" name="Shape 25"/>
          <p:cNvSpPr/>
          <p:nvPr/>
        </p:nvSpPr>
        <p:spPr>
          <a:xfrm>
            <a:off x="7086600" y="2953512"/>
            <a:ext cx="91440" cy="0"/>
          </a:xfrm>
          <a:prstGeom prst="line">
            <a:avLst/>
          </a:prstGeom>
          <a:noFill/>
          <a:ln w="15240">
            <a:solidFill>
              <a:srgbClr val="00A994"/>
            </a:solidFill>
            <a:prstDash val="solid"/>
            <a:headEnd type="none"/>
            <a:tailEnd type="none"/>
          </a:ln>
        </p:spPr>
      </p:sp>
      <p:sp>
        <p:nvSpPr>
          <p:cNvPr id="28" name="Text 26"/>
          <p:cNvSpPr/>
          <p:nvPr/>
        </p:nvSpPr>
        <p:spPr>
          <a:xfrm>
            <a:off x="7086600" y="277063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0A994"/>
                </a:solidFill>
                <a:latin typeface="Aptos" pitchFamily="34" charset="0"/>
                <a:ea typeface="Aptos" pitchFamily="34" charset="-122"/>
                <a:cs typeface="Aptos" pitchFamily="34" charset="-120"/>
              </a:rPr>
              <a:t>›</a:t>
            </a:r>
            <a:endParaRPr lang="en-US" sz="2000" dirty="0"/>
          </a:p>
        </p:txBody>
      </p:sp>
      <p:sp>
        <p:nvSpPr>
          <p:cNvPr id="29" name="Shape 27"/>
          <p:cNvSpPr/>
          <p:nvPr/>
        </p:nvSpPr>
        <p:spPr>
          <a:xfrm>
            <a:off x="7251192" y="1874520"/>
            <a:ext cx="1993392" cy="2286000"/>
          </a:xfrm>
          <a:prstGeom prst="roundRect">
            <a:avLst>
              <a:gd name="adj" fmla="val 4587"/>
            </a:avLst>
          </a:prstGeom>
          <a:solidFill>
            <a:srgbClr val="101D31"/>
          </a:solidFill>
          <a:ln w="8890">
            <a:solidFill>
              <a:srgbClr val="101D31"/>
            </a:solidFill>
            <a:prstDash val="solid"/>
          </a:ln>
        </p:spPr>
      </p:sp>
      <p:sp>
        <p:nvSpPr>
          <p:cNvPr id="30" name="Shape 28"/>
          <p:cNvSpPr/>
          <p:nvPr/>
        </p:nvSpPr>
        <p:spPr>
          <a:xfrm>
            <a:off x="7379208" y="2029968"/>
            <a:ext cx="393192" cy="237744"/>
          </a:xfrm>
          <a:prstGeom prst="roundRect">
            <a:avLst>
              <a:gd name="adj" fmla="val 38462"/>
            </a:avLst>
          </a:prstGeom>
          <a:solidFill>
            <a:srgbClr val="2F5266"/>
          </a:solidFill>
          <a:ln w="10160">
            <a:solidFill>
              <a:srgbClr val="2F5266">
                <a:alpha val="0"/>
              </a:srgbClr>
            </a:solidFill>
            <a:prstDash val="solid"/>
          </a:ln>
        </p:spPr>
      </p:sp>
      <p:sp>
        <p:nvSpPr>
          <p:cNvPr id="31" name="Text 29"/>
          <p:cNvSpPr/>
          <p:nvPr/>
        </p:nvSpPr>
        <p:spPr>
          <a:xfrm>
            <a:off x="7443216" y="2048256"/>
            <a:ext cx="265176" cy="173736"/>
          </a:xfrm>
          <a:prstGeom prst="rect">
            <a:avLst/>
          </a:prstGeom>
          <a:noFill/>
          <a:ln/>
        </p:spPr>
        <p:txBody>
          <a:bodyPr wrap="square" lIns="0" tIns="0" rIns="0" bIns="0" rtlCol="0" anchor="ctr">
            <a:normAutofit/>
          </a:bodyPr>
          <a:lstStyle/>
          <a:p>
            <a:pPr algn="ctr" indent="0" marL="0">
              <a:buNone/>
            </a:pPr>
            <a:r>
              <a:rPr lang="en-US" sz="780" b="1" dirty="0">
                <a:solidFill>
                  <a:srgbClr val="9AF1E0"/>
                </a:solidFill>
                <a:latin typeface="Aptos" pitchFamily="34" charset="0"/>
                <a:ea typeface="Aptos" pitchFamily="34" charset="-122"/>
                <a:cs typeface="Aptos" pitchFamily="34" charset="-120"/>
              </a:rPr>
              <a:t>04</a:t>
            </a:r>
            <a:endParaRPr lang="en-US" sz="780" dirty="0"/>
          </a:p>
        </p:txBody>
      </p:sp>
      <p:sp>
        <p:nvSpPr>
          <p:cNvPr id="32" name="Text 30"/>
          <p:cNvSpPr/>
          <p:nvPr/>
        </p:nvSpPr>
        <p:spPr>
          <a:xfrm>
            <a:off x="7379208" y="2450592"/>
            <a:ext cx="1737360" cy="201168"/>
          </a:xfrm>
          <a:prstGeom prst="rect">
            <a:avLst/>
          </a:prstGeom>
          <a:noFill/>
          <a:ln/>
        </p:spPr>
        <p:txBody>
          <a:bodyPr wrap="square" lIns="0" tIns="0" rIns="0" bIns="0" rtlCol="0" anchor="ctr">
            <a:normAutofit/>
          </a:bodyPr>
          <a:lstStyle/>
          <a:p>
            <a:pPr algn="l" indent="0" marL="0">
              <a:buNone/>
            </a:pPr>
            <a:r>
              <a:rPr lang="en-US" sz="950" b="1" spc="50" kern="0" dirty="0">
                <a:solidFill>
                  <a:srgbClr val="FFFFFF"/>
                </a:solidFill>
                <a:latin typeface="Aptos" pitchFamily="34" charset="0"/>
                <a:ea typeface="Aptos" pitchFamily="34" charset="-122"/>
                <a:cs typeface="Aptos" pitchFamily="34" charset="-120"/>
              </a:rPr>
              <a:t>EVIDENCE GRAPH</a:t>
            </a:r>
            <a:endParaRPr lang="en-US" sz="950" dirty="0"/>
          </a:p>
        </p:txBody>
      </p:sp>
      <p:sp>
        <p:nvSpPr>
          <p:cNvPr id="33" name="Text 31"/>
          <p:cNvSpPr/>
          <p:nvPr/>
        </p:nvSpPr>
        <p:spPr>
          <a:xfrm>
            <a:off x="7379208" y="2788920"/>
            <a:ext cx="1755648" cy="822960"/>
          </a:xfrm>
          <a:prstGeom prst="rect">
            <a:avLst/>
          </a:prstGeom>
          <a:noFill/>
          <a:ln/>
        </p:spPr>
        <p:txBody>
          <a:bodyPr wrap="square" lIns="0" tIns="0" rIns="0" bIns="0" rtlCol="0" anchor="t">
            <a:normAutofit/>
          </a:bodyPr>
          <a:lstStyle/>
          <a:p>
            <a:pPr algn="l" indent="0" marL="0">
              <a:buNone/>
            </a:pPr>
            <a:r>
              <a:rPr lang="en-US" sz="1000" dirty="0">
                <a:solidFill>
                  <a:srgbClr val="DAE7EE"/>
                </a:solidFill>
                <a:latin typeface="Aptos" pitchFamily="34" charset="0"/>
                <a:ea typeface="Aptos" pitchFamily="34" charset="-122"/>
                <a:cs typeface="Aptos" pitchFamily="34" charset="-120"/>
              </a:rPr>
              <a:t>Canonical entity IDs</a:t>
            </a:r>
            <a:endParaRPr lang="en-US" sz="1000" dirty="0"/>
          </a:p>
          <a:p>
            <a:pPr algn="l" indent="0" marL="0">
              <a:buNone/>
            </a:pPr>
            <a:r>
              <a:rPr lang="en-US" sz="1000" dirty="0">
                <a:solidFill>
                  <a:srgbClr val="DAE7EE"/>
                </a:solidFill>
                <a:latin typeface="Aptos" pitchFamily="34" charset="0"/>
                <a:ea typeface="Aptos" pitchFamily="34" charset="-122"/>
                <a:cs typeface="Aptos" pitchFamily="34" charset="-120"/>
              </a:rPr>
              <a:t>Source lineage</a:t>
            </a:r>
            <a:endParaRPr lang="en-US" sz="1000" dirty="0"/>
          </a:p>
          <a:p>
            <a:pPr algn="l" indent="0" marL="0">
              <a:buNone/>
            </a:pPr>
            <a:r>
              <a:rPr lang="en-US" sz="1000" dirty="0">
                <a:solidFill>
                  <a:srgbClr val="DAE7EE"/>
                </a:solidFill>
                <a:latin typeface="Aptos" pitchFamily="34" charset="0"/>
                <a:ea typeface="Aptos" pitchFamily="34" charset="-122"/>
                <a:cs typeface="Aptos" pitchFamily="34" charset="-120"/>
              </a:rPr>
              <a:t>Confidence rationale</a:t>
            </a:r>
            <a:endParaRPr lang="en-US" sz="1000" dirty="0"/>
          </a:p>
          <a:p>
            <a:pPr algn="l" indent="0" marL="0">
              <a:buNone/>
            </a:pPr>
            <a:r>
              <a:rPr lang="en-US" sz="1000" dirty="0">
                <a:solidFill>
                  <a:srgbClr val="DAE7EE"/>
                </a:solidFill>
                <a:latin typeface="Aptos" pitchFamily="34" charset="0"/>
                <a:ea typeface="Aptos" pitchFamily="34" charset="-122"/>
                <a:cs typeface="Aptos" pitchFamily="34" charset="-120"/>
              </a:rPr>
              <a:t>Version history</a:t>
            </a:r>
            <a:endParaRPr lang="en-US" sz="1000" dirty="0"/>
          </a:p>
        </p:txBody>
      </p:sp>
      <p:sp>
        <p:nvSpPr>
          <p:cNvPr id="34" name="Text 32"/>
          <p:cNvSpPr/>
          <p:nvPr/>
        </p:nvSpPr>
        <p:spPr>
          <a:xfrm>
            <a:off x="7379208" y="3840480"/>
            <a:ext cx="1755648" cy="182880"/>
          </a:xfrm>
          <a:prstGeom prst="rect">
            <a:avLst/>
          </a:prstGeom>
          <a:noFill/>
          <a:ln/>
        </p:spPr>
        <p:txBody>
          <a:bodyPr wrap="square" lIns="0" tIns="0" rIns="0" bIns="0" rtlCol="0" anchor="ctr">
            <a:normAutofit/>
          </a:bodyPr>
          <a:lstStyle/>
          <a:p>
            <a:pPr algn="l" indent="0" marL="0">
              <a:buNone/>
            </a:pPr>
            <a:r>
              <a:rPr lang="en-US" sz="780" b="1" dirty="0">
                <a:solidFill>
                  <a:srgbClr val="6DDBCA"/>
                </a:solidFill>
                <a:latin typeface="Aptos" pitchFamily="34" charset="0"/>
                <a:ea typeface="Aptos" pitchFamily="34" charset="-122"/>
                <a:cs typeface="Aptos" pitchFamily="34" charset="-120"/>
              </a:rPr>
              <a:t>Structured data layer</a:t>
            </a:r>
            <a:endParaRPr lang="en-US" sz="780" dirty="0"/>
          </a:p>
        </p:txBody>
      </p:sp>
      <p:sp>
        <p:nvSpPr>
          <p:cNvPr id="35" name="Shape 33"/>
          <p:cNvSpPr/>
          <p:nvPr/>
        </p:nvSpPr>
        <p:spPr>
          <a:xfrm>
            <a:off x="9281160" y="2953512"/>
            <a:ext cx="91440" cy="0"/>
          </a:xfrm>
          <a:prstGeom prst="line">
            <a:avLst/>
          </a:prstGeom>
          <a:noFill/>
          <a:ln w="15240">
            <a:solidFill>
              <a:srgbClr val="00A994"/>
            </a:solidFill>
            <a:prstDash val="solid"/>
            <a:headEnd type="none"/>
            <a:tailEnd type="none"/>
          </a:ln>
        </p:spPr>
      </p:sp>
      <p:sp>
        <p:nvSpPr>
          <p:cNvPr id="36" name="Text 34"/>
          <p:cNvSpPr/>
          <p:nvPr/>
        </p:nvSpPr>
        <p:spPr>
          <a:xfrm>
            <a:off x="9281160" y="2770632"/>
            <a:ext cx="164592" cy="256032"/>
          </a:xfrm>
          <a:prstGeom prst="rect">
            <a:avLst/>
          </a:prstGeom>
          <a:noFill/>
          <a:ln/>
        </p:spPr>
        <p:txBody>
          <a:bodyPr wrap="square" lIns="0" tIns="0" rIns="0" bIns="0" rtlCol="0" anchor="ctr">
            <a:normAutofit/>
          </a:bodyPr>
          <a:lstStyle/>
          <a:p>
            <a:pPr algn="ctr" indent="0" marL="0">
              <a:buNone/>
            </a:pPr>
            <a:r>
              <a:rPr lang="en-US" sz="2000" b="1" dirty="0">
                <a:solidFill>
                  <a:srgbClr val="00A994"/>
                </a:solidFill>
                <a:latin typeface="Aptos" pitchFamily="34" charset="0"/>
                <a:ea typeface="Aptos" pitchFamily="34" charset="-122"/>
                <a:cs typeface="Aptos" pitchFamily="34" charset="-120"/>
              </a:rPr>
              <a:t>›</a:t>
            </a:r>
            <a:endParaRPr lang="en-US" sz="2000" dirty="0"/>
          </a:p>
        </p:txBody>
      </p:sp>
      <p:sp>
        <p:nvSpPr>
          <p:cNvPr id="37" name="Shape 35"/>
          <p:cNvSpPr/>
          <p:nvPr/>
        </p:nvSpPr>
        <p:spPr>
          <a:xfrm>
            <a:off x="9445752" y="1874520"/>
            <a:ext cx="1993392" cy="2286000"/>
          </a:xfrm>
          <a:prstGeom prst="roundRect">
            <a:avLst>
              <a:gd name="adj" fmla="val 4587"/>
            </a:avLst>
          </a:prstGeom>
          <a:solidFill>
            <a:srgbClr val="FFFFFF"/>
          </a:solidFill>
          <a:ln w="8890">
            <a:solidFill>
              <a:srgbClr val="DEE6EC"/>
            </a:solidFill>
            <a:prstDash val="solid"/>
          </a:ln>
        </p:spPr>
      </p:sp>
      <p:sp>
        <p:nvSpPr>
          <p:cNvPr id="38" name="Shape 36"/>
          <p:cNvSpPr/>
          <p:nvPr/>
        </p:nvSpPr>
        <p:spPr>
          <a:xfrm>
            <a:off x="9573768" y="2029968"/>
            <a:ext cx="393192" cy="237744"/>
          </a:xfrm>
          <a:prstGeom prst="roundRect">
            <a:avLst>
              <a:gd name="adj" fmla="val 38462"/>
            </a:avLst>
          </a:prstGeom>
          <a:solidFill>
            <a:srgbClr val="E2F7F3"/>
          </a:solidFill>
          <a:ln w="10160">
            <a:solidFill>
              <a:srgbClr val="E2F7F3">
                <a:alpha val="0"/>
              </a:srgbClr>
            </a:solidFill>
            <a:prstDash val="solid"/>
          </a:ln>
        </p:spPr>
      </p:sp>
      <p:sp>
        <p:nvSpPr>
          <p:cNvPr id="39" name="Text 37"/>
          <p:cNvSpPr/>
          <p:nvPr/>
        </p:nvSpPr>
        <p:spPr>
          <a:xfrm>
            <a:off x="9637776" y="2048256"/>
            <a:ext cx="265176"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05</a:t>
            </a:r>
            <a:endParaRPr lang="en-US" sz="780" dirty="0"/>
          </a:p>
        </p:txBody>
      </p:sp>
      <p:sp>
        <p:nvSpPr>
          <p:cNvPr id="40" name="Text 38"/>
          <p:cNvSpPr/>
          <p:nvPr/>
        </p:nvSpPr>
        <p:spPr>
          <a:xfrm>
            <a:off x="9573768" y="2450592"/>
            <a:ext cx="1737360" cy="201168"/>
          </a:xfrm>
          <a:prstGeom prst="rect">
            <a:avLst/>
          </a:prstGeom>
          <a:noFill/>
          <a:ln/>
        </p:spPr>
        <p:txBody>
          <a:bodyPr wrap="square" lIns="0" tIns="0" rIns="0" bIns="0" rtlCol="0" anchor="ctr">
            <a:normAutofit/>
          </a:bodyPr>
          <a:lstStyle/>
          <a:p>
            <a:pPr algn="l" indent="0" marL="0">
              <a:buNone/>
            </a:pPr>
            <a:r>
              <a:rPr lang="en-US" sz="950" b="1" spc="50" kern="0" dirty="0">
                <a:solidFill>
                  <a:srgbClr val="17283F"/>
                </a:solidFill>
                <a:latin typeface="Aptos" pitchFamily="34" charset="0"/>
                <a:ea typeface="Aptos" pitchFamily="34" charset="-122"/>
                <a:cs typeface="Aptos" pitchFamily="34" charset="-120"/>
              </a:rPr>
              <a:t>DELIVER</a:t>
            </a:r>
            <a:endParaRPr lang="en-US" sz="950" dirty="0"/>
          </a:p>
        </p:txBody>
      </p:sp>
      <p:sp>
        <p:nvSpPr>
          <p:cNvPr id="41" name="Text 39"/>
          <p:cNvSpPr/>
          <p:nvPr/>
        </p:nvSpPr>
        <p:spPr>
          <a:xfrm>
            <a:off x="9573768" y="2788920"/>
            <a:ext cx="1755648" cy="822960"/>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Signal feed</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City workbench</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AI research briefs</a:t>
            </a:r>
            <a:endParaRPr lang="en-US" sz="1000" dirty="0"/>
          </a:p>
          <a:p>
            <a:pPr algn="l" indent="0" marL="0">
              <a:buNone/>
            </a:pPr>
            <a:r>
              <a:rPr lang="en-US" sz="1000" dirty="0">
                <a:solidFill>
                  <a:srgbClr val="42566D"/>
                </a:solidFill>
                <a:latin typeface="Aptos" pitchFamily="34" charset="0"/>
                <a:ea typeface="Aptos" pitchFamily="34" charset="-122"/>
                <a:cs typeface="Aptos" pitchFamily="34" charset="-120"/>
              </a:rPr>
              <a:t>Provider dossiers</a:t>
            </a:r>
            <a:endParaRPr lang="en-US" sz="1000" dirty="0"/>
          </a:p>
        </p:txBody>
      </p:sp>
      <p:sp>
        <p:nvSpPr>
          <p:cNvPr id="42" name="Text 40"/>
          <p:cNvSpPr/>
          <p:nvPr/>
        </p:nvSpPr>
        <p:spPr>
          <a:xfrm>
            <a:off x="9573768" y="3840480"/>
            <a:ext cx="1755648" cy="182880"/>
          </a:xfrm>
          <a:prstGeom prst="rect">
            <a:avLst/>
          </a:prstGeom>
          <a:noFill/>
          <a:ln/>
        </p:spPr>
        <p:txBody>
          <a:bodyPr wrap="square" lIns="0" tIns="0" rIns="0" bIns="0" rtlCol="0" anchor="ctr">
            <a:normAutofit/>
          </a:bodyPr>
          <a:lstStyle/>
          <a:p>
            <a:pPr algn="l" indent="0" marL="0">
              <a:buNone/>
            </a:pPr>
            <a:r>
              <a:rPr lang="en-US" sz="780" b="1" dirty="0">
                <a:solidFill>
                  <a:srgbClr val="718196"/>
                </a:solidFill>
                <a:latin typeface="Aptos" pitchFamily="34" charset="0"/>
                <a:ea typeface="Aptos" pitchFamily="34" charset="-122"/>
                <a:cs typeface="Aptos" pitchFamily="34" charset="-120"/>
              </a:rPr>
              <a:t>Cited RAG + UX</a:t>
            </a:r>
            <a:endParaRPr lang="en-US" sz="780" dirty="0"/>
          </a:p>
        </p:txBody>
      </p:sp>
      <p:sp>
        <p:nvSpPr>
          <p:cNvPr id="43" name="Shape 41"/>
          <p:cNvSpPr/>
          <p:nvPr/>
        </p:nvSpPr>
        <p:spPr>
          <a:xfrm>
            <a:off x="667512" y="4553712"/>
            <a:ext cx="10972800" cy="1024128"/>
          </a:xfrm>
          <a:prstGeom prst="roundRect">
            <a:avLst>
              <a:gd name="adj" fmla="val 8929"/>
            </a:avLst>
          </a:prstGeom>
          <a:solidFill>
            <a:srgbClr val="FFF2D9"/>
          </a:solidFill>
          <a:ln w="8890">
            <a:solidFill>
              <a:srgbClr val="EFDDBB"/>
            </a:solidFill>
            <a:prstDash val="solid"/>
          </a:ln>
        </p:spPr>
      </p:sp>
      <p:sp>
        <p:nvSpPr>
          <p:cNvPr id="44" name="Text 42"/>
          <p:cNvSpPr/>
          <p:nvPr/>
        </p:nvSpPr>
        <p:spPr>
          <a:xfrm>
            <a:off x="896112" y="4745736"/>
            <a:ext cx="2148840" cy="182880"/>
          </a:xfrm>
          <a:prstGeom prst="rect">
            <a:avLst/>
          </a:prstGeom>
          <a:noFill/>
          <a:ln/>
        </p:spPr>
        <p:txBody>
          <a:bodyPr wrap="square" lIns="0" tIns="0" rIns="0" bIns="0" rtlCol="0" anchor="ctr">
            <a:normAutofit/>
          </a:bodyPr>
          <a:lstStyle/>
          <a:p>
            <a:pPr algn="l" indent="0" marL="0">
              <a:buNone/>
            </a:pPr>
            <a:r>
              <a:rPr lang="en-US" sz="850" b="1" spc="100" kern="0" dirty="0">
                <a:solidFill>
                  <a:srgbClr val="B87912"/>
                </a:solidFill>
                <a:latin typeface="Aptos" pitchFamily="34" charset="0"/>
                <a:ea typeface="Aptos" pitchFamily="34" charset="-122"/>
                <a:cs typeface="Aptos" pitchFamily="34" charset="-120"/>
              </a:rPr>
              <a:t>HUMAN-IN-THE-LOOP GATES</a:t>
            </a:r>
            <a:endParaRPr lang="en-US" sz="850" dirty="0"/>
          </a:p>
        </p:txBody>
      </p:sp>
      <p:sp>
        <p:nvSpPr>
          <p:cNvPr id="45" name="Text 43"/>
          <p:cNvSpPr/>
          <p:nvPr/>
        </p:nvSpPr>
        <p:spPr>
          <a:xfrm>
            <a:off x="3154680" y="4709160"/>
            <a:ext cx="8010144" cy="256032"/>
          </a:xfrm>
          <a:prstGeom prst="rect">
            <a:avLst/>
          </a:prstGeom>
          <a:noFill/>
          <a:ln/>
        </p:spPr>
        <p:txBody>
          <a:bodyPr wrap="square" lIns="0" tIns="0" rIns="0" bIns="0" rtlCol="0" anchor="ctr">
            <a:normAutofit/>
          </a:bodyPr>
          <a:lstStyle/>
          <a:p>
            <a:pPr algn="l" indent="0" marL="0">
              <a:buNone/>
            </a:pPr>
            <a:r>
              <a:rPr lang="en-US" sz="1130" b="1" dirty="0">
                <a:solidFill>
                  <a:srgbClr val="17283F"/>
                </a:solidFill>
                <a:latin typeface="Aptos" pitchFamily="34" charset="0"/>
                <a:ea typeface="Aptos" pitchFamily="34" charset="-122"/>
                <a:cs typeface="Aptos" pitchFamily="34" charset="-120"/>
              </a:rPr>
              <a:t>High-impact claims · low-confidence extraction · duplicate/alias conflicts · policy eligibility · provider outcome claims</a:t>
            </a:r>
            <a:endParaRPr lang="en-US" sz="1130" dirty="0"/>
          </a:p>
        </p:txBody>
      </p:sp>
      <p:sp>
        <p:nvSpPr>
          <p:cNvPr id="46" name="Text 44"/>
          <p:cNvSpPr/>
          <p:nvPr/>
        </p:nvSpPr>
        <p:spPr>
          <a:xfrm>
            <a:off x="905256" y="5129784"/>
            <a:ext cx="9875520" cy="201168"/>
          </a:xfrm>
          <a:prstGeom prst="rect">
            <a:avLst/>
          </a:prstGeom>
          <a:noFill/>
          <a:ln/>
        </p:spPr>
        <p:txBody>
          <a:bodyPr wrap="square" lIns="0" tIns="0" rIns="0" bIns="0" rtlCol="0" anchor="ctr">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AI returns candidate facts and summaries with source pointers. The database stores the source, status, reviewer and change record.</a:t>
            </a:r>
            <a:endParaRPr lang="en-US" sz="1000" dirty="0"/>
          </a:p>
        </p:txBody>
      </p:sp>
      <p:sp>
        <p:nvSpPr>
          <p:cNvPr id="47" name="Text 45"/>
          <p:cNvSpPr/>
          <p:nvPr/>
        </p:nvSpPr>
        <p:spPr>
          <a:xfrm>
            <a:off x="704088" y="5870448"/>
            <a:ext cx="10789920" cy="256032"/>
          </a:xfrm>
          <a:prstGeom prst="rect">
            <a:avLst/>
          </a:prstGeom>
          <a:noFill/>
          <a:ln/>
        </p:spPr>
        <p:txBody>
          <a:bodyPr wrap="square" lIns="0" tIns="0" rIns="0" bIns="0" rtlCol="0" anchor="ctr">
            <a:normAutofit/>
          </a:bodyPr>
          <a:lstStyle/>
          <a:p>
            <a:pPr algn="l" indent="0" marL="0">
              <a:buNone/>
            </a:pPr>
            <a:r>
              <a:rPr lang="en-US" sz="1120" b="1" dirty="0">
                <a:solidFill>
                  <a:srgbClr val="00A994"/>
                </a:solidFill>
                <a:latin typeface="Aptos" pitchFamily="34" charset="0"/>
                <a:ea typeface="Aptos" pitchFamily="34" charset="-122"/>
                <a:cs typeface="Aptos" pitchFamily="34" charset="-120"/>
              </a:rPr>
              <a:t>Core model: Company → Indian entity → GCC → unit/site → signal/event → source excerpt → reviewer / change history.</a:t>
            </a:r>
            <a:endParaRPr lang="en-US" sz="112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10 · BUSINESS MODEL</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Make trusted market data easy to discover; charge for work it replaces.</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Start with subscriptions tied to recurring workflow value. Add custom diligence and integrations only after the core graph is trusted.</a:t>
            </a:r>
            <a:endParaRPr lang="en-US" sz="1120" dirty="0"/>
          </a:p>
        </p:txBody>
      </p:sp>
      <p:sp>
        <p:nvSpPr>
          <p:cNvPr id="5" name="Shape 3"/>
          <p:cNvSpPr/>
          <p:nvPr/>
        </p:nvSpPr>
        <p:spPr>
          <a:xfrm>
            <a:off x="658368" y="1847088"/>
            <a:ext cx="3456432" cy="2953512"/>
          </a:xfrm>
          <a:prstGeom prst="roundRect">
            <a:avLst>
              <a:gd name="adj" fmla="val 3096"/>
            </a:avLst>
          </a:prstGeom>
          <a:solidFill>
            <a:srgbClr val="FFFFFF"/>
          </a:solidFill>
          <a:ln w="8890">
            <a:solidFill>
              <a:srgbClr val="DEE6EC"/>
            </a:solidFill>
            <a:prstDash val="solid"/>
          </a:ln>
        </p:spPr>
      </p:sp>
      <p:sp>
        <p:nvSpPr>
          <p:cNvPr id="6" name="Shape 4"/>
          <p:cNvSpPr/>
          <p:nvPr/>
        </p:nvSpPr>
        <p:spPr>
          <a:xfrm>
            <a:off x="832104" y="2029968"/>
            <a:ext cx="1371600" cy="237744"/>
          </a:xfrm>
          <a:prstGeom prst="roundRect">
            <a:avLst>
              <a:gd name="adj" fmla="val 38462"/>
            </a:avLst>
          </a:prstGeom>
          <a:solidFill>
            <a:srgbClr val="EAF0FF"/>
          </a:solidFill>
          <a:ln w="10160">
            <a:solidFill>
              <a:srgbClr val="EAF0FF">
                <a:alpha val="0"/>
              </a:srgbClr>
            </a:solidFill>
            <a:prstDash val="solid"/>
          </a:ln>
        </p:spPr>
      </p:sp>
      <p:sp>
        <p:nvSpPr>
          <p:cNvPr id="7" name="Text 5"/>
          <p:cNvSpPr/>
          <p:nvPr/>
        </p:nvSpPr>
        <p:spPr>
          <a:xfrm>
            <a:off x="896112" y="2048256"/>
            <a:ext cx="1243584" cy="173736"/>
          </a:xfrm>
          <a:prstGeom prst="rect">
            <a:avLst/>
          </a:prstGeom>
          <a:noFill/>
          <a:ln/>
        </p:spPr>
        <p:txBody>
          <a:bodyPr wrap="square" lIns="0" tIns="0" rIns="0" bIns="0" rtlCol="0" anchor="ctr">
            <a:normAutofit/>
          </a:bodyPr>
          <a:lstStyle/>
          <a:p>
            <a:pPr algn="ctr" indent="0" marL="0">
              <a:buNone/>
            </a:pPr>
            <a:r>
              <a:rPr lang="en-US" sz="780" b="1" dirty="0">
                <a:solidFill>
                  <a:srgbClr val="5B80D5"/>
                </a:solidFill>
                <a:latin typeface="Aptos" pitchFamily="34" charset="0"/>
                <a:ea typeface="Aptos" pitchFamily="34" charset="-122"/>
                <a:cs typeface="Aptos" pitchFamily="34" charset="-120"/>
              </a:rPr>
              <a:t>PUBLIC LAYER</a:t>
            </a:r>
            <a:endParaRPr lang="en-US" sz="780" dirty="0"/>
          </a:p>
        </p:txBody>
      </p:sp>
      <p:sp>
        <p:nvSpPr>
          <p:cNvPr id="8" name="Text 6"/>
          <p:cNvSpPr/>
          <p:nvPr/>
        </p:nvSpPr>
        <p:spPr>
          <a:xfrm>
            <a:off x="832104" y="2487168"/>
            <a:ext cx="2468880" cy="329184"/>
          </a:xfrm>
          <a:prstGeom prst="rect">
            <a:avLst/>
          </a:prstGeom>
          <a:noFill/>
          <a:ln/>
        </p:spPr>
        <p:txBody>
          <a:bodyPr wrap="square" lIns="0" tIns="0" rIns="0" bIns="0" rtlCol="0" anchor="ctr">
            <a:normAutofit/>
          </a:bodyPr>
          <a:lstStyle/>
          <a:p>
            <a:pPr algn="l" indent="0" marL="0">
              <a:buNone/>
            </a:pPr>
            <a:r>
              <a:rPr lang="en-US" sz="2200" b="1" dirty="0">
                <a:solidFill>
                  <a:srgbClr val="17283F"/>
                </a:solidFill>
                <a:latin typeface="Aptos Display" pitchFamily="34" charset="0"/>
                <a:ea typeface="Aptos Display" pitchFamily="34" charset="-122"/>
                <a:cs typeface="Aptos Display" pitchFamily="34" charset="-120"/>
              </a:rPr>
              <a:t>Discover</a:t>
            </a:r>
            <a:endParaRPr lang="en-US" sz="2200" dirty="0"/>
          </a:p>
        </p:txBody>
      </p:sp>
      <p:sp>
        <p:nvSpPr>
          <p:cNvPr id="9" name="Text 7"/>
          <p:cNvSpPr/>
          <p:nvPr/>
        </p:nvSpPr>
        <p:spPr>
          <a:xfrm>
            <a:off x="832104" y="2907792"/>
            <a:ext cx="2560320" cy="210312"/>
          </a:xfrm>
          <a:prstGeom prst="rect">
            <a:avLst/>
          </a:prstGeom>
          <a:noFill/>
          <a:ln/>
        </p:spPr>
        <p:txBody>
          <a:bodyPr wrap="square" lIns="0" tIns="0" rIns="0" bIns="0" rtlCol="0" anchor="ctr">
            <a:normAutofit/>
          </a:bodyPr>
          <a:lstStyle/>
          <a:p>
            <a:pPr algn="l" indent="0" marL="0">
              <a:buNone/>
            </a:pPr>
            <a:r>
              <a:rPr lang="en-US" sz="1100" b="1" dirty="0">
                <a:solidFill>
                  <a:srgbClr val="5B80D5"/>
                </a:solidFill>
                <a:latin typeface="Aptos" pitchFamily="34" charset="0"/>
                <a:ea typeface="Aptos" pitchFamily="34" charset="-122"/>
                <a:cs typeface="Aptos" pitchFamily="34" charset="-120"/>
              </a:rPr>
              <a:t>Free</a:t>
            </a:r>
            <a:endParaRPr lang="en-US" sz="1100" dirty="0"/>
          </a:p>
        </p:txBody>
      </p:sp>
      <p:sp>
        <p:nvSpPr>
          <p:cNvPr id="10" name="Shape 8"/>
          <p:cNvSpPr/>
          <p:nvPr/>
        </p:nvSpPr>
        <p:spPr>
          <a:xfrm>
            <a:off x="832104" y="3273552"/>
            <a:ext cx="3090672" cy="0"/>
          </a:xfrm>
          <a:prstGeom prst="line">
            <a:avLst/>
          </a:prstGeom>
          <a:noFill/>
          <a:ln w="8890">
            <a:solidFill>
              <a:srgbClr val="DEE6EC"/>
            </a:solidFill>
            <a:prstDash val="solid"/>
            <a:headEnd type="none"/>
            <a:tailEnd type="none"/>
          </a:ln>
        </p:spPr>
      </p:sp>
      <p:sp>
        <p:nvSpPr>
          <p:cNvPr id="11" name="Shape 9"/>
          <p:cNvSpPr/>
          <p:nvPr/>
        </p:nvSpPr>
        <p:spPr>
          <a:xfrm>
            <a:off x="859536" y="3511296"/>
            <a:ext cx="82296" cy="82296"/>
          </a:xfrm>
          <a:prstGeom prst="ellipse">
            <a:avLst/>
          </a:prstGeom>
          <a:solidFill>
            <a:srgbClr val="5B80D5"/>
          </a:solidFill>
          <a:ln w="12700">
            <a:solidFill>
              <a:srgbClr val="5B80D5">
                <a:alpha val="0"/>
              </a:srgbClr>
            </a:solidFill>
            <a:prstDash val="solid"/>
          </a:ln>
        </p:spPr>
      </p:sp>
      <p:sp>
        <p:nvSpPr>
          <p:cNvPr id="12" name="Text 10"/>
          <p:cNvSpPr/>
          <p:nvPr/>
        </p:nvSpPr>
        <p:spPr>
          <a:xfrm>
            <a:off x="1033272" y="3474720"/>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Basic GCC and city records</a:t>
            </a:r>
            <a:endParaRPr lang="en-US" sz="950" dirty="0"/>
          </a:p>
        </p:txBody>
      </p:sp>
      <p:sp>
        <p:nvSpPr>
          <p:cNvPr id="13" name="Shape 11"/>
          <p:cNvSpPr/>
          <p:nvPr/>
        </p:nvSpPr>
        <p:spPr>
          <a:xfrm>
            <a:off x="859536" y="3803904"/>
            <a:ext cx="82296" cy="82296"/>
          </a:xfrm>
          <a:prstGeom prst="ellipse">
            <a:avLst/>
          </a:prstGeom>
          <a:solidFill>
            <a:srgbClr val="5B80D5"/>
          </a:solidFill>
          <a:ln w="12700">
            <a:solidFill>
              <a:srgbClr val="5B80D5">
                <a:alpha val="0"/>
              </a:srgbClr>
            </a:solidFill>
            <a:prstDash val="solid"/>
          </a:ln>
        </p:spPr>
      </p:sp>
      <p:sp>
        <p:nvSpPr>
          <p:cNvPr id="14" name="Text 12"/>
          <p:cNvSpPr/>
          <p:nvPr/>
        </p:nvSpPr>
        <p:spPr>
          <a:xfrm>
            <a:off x="1033272" y="3767328"/>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Source links and key definitions</a:t>
            </a:r>
            <a:endParaRPr lang="en-US" sz="950" dirty="0"/>
          </a:p>
        </p:txBody>
      </p:sp>
      <p:sp>
        <p:nvSpPr>
          <p:cNvPr id="15" name="Shape 13"/>
          <p:cNvSpPr/>
          <p:nvPr/>
        </p:nvSpPr>
        <p:spPr>
          <a:xfrm>
            <a:off x="859536" y="4096512"/>
            <a:ext cx="82296" cy="82296"/>
          </a:xfrm>
          <a:prstGeom prst="ellipse">
            <a:avLst/>
          </a:prstGeom>
          <a:solidFill>
            <a:srgbClr val="5B80D5"/>
          </a:solidFill>
          <a:ln w="12700">
            <a:solidFill>
              <a:srgbClr val="5B80D5">
                <a:alpha val="0"/>
              </a:srgbClr>
            </a:solidFill>
            <a:prstDash val="solid"/>
          </a:ln>
        </p:spPr>
      </p:sp>
      <p:sp>
        <p:nvSpPr>
          <p:cNvPr id="16" name="Text 14"/>
          <p:cNvSpPr/>
          <p:nvPr/>
        </p:nvSpPr>
        <p:spPr>
          <a:xfrm>
            <a:off x="1033272" y="4059936"/>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Public signal highlights</a:t>
            </a:r>
            <a:endParaRPr lang="en-US" sz="950" dirty="0"/>
          </a:p>
        </p:txBody>
      </p:sp>
      <p:sp>
        <p:nvSpPr>
          <p:cNvPr id="17" name="Shape 15"/>
          <p:cNvSpPr/>
          <p:nvPr/>
        </p:nvSpPr>
        <p:spPr>
          <a:xfrm>
            <a:off x="4389120" y="1847088"/>
            <a:ext cx="3456432" cy="2953512"/>
          </a:xfrm>
          <a:prstGeom prst="roundRect">
            <a:avLst>
              <a:gd name="adj" fmla="val 3096"/>
            </a:avLst>
          </a:prstGeom>
          <a:solidFill>
            <a:srgbClr val="FFFFFF"/>
          </a:solidFill>
          <a:ln w="8890">
            <a:solidFill>
              <a:srgbClr val="DEE6EC"/>
            </a:solidFill>
            <a:prstDash val="solid"/>
          </a:ln>
        </p:spPr>
      </p:sp>
      <p:sp>
        <p:nvSpPr>
          <p:cNvPr id="18" name="Shape 16"/>
          <p:cNvSpPr/>
          <p:nvPr/>
        </p:nvSpPr>
        <p:spPr>
          <a:xfrm>
            <a:off x="4562856" y="2029968"/>
            <a:ext cx="1371600" cy="237744"/>
          </a:xfrm>
          <a:prstGeom prst="roundRect">
            <a:avLst>
              <a:gd name="adj" fmla="val 38462"/>
            </a:avLst>
          </a:prstGeom>
          <a:solidFill>
            <a:srgbClr val="E2F7F3"/>
          </a:solidFill>
          <a:ln w="10160">
            <a:solidFill>
              <a:srgbClr val="E2F7F3">
                <a:alpha val="0"/>
              </a:srgbClr>
            </a:solidFill>
            <a:prstDash val="solid"/>
          </a:ln>
        </p:spPr>
      </p:sp>
      <p:sp>
        <p:nvSpPr>
          <p:cNvPr id="19" name="Text 17"/>
          <p:cNvSpPr/>
          <p:nvPr/>
        </p:nvSpPr>
        <p:spPr>
          <a:xfrm>
            <a:off x="4626864" y="2048256"/>
            <a:ext cx="1243584"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TEAM WORKSPACE</a:t>
            </a:r>
            <a:endParaRPr lang="en-US" sz="780" dirty="0"/>
          </a:p>
        </p:txBody>
      </p:sp>
      <p:sp>
        <p:nvSpPr>
          <p:cNvPr id="20" name="Text 18"/>
          <p:cNvSpPr/>
          <p:nvPr/>
        </p:nvSpPr>
        <p:spPr>
          <a:xfrm>
            <a:off x="4562856" y="2487168"/>
            <a:ext cx="2468880" cy="329184"/>
          </a:xfrm>
          <a:prstGeom prst="rect">
            <a:avLst/>
          </a:prstGeom>
          <a:noFill/>
          <a:ln/>
        </p:spPr>
        <p:txBody>
          <a:bodyPr wrap="square" lIns="0" tIns="0" rIns="0" bIns="0" rtlCol="0" anchor="ctr">
            <a:normAutofit/>
          </a:bodyPr>
          <a:lstStyle/>
          <a:p>
            <a:pPr algn="l" indent="0" marL="0">
              <a:buNone/>
            </a:pPr>
            <a:r>
              <a:rPr lang="en-US" sz="2200" b="1" dirty="0">
                <a:solidFill>
                  <a:srgbClr val="17283F"/>
                </a:solidFill>
                <a:latin typeface="Aptos Display" pitchFamily="34" charset="0"/>
                <a:ea typeface="Aptos Display" pitchFamily="34" charset="-122"/>
                <a:cs typeface="Aptos Display" pitchFamily="34" charset="-120"/>
              </a:rPr>
              <a:t>Prioritise</a:t>
            </a:r>
            <a:endParaRPr lang="en-US" sz="2200" dirty="0"/>
          </a:p>
        </p:txBody>
      </p:sp>
      <p:sp>
        <p:nvSpPr>
          <p:cNvPr id="21" name="Text 19"/>
          <p:cNvSpPr/>
          <p:nvPr/>
        </p:nvSpPr>
        <p:spPr>
          <a:xfrm>
            <a:off x="4562856" y="2907792"/>
            <a:ext cx="2560320" cy="210312"/>
          </a:xfrm>
          <a:prstGeom prst="rect">
            <a:avLst/>
          </a:prstGeom>
          <a:noFill/>
          <a:ln/>
        </p:spPr>
        <p:txBody>
          <a:bodyPr wrap="square" lIns="0" tIns="0" rIns="0" bIns="0" rtlCol="0" anchor="ctr">
            <a:normAutofit/>
          </a:bodyPr>
          <a:lstStyle/>
          <a:p>
            <a:pPr algn="l" indent="0" marL="0">
              <a:buNone/>
            </a:pPr>
            <a:r>
              <a:rPr lang="en-US" sz="1100" b="1" dirty="0">
                <a:solidFill>
                  <a:srgbClr val="00A994"/>
                </a:solidFill>
                <a:latin typeface="Aptos" pitchFamily="34" charset="0"/>
                <a:ea typeface="Aptos" pitchFamily="34" charset="-122"/>
                <a:cs typeface="Aptos" pitchFamily="34" charset="-120"/>
              </a:rPr>
              <a:t>Paid subscription</a:t>
            </a:r>
            <a:endParaRPr lang="en-US" sz="1100" dirty="0"/>
          </a:p>
        </p:txBody>
      </p:sp>
      <p:sp>
        <p:nvSpPr>
          <p:cNvPr id="22" name="Shape 20"/>
          <p:cNvSpPr/>
          <p:nvPr/>
        </p:nvSpPr>
        <p:spPr>
          <a:xfrm>
            <a:off x="4562856" y="3273552"/>
            <a:ext cx="3090672" cy="0"/>
          </a:xfrm>
          <a:prstGeom prst="line">
            <a:avLst/>
          </a:prstGeom>
          <a:noFill/>
          <a:ln w="8890">
            <a:solidFill>
              <a:srgbClr val="DEE6EC"/>
            </a:solidFill>
            <a:prstDash val="solid"/>
            <a:headEnd type="none"/>
            <a:tailEnd type="none"/>
          </a:ln>
        </p:spPr>
      </p:sp>
      <p:sp>
        <p:nvSpPr>
          <p:cNvPr id="23" name="Shape 21"/>
          <p:cNvSpPr/>
          <p:nvPr/>
        </p:nvSpPr>
        <p:spPr>
          <a:xfrm>
            <a:off x="4590288" y="3511296"/>
            <a:ext cx="82296" cy="82296"/>
          </a:xfrm>
          <a:prstGeom prst="ellipse">
            <a:avLst/>
          </a:prstGeom>
          <a:solidFill>
            <a:srgbClr val="00A994"/>
          </a:solidFill>
          <a:ln w="12700">
            <a:solidFill>
              <a:srgbClr val="00A994">
                <a:alpha val="0"/>
              </a:srgbClr>
            </a:solidFill>
            <a:prstDash val="solid"/>
          </a:ln>
        </p:spPr>
      </p:sp>
      <p:sp>
        <p:nvSpPr>
          <p:cNvPr id="24" name="Text 22"/>
          <p:cNvSpPr/>
          <p:nvPr/>
        </p:nvSpPr>
        <p:spPr>
          <a:xfrm>
            <a:off x="4764024" y="3474720"/>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Saved searches and alerts</a:t>
            </a:r>
            <a:endParaRPr lang="en-US" sz="950" dirty="0"/>
          </a:p>
        </p:txBody>
      </p:sp>
      <p:sp>
        <p:nvSpPr>
          <p:cNvPr id="25" name="Shape 23"/>
          <p:cNvSpPr/>
          <p:nvPr/>
        </p:nvSpPr>
        <p:spPr>
          <a:xfrm>
            <a:off x="4590288" y="3803904"/>
            <a:ext cx="82296" cy="82296"/>
          </a:xfrm>
          <a:prstGeom prst="ellipse">
            <a:avLst/>
          </a:prstGeom>
          <a:solidFill>
            <a:srgbClr val="00A994"/>
          </a:solidFill>
          <a:ln w="12700">
            <a:solidFill>
              <a:srgbClr val="00A994">
                <a:alpha val="0"/>
              </a:srgbClr>
            </a:solidFill>
            <a:prstDash val="solid"/>
          </a:ln>
        </p:spPr>
      </p:sp>
      <p:sp>
        <p:nvSpPr>
          <p:cNvPr id="26" name="Text 24"/>
          <p:cNvSpPr/>
          <p:nvPr/>
        </p:nvSpPr>
        <p:spPr>
          <a:xfrm>
            <a:off x="4764024" y="3767328"/>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Segmented account / event lists</a:t>
            </a:r>
            <a:endParaRPr lang="en-US" sz="950" dirty="0"/>
          </a:p>
        </p:txBody>
      </p:sp>
      <p:sp>
        <p:nvSpPr>
          <p:cNvPr id="27" name="Shape 25"/>
          <p:cNvSpPr/>
          <p:nvPr/>
        </p:nvSpPr>
        <p:spPr>
          <a:xfrm>
            <a:off x="4590288" y="4096512"/>
            <a:ext cx="82296" cy="82296"/>
          </a:xfrm>
          <a:prstGeom prst="ellipse">
            <a:avLst/>
          </a:prstGeom>
          <a:solidFill>
            <a:srgbClr val="00A994"/>
          </a:solidFill>
          <a:ln w="12700">
            <a:solidFill>
              <a:srgbClr val="00A994">
                <a:alpha val="0"/>
              </a:srgbClr>
            </a:solidFill>
            <a:prstDash val="solid"/>
          </a:ln>
        </p:spPr>
      </p:sp>
      <p:sp>
        <p:nvSpPr>
          <p:cNvPr id="28" name="Text 26"/>
          <p:cNvSpPr/>
          <p:nvPr/>
        </p:nvSpPr>
        <p:spPr>
          <a:xfrm>
            <a:off x="4764024" y="4059936"/>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Evidence-backed AI briefs</a:t>
            </a:r>
            <a:endParaRPr lang="en-US" sz="950" dirty="0"/>
          </a:p>
        </p:txBody>
      </p:sp>
      <p:sp>
        <p:nvSpPr>
          <p:cNvPr id="29" name="Shape 27"/>
          <p:cNvSpPr/>
          <p:nvPr/>
        </p:nvSpPr>
        <p:spPr>
          <a:xfrm>
            <a:off x="4590288" y="4389120"/>
            <a:ext cx="82296" cy="82296"/>
          </a:xfrm>
          <a:prstGeom prst="ellipse">
            <a:avLst/>
          </a:prstGeom>
          <a:solidFill>
            <a:srgbClr val="00A994"/>
          </a:solidFill>
          <a:ln w="12700">
            <a:solidFill>
              <a:srgbClr val="00A994">
                <a:alpha val="0"/>
              </a:srgbClr>
            </a:solidFill>
            <a:prstDash val="solid"/>
          </a:ln>
        </p:spPr>
      </p:sp>
      <p:sp>
        <p:nvSpPr>
          <p:cNvPr id="30" name="Text 28"/>
          <p:cNvSpPr/>
          <p:nvPr/>
        </p:nvSpPr>
        <p:spPr>
          <a:xfrm>
            <a:off x="4764024" y="4352544"/>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Team notes and exports</a:t>
            </a:r>
            <a:endParaRPr lang="en-US" sz="950" dirty="0"/>
          </a:p>
        </p:txBody>
      </p:sp>
      <p:sp>
        <p:nvSpPr>
          <p:cNvPr id="31" name="Shape 29"/>
          <p:cNvSpPr/>
          <p:nvPr/>
        </p:nvSpPr>
        <p:spPr>
          <a:xfrm>
            <a:off x="8119872" y="1847088"/>
            <a:ext cx="3456432" cy="2953512"/>
          </a:xfrm>
          <a:prstGeom prst="roundRect">
            <a:avLst>
              <a:gd name="adj" fmla="val 3096"/>
            </a:avLst>
          </a:prstGeom>
          <a:solidFill>
            <a:srgbClr val="FFFFFF"/>
          </a:solidFill>
          <a:ln w="8890">
            <a:solidFill>
              <a:srgbClr val="DEE6EC"/>
            </a:solidFill>
            <a:prstDash val="solid"/>
          </a:ln>
        </p:spPr>
      </p:sp>
      <p:sp>
        <p:nvSpPr>
          <p:cNvPr id="32" name="Shape 30"/>
          <p:cNvSpPr/>
          <p:nvPr/>
        </p:nvSpPr>
        <p:spPr>
          <a:xfrm>
            <a:off x="8293608" y="2029968"/>
            <a:ext cx="1371600" cy="237744"/>
          </a:xfrm>
          <a:prstGeom prst="roundRect">
            <a:avLst>
              <a:gd name="adj" fmla="val 38462"/>
            </a:avLst>
          </a:prstGeom>
          <a:solidFill>
            <a:srgbClr val="FFF2D9"/>
          </a:solidFill>
          <a:ln w="10160">
            <a:solidFill>
              <a:srgbClr val="FFF2D9">
                <a:alpha val="0"/>
              </a:srgbClr>
            </a:solidFill>
            <a:prstDash val="solid"/>
          </a:ln>
        </p:spPr>
      </p:sp>
      <p:sp>
        <p:nvSpPr>
          <p:cNvPr id="33" name="Text 31"/>
          <p:cNvSpPr/>
          <p:nvPr/>
        </p:nvSpPr>
        <p:spPr>
          <a:xfrm>
            <a:off x="8357616" y="2048256"/>
            <a:ext cx="1243584" cy="173736"/>
          </a:xfrm>
          <a:prstGeom prst="rect">
            <a:avLst/>
          </a:prstGeom>
          <a:noFill/>
          <a:ln/>
        </p:spPr>
        <p:txBody>
          <a:bodyPr wrap="square" lIns="0" tIns="0" rIns="0" bIns="0" rtlCol="0" anchor="ctr">
            <a:normAutofit/>
          </a:bodyPr>
          <a:lstStyle/>
          <a:p>
            <a:pPr algn="ctr" indent="0" marL="0">
              <a:buNone/>
            </a:pPr>
            <a:r>
              <a:rPr lang="en-US" sz="780" b="1" dirty="0">
                <a:solidFill>
                  <a:srgbClr val="B87912"/>
                </a:solidFill>
                <a:latin typeface="Aptos" pitchFamily="34" charset="0"/>
                <a:ea typeface="Aptos" pitchFamily="34" charset="-122"/>
                <a:cs typeface="Aptos" pitchFamily="34" charset="-120"/>
              </a:rPr>
              <a:t>ENTERPRISE</a:t>
            </a:r>
            <a:endParaRPr lang="en-US" sz="780" dirty="0"/>
          </a:p>
        </p:txBody>
      </p:sp>
      <p:sp>
        <p:nvSpPr>
          <p:cNvPr id="34" name="Text 32"/>
          <p:cNvSpPr/>
          <p:nvPr/>
        </p:nvSpPr>
        <p:spPr>
          <a:xfrm>
            <a:off x="8293608" y="2487168"/>
            <a:ext cx="2468880" cy="329184"/>
          </a:xfrm>
          <a:prstGeom prst="rect">
            <a:avLst/>
          </a:prstGeom>
          <a:noFill/>
          <a:ln/>
        </p:spPr>
        <p:txBody>
          <a:bodyPr wrap="square" lIns="0" tIns="0" rIns="0" bIns="0" rtlCol="0" anchor="ctr">
            <a:normAutofit/>
          </a:bodyPr>
          <a:lstStyle/>
          <a:p>
            <a:pPr algn="l" indent="0" marL="0">
              <a:buNone/>
            </a:pPr>
            <a:r>
              <a:rPr lang="en-US" sz="2200" b="1" dirty="0">
                <a:solidFill>
                  <a:srgbClr val="17283F"/>
                </a:solidFill>
                <a:latin typeface="Aptos Display" pitchFamily="34" charset="0"/>
                <a:ea typeface="Aptos Display" pitchFamily="34" charset="-122"/>
                <a:cs typeface="Aptos Display" pitchFamily="34" charset="-120"/>
              </a:rPr>
              <a:t>Integrate</a:t>
            </a:r>
            <a:endParaRPr lang="en-US" sz="2200" dirty="0"/>
          </a:p>
        </p:txBody>
      </p:sp>
      <p:sp>
        <p:nvSpPr>
          <p:cNvPr id="35" name="Text 33"/>
          <p:cNvSpPr/>
          <p:nvPr/>
        </p:nvSpPr>
        <p:spPr>
          <a:xfrm>
            <a:off x="8293608" y="2907792"/>
            <a:ext cx="2560320" cy="210312"/>
          </a:xfrm>
          <a:prstGeom prst="rect">
            <a:avLst/>
          </a:prstGeom>
          <a:noFill/>
          <a:ln/>
        </p:spPr>
        <p:txBody>
          <a:bodyPr wrap="square" lIns="0" tIns="0" rIns="0" bIns="0" rtlCol="0" anchor="ctr">
            <a:normAutofit/>
          </a:bodyPr>
          <a:lstStyle/>
          <a:p>
            <a:pPr algn="l" indent="0" marL="0">
              <a:buNone/>
            </a:pPr>
            <a:r>
              <a:rPr lang="en-US" sz="1100" b="1" dirty="0">
                <a:solidFill>
                  <a:srgbClr val="B87912"/>
                </a:solidFill>
                <a:latin typeface="Aptos" pitchFamily="34" charset="0"/>
                <a:ea typeface="Aptos" pitchFamily="34" charset="-122"/>
                <a:cs typeface="Aptos" pitchFamily="34" charset="-120"/>
              </a:rPr>
              <a:t>Custom</a:t>
            </a:r>
            <a:endParaRPr lang="en-US" sz="1100" dirty="0"/>
          </a:p>
        </p:txBody>
      </p:sp>
      <p:sp>
        <p:nvSpPr>
          <p:cNvPr id="36" name="Shape 34"/>
          <p:cNvSpPr/>
          <p:nvPr/>
        </p:nvSpPr>
        <p:spPr>
          <a:xfrm>
            <a:off x="8293608" y="3273552"/>
            <a:ext cx="3090672" cy="0"/>
          </a:xfrm>
          <a:prstGeom prst="line">
            <a:avLst/>
          </a:prstGeom>
          <a:noFill/>
          <a:ln w="8890">
            <a:solidFill>
              <a:srgbClr val="DEE6EC"/>
            </a:solidFill>
            <a:prstDash val="solid"/>
            <a:headEnd type="none"/>
            <a:tailEnd type="none"/>
          </a:ln>
        </p:spPr>
      </p:sp>
      <p:sp>
        <p:nvSpPr>
          <p:cNvPr id="37" name="Shape 35"/>
          <p:cNvSpPr/>
          <p:nvPr/>
        </p:nvSpPr>
        <p:spPr>
          <a:xfrm>
            <a:off x="8321040" y="3511296"/>
            <a:ext cx="82296" cy="82296"/>
          </a:xfrm>
          <a:prstGeom prst="ellipse">
            <a:avLst/>
          </a:prstGeom>
          <a:solidFill>
            <a:srgbClr val="B87912"/>
          </a:solidFill>
          <a:ln w="12700">
            <a:solidFill>
              <a:srgbClr val="B87912">
                <a:alpha val="0"/>
              </a:srgbClr>
            </a:solidFill>
            <a:prstDash val="solid"/>
          </a:ln>
        </p:spPr>
      </p:sp>
      <p:sp>
        <p:nvSpPr>
          <p:cNvPr id="38" name="Text 36"/>
          <p:cNvSpPr/>
          <p:nvPr/>
        </p:nvSpPr>
        <p:spPr>
          <a:xfrm>
            <a:off x="8494776" y="3474720"/>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API / bulk data access</a:t>
            </a:r>
            <a:endParaRPr lang="en-US" sz="950" dirty="0"/>
          </a:p>
        </p:txBody>
      </p:sp>
      <p:sp>
        <p:nvSpPr>
          <p:cNvPr id="39" name="Shape 37"/>
          <p:cNvSpPr/>
          <p:nvPr/>
        </p:nvSpPr>
        <p:spPr>
          <a:xfrm>
            <a:off x="8321040" y="3803904"/>
            <a:ext cx="82296" cy="82296"/>
          </a:xfrm>
          <a:prstGeom prst="ellipse">
            <a:avLst/>
          </a:prstGeom>
          <a:solidFill>
            <a:srgbClr val="B87912"/>
          </a:solidFill>
          <a:ln w="12700">
            <a:solidFill>
              <a:srgbClr val="B87912">
                <a:alpha val="0"/>
              </a:srgbClr>
            </a:solidFill>
            <a:prstDash val="solid"/>
          </a:ln>
        </p:spPr>
      </p:sp>
      <p:sp>
        <p:nvSpPr>
          <p:cNvPr id="40" name="Text 38"/>
          <p:cNvSpPr/>
          <p:nvPr/>
        </p:nvSpPr>
        <p:spPr>
          <a:xfrm>
            <a:off x="8494776" y="3767328"/>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Location and policy packs</a:t>
            </a:r>
            <a:endParaRPr lang="en-US" sz="950" dirty="0"/>
          </a:p>
        </p:txBody>
      </p:sp>
      <p:sp>
        <p:nvSpPr>
          <p:cNvPr id="41" name="Shape 39"/>
          <p:cNvSpPr/>
          <p:nvPr/>
        </p:nvSpPr>
        <p:spPr>
          <a:xfrm>
            <a:off x="8321040" y="4096512"/>
            <a:ext cx="82296" cy="82296"/>
          </a:xfrm>
          <a:prstGeom prst="ellipse">
            <a:avLst/>
          </a:prstGeom>
          <a:solidFill>
            <a:srgbClr val="B87912"/>
          </a:solidFill>
          <a:ln w="12700">
            <a:solidFill>
              <a:srgbClr val="B87912">
                <a:alpha val="0"/>
              </a:srgbClr>
            </a:solidFill>
            <a:prstDash val="solid"/>
          </a:ln>
        </p:spPr>
      </p:sp>
      <p:sp>
        <p:nvSpPr>
          <p:cNvPr id="42" name="Text 40"/>
          <p:cNvSpPr/>
          <p:nvPr/>
        </p:nvSpPr>
        <p:spPr>
          <a:xfrm>
            <a:off x="8494776" y="4059936"/>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Private watchlists &amp; research</a:t>
            </a:r>
            <a:endParaRPr lang="en-US" sz="950" dirty="0"/>
          </a:p>
        </p:txBody>
      </p:sp>
      <p:sp>
        <p:nvSpPr>
          <p:cNvPr id="43" name="Shape 41"/>
          <p:cNvSpPr/>
          <p:nvPr/>
        </p:nvSpPr>
        <p:spPr>
          <a:xfrm>
            <a:off x="8321040" y="4389120"/>
            <a:ext cx="82296" cy="82296"/>
          </a:xfrm>
          <a:prstGeom prst="ellipse">
            <a:avLst/>
          </a:prstGeom>
          <a:solidFill>
            <a:srgbClr val="B87912"/>
          </a:solidFill>
          <a:ln w="12700">
            <a:solidFill>
              <a:srgbClr val="B87912">
                <a:alpha val="0"/>
              </a:srgbClr>
            </a:solidFill>
            <a:prstDash val="solid"/>
          </a:ln>
        </p:spPr>
      </p:sp>
      <p:sp>
        <p:nvSpPr>
          <p:cNvPr id="44" name="Text 42"/>
          <p:cNvSpPr/>
          <p:nvPr/>
        </p:nvSpPr>
        <p:spPr>
          <a:xfrm>
            <a:off x="8494776" y="4352544"/>
            <a:ext cx="278892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Governance / audit history</a:t>
            </a:r>
            <a:endParaRPr lang="en-US" sz="950" dirty="0"/>
          </a:p>
        </p:txBody>
      </p:sp>
      <p:sp>
        <p:nvSpPr>
          <p:cNvPr id="45" name="Shape 43"/>
          <p:cNvSpPr/>
          <p:nvPr/>
        </p:nvSpPr>
        <p:spPr>
          <a:xfrm>
            <a:off x="658368" y="5138928"/>
            <a:ext cx="6894576" cy="704088"/>
          </a:xfrm>
          <a:prstGeom prst="roundRect">
            <a:avLst>
              <a:gd name="adj" fmla="val 12987"/>
            </a:avLst>
          </a:prstGeom>
          <a:solidFill>
            <a:srgbClr val="101D31"/>
          </a:solidFill>
          <a:ln w="8890">
            <a:solidFill>
              <a:srgbClr val="101D31"/>
            </a:solidFill>
            <a:prstDash val="solid"/>
          </a:ln>
        </p:spPr>
      </p:sp>
      <p:sp>
        <p:nvSpPr>
          <p:cNvPr id="46" name="Text 44"/>
          <p:cNvSpPr/>
          <p:nvPr/>
        </p:nvSpPr>
        <p:spPr>
          <a:xfrm>
            <a:off x="886968" y="5330952"/>
            <a:ext cx="1737360" cy="155448"/>
          </a:xfrm>
          <a:prstGeom prst="rect">
            <a:avLst/>
          </a:prstGeom>
          <a:noFill/>
          <a:ln/>
        </p:spPr>
        <p:txBody>
          <a:bodyPr wrap="square" lIns="0" tIns="0" rIns="0" bIns="0" rtlCol="0" anchor="ctr">
            <a:normAutofit/>
          </a:bodyPr>
          <a:lstStyle/>
          <a:p>
            <a:pPr algn="l" indent="0" marL="0">
              <a:buNone/>
            </a:pPr>
            <a:r>
              <a:rPr lang="en-US" sz="840" b="1" spc="110" kern="0" dirty="0">
                <a:solidFill>
                  <a:srgbClr val="6DDBCA"/>
                </a:solidFill>
                <a:latin typeface="Aptos" pitchFamily="34" charset="0"/>
                <a:ea typeface="Aptos" pitchFamily="34" charset="-122"/>
                <a:cs typeface="Aptos" pitchFamily="34" charset="-120"/>
              </a:rPr>
              <a:t>INITIAL REVENUE TEST</a:t>
            </a:r>
            <a:endParaRPr lang="en-US" sz="840" dirty="0"/>
          </a:p>
        </p:txBody>
      </p:sp>
      <p:sp>
        <p:nvSpPr>
          <p:cNvPr id="47" name="Text 45"/>
          <p:cNvSpPr/>
          <p:nvPr/>
        </p:nvSpPr>
        <p:spPr>
          <a:xfrm>
            <a:off x="2679192" y="5294376"/>
            <a:ext cx="4462272" cy="237744"/>
          </a:xfrm>
          <a:prstGeom prst="rect">
            <a:avLst/>
          </a:prstGeom>
          <a:noFill/>
          <a:ln/>
        </p:spPr>
        <p:txBody>
          <a:bodyPr wrap="square" lIns="0" tIns="0" rIns="0" bIns="0" rtlCol="0" anchor="ctr">
            <a:normAutofit/>
          </a:bodyPr>
          <a:lstStyle/>
          <a:p>
            <a:pPr algn="l" indent="0" marL="0">
              <a:buNone/>
            </a:pPr>
            <a:r>
              <a:rPr lang="en-US" sz="1200" b="1" dirty="0">
                <a:solidFill>
                  <a:srgbClr val="FFFFFF"/>
                </a:solidFill>
                <a:latin typeface="Aptos" pitchFamily="34" charset="0"/>
                <a:ea typeface="Aptos" pitchFamily="34" charset="-122"/>
                <a:cs typeface="Aptos" pitchFamily="34" charset="-120"/>
              </a:rPr>
              <a:t>Paid pilot with 5–10 GCC-facing service providers</a:t>
            </a:r>
            <a:endParaRPr lang="en-US" sz="1200" dirty="0"/>
          </a:p>
        </p:txBody>
      </p:sp>
      <p:sp>
        <p:nvSpPr>
          <p:cNvPr id="48" name="Shape 46"/>
          <p:cNvSpPr/>
          <p:nvPr/>
        </p:nvSpPr>
        <p:spPr>
          <a:xfrm>
            <a:off x="7790688" y="5138928"/>
            <a:ext cx="3639312" cy="704088"/>
          </a:xfrm>
          <a:prstGeom prst="roundRect">
            <a:avLst>
              <a:gd name="adj" fmla="val 12987"/>
            </a:avLst>
          </a:prstGeom>
          <a:solidFill>
            <a:srgbClr val="E2F7F3"/>
          </a:solidFill>
          <a:ln w="8890">
            <a:solidFill>
              <a:srgbClr val="D0EEE6"/>
            </a:solidFill>
            <a:prstDash val="solid"/>
          </a:ln>
        </p:spPr>
      </p:sp>
      <p:sp>
        <p:nvSpPr>
          <p:cNvPr id="49" name="Text 47"/>
          <p:cNvSpPr/>
          <p:nvPr/>
        </p:nvSpPr>
        <p:spPr>
          <a:xfrm>
            <a:off x="8010144" y="5312664"/>
            <a:ext cx="1243584" cy="146304"/>
          </a:xfrm>
          <a:prstGeom prst="rect">
            <a:avLst/>
          </a:prstGeom>
          <a:noFill/>
          <a:ln/>
        </p:spPr>
        <p:txBody>
          <a:bodyPr wrap="square" lIns="0" tIns="0" rIns="0" bIns="0" rtlCol="0" anchor="ctr">
            <a:normAutofit/>
          </a:bodyPr>
          <a:lstStyle/>
          <a:p>
            <a:pPr algn="l" indent="0" marL="0">
              <a:buNone/>
            </a:pPr>
            <a:r>
              <a:rPr lang="en-US" sz="820" b="1" spc="80" kern="0" dirty="0">
                <a:solidFill>
                  <a:srgbClr val="00A994"/>
                </a:solidFill>
                <a:latin typeface="Aptos" pitchFamily="34" charset="0"/>
                <a:ea typeface="Aptos" pitchFamily="34" charset="-122"/>
                <a:cs typeface="Aptos" pitchFamily="34" charset="-120"/>
              </a:rPr>
              <a:t>TRUST GUARDRAIL</a:t>
            </a:r>
            <a:endParaRPr lang="en-US" sz="820" dirty="0"/>
          </a:p>
        </p:txBody>
      </p:sp>
      <p:sp>
        <p:nvSpPr>
          <p:cNvPr id="50" name="Text 48"/>
          <p:cNvSpPr/>
          <p:nvPr/>
        </p:nvSpPr>
        <p:spPr>
          <a:xfrm>
            <a:off x="8010144" y="5541264"/>
            <a:ext cx="2953512" cy="164592"/>
          </a:xfrm>
          <a:prstGeom prst="rect">
            <a:avLst/>
          </a:prstGeom>
          <a:noFill/>
          <a:ln/>
        </p:spPr>
        <p:txBody>
          <a:bodyPr wrap="square" lIns="0" tIns="0" rIns="0" bIns="0" rtlCol="0" anchor="ctr">
            <a:normAutofit/>
          </a:bodyPr>
          <a:lstStyle/>
          <a:p>
            <a:pPr algn="l" indent="0" marL="0">
              <a:buNone/>
            </a:pPr>
            <a:r>
              <a:rPr lang="en-US" sz="1040" b="1" dirty="0">
                <a:solidFill>
                  <a:srgbClr val="17283F"/>
                </a:solidFill>
                <a:latin typeface="Aptos" pitchFamily="34" charset="0"/>
                <a:ea typeface="Aptos" pitchFamily="34" charset="-122"/>
                <a:cs typeface="Aptos" pitchFamily="34" charset="-120"/>
              </a:rPr>
              <a:t>No pay-to-rank provider scores.</a:t>
            </a:r>
            <a:endParaRPr lang="en-US" sz="1040" dirty="0"/>
          </a:p>
        </p:txBody>
      </p:sp>
      <p:sp>
        <p:nvSpPr>
          <p:cNvPr id="51" name="Text 49"/>
          <p:cNvSpPr/>
          <p:nvPr/>
        </p:nvSpPr>
        <p:spPr>
          <a:xfrm>
            <a:off x="685800" y="6062472"/>
            <a:ext cx="10744200" cy="201168"/>
          </a:xfrm>
          <a:prstGeom prst="rect">
            <a:avLst/>
          </a:prstGeom>
          <a:noFill/>
          <a:ln/>
        </p:spPr>
        <p:txBody>
          <a:bodyPr wrap="square" lIns="0" tIns="0" rIns="0" bIns="0" rtlCol="0" anchor="ctr">
            <a:normAutofit/>
          </a:bodyPr>
          <a:lstStyle/>
          <a:p>
            <a:pPr algn="l" indent="0" marL="0">
              <a:buNone/>
            </a:pPr>
            <a:r>
              <a:rPr lang="en-US" sz="880" i="1" dirty="0">
                <a:solidFill>
                  <a:srgbClr val="718196"/>
                </a:solidFill>
                <a:latin typeface="Aptos" pitchFamily="34" charset="0"/>
                <a:ea typeface="Aptos" pitchFamily="34" charset="-122"/>
                <a:cs typeface="Aptos" pitchFamily="34" charset="-120"/>
              </a:rPr>
              <a:t>Pricing and willingness-to-pay remain hypotheses; test against time-to-qualified-meeting, research hours saved and renewal—not click volume alone.</a:t>
            </a:r>
            <a:endParaRPr lang="en-US" sz="88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11 · GTM &amp; VALIDATION</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Prove trust and workflow value in 90 days—not market size by assertion.</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The first milestone is not “2,000 records”. It is a small, accurate dataset that helps a buyer act faster.</a:t>
            </a:r>
            <a:endParaRPr lang="en-US" sz="1120" dirty="0"/>
          </a:p>
        </p:txBody>
      </p:sp>
      <p:sp>
        <p:nvSpPr>
          <p:cNvPr id="5" name="Shape 3"/>
          <p:cNvSpPr/>
          <p:nvPr/>
        </p:nvSpPr>
        <p:spPr>
          <a:xfrm>
            <a:off x="658368" y="1847088"/>
            <a:ext cx="3429000" cy="2999232"/>
          </a:xfrm>
          <a:prstGeom prst="roundRect">
            <a:avLst>
              <a:gd name="adj" fmla="val 3049"/>
            </a:avLst>
          </a:prstGeom>
          <a:solidFill>
            <a:srgbClr val="FFFFFF"/>
          </a:solidFill>
          <a:ln w="8890">
            <a:solidFill>
              <a:srgbClr val="DEE6EC"/>
            </a:solidFill>
            <a:prstDash val="solid"/>
          </a:ln>
        </p:spPr>
      </p:sp>
      <p:sp>
        <p:nvSpPr>
          <p:cNvPr id="6" name="Shape 4"/>
          <p:cNvSpPr/>
          <p:nvPr/>
        </p:nvSpPr>
        <p:spPr>
          <a:xfrm>
            <a:off x="822960" y="2029968"/>
            <a:ext cx="1243584" cy="237744"/>
          </a:xfrm>
          <a:prstGeom prst="roundRect">
            <a:avLst>
              <a:gd name="adj" fmla="val 38462"/>
            </a:avLst>
          </a:prstGeom>
          <a:solidFill>
            <a:srgbClr val="EAF0FF"/>
          </a:solidFill>
          <a:ln w="10160">
            <a:solidFill>
              <a:srgbClr val="EAF0FF">
                <a:alpha val="0"/>
              </a:srgbClr>
            </a:solidFill>
            <a:prstDash val="solid"/>
          </a:ln>
        </p:spPr>
      </p:sp>
      <p:sp>
        <p:nvSpPr>
          <p:cNvPr id="7" name="Text 5"/>
          <p:cNvSpPr/>
          <p:nvPr/>
        </p:nvSpPr>
        <p:spPr>
          <a:xfrm>
            <a:off x="886968" y="2048256"/>
            <a:ext cx="1115568" cy="173736"/>
          </a:xfrm>
          <a:prstGeom prst="rect">
            <a:avLst/>
          </a:prstGeom>
          <a:noFill/>
          <a:ln/>
        </p:spPr>
        <p:txBody>
          <a:bodyPr wrap="square" lIns="0" tIns="0" rIns="0" bIns="0" rtlCol="0" anchor="ctr">
            <a:normAutofit/>
          </a:bodyPr>
          <a:lstStyle/>
          <a:p>
            <a:pPr algn="ctr" indent="0" marL="0">
              <a:buNone/>
            </a:pPr>
            <a:r>
              <a:rPr lang="en-US" sz="780" b="1" dirty="0">
                <a:solidFill>
                  <a:srgbClr val="5B80D5"/>
                </a:solidFill>
                <a:latin typeface="Aptos" pitchFamily="34" charset="0"/>
                <a:ea typeface="Aptos" pitchFamily="34" charset="-122"/>
                <a:cs typeface="Aptos" pitchFamily="34" charset="-120"/>
              </a:rPr>
              <a:t>DAYS 01–30</a:t>
            </a:r>
            <a:endParaRPr lang="en-US" sz="780" dirty="0"/>
          </a:p>
        </p:txBody>
      </p:sp>
      <p:sp>
        <p:nvSpPr>
          <p:cNvPr id="8" name="Text 6"/>
          <p:cNvSpPr/>
          <p:nvPr/>
        </p:nvSpPr>
        <p:spPr>
          <a:xfrm>
            <a:off x="832104" y="2468880"/>
            <a:ext cx="2852928" cy="301752"/>
          </a:xfrm>
          <a:prstGeom prst="rect">
            <a:avLst/>
          </a:prstGeom>
          <a:noFill/>
          <a:ln/>
        </p:spPr>
        <p:txBody>
          <a:bodyPr wrap="square" lIns="0" tIns="0" rIns="0" bIns="0" rtlCol="0" anchor="ctr">
            <a:normAutofit/>
          </a:bodyPr>
          <a:lstStyle/>
          <a:p>
            <a:pPr algn="l" indent="0" marL="0">
              <a:buNone/>
            </a:pPr>
            <a:r>
              <a:rPr lang="en-US" sz="1700" b="1" dirty="0">
                <a:solidFill>
                  <a:srgbClr val="17283F"/>
                </a:solidFill>
                <a:latin typeface="Aptos Display" pitchFamily="34" charset="0"/>
                <a:ea typeface="Aptos Display" pitchFamily="34" charset="-122"/>
                <a:cs typeface="Aptos Display" pitchFamily="34" charset="-120"/>
              </a:rPr>
              <a:t>Validate the pain</a:t>
            </a:r>
            <a:endParaRPr lang="en-US" sz="1700" dirty="0"/>
          </a:p>
        </p:txBody>
      </p:sp>
      <p:sp>
        <p:nvSpPr>
          <p:cNvPr id="9" name="Text 7"/>
          <p:cNvSpPr/>
          <p:nvPr/>
        </p:nvSpPr>
        <p:spPr>
          <a:xfrm>
            <a:off x="832104" y="2862072"/>
            <a:ext cx="2743200" cy="192024"/>
          </a:xfrm>
          <a:prstGeom prst="rect">
            <a:avLst/>
          </a:prstGeom>
          <a:noFill/>
          <a:ln/>
        </p:spPr>
        <p:txBody>
          <a:bodyPr wrap="square" lIns="0" tIns="0" rIns="0" bIns="0" rtlCol="0" anchor="ctr">
            <a:normAutofit/>
          </a:bodyPr>
          <a:lstStyle/>
          <a:p>
            <a:pPr algn="l" indent="0" marL="0">
              <a:buNone/>
            </a:pPr>
            <a:r>
              <a:rPr lang="en-US" sz="1010" b="1" dirty="0">
                <a:solidFill>
                  <a:srgbClr val="5B80D5"/>
                </a:solidFill>
                <a:latin typeface="Aptos" pitchFamily="34" charset="0"/>
                <a:ea typeface="Aptos" pitchFamily="34" charset="-122"/>
                <a:cs typeface="Aptos" pitchFamily="34" charset="-120"/>
              </a:rPr>
              <a:t>5–10 design partners</a:t>
            </a:r>
            <a:endParaRPr lang="en-US" sz="1010" dirty="0"/>
          </a:p>
        </p:txBody>
      </p:sp>
      <p:sp>
        <p:nvSpPr>
          <p:cNvPr id="10" name="Shape 8"/>
          <p:cNvSpPr/>
          <p:nvPr/>
        </p:nvSpPr>
        <p:spPr>
          <a:xfrm>
            <a:off x="850392" y="3273552"/>
            <a:ext cx="91440" cy="91440"/>
          </a:xfrm>
          <a:prstGeom prst="ellipse">
            <a:avLst/>
          </a:prstGeom>
          <a:solidFill>
            <a:srgbClr val="5B80D5"/>
          </a:solidFill>
          <a:ln w="12700">
            <a:solidFill>
              <a:srgbClr val="5B80D5">
                <a:alpha val="0"/>
              </a:srgbClr>
            </a:solidFill>
            <a:prstDash val="solid"/>
          </a:ln>
        </p:spPr>
      </p:sp>
      <p:sp>
        <p:nvSpPr>
          <p:cNvPr id="11" name="Text 9"/>
          <p:cNvSpPr/>
          <p:nvPr/>
        </p:nvSpPr>
        <p:spPr>
          <a:xfrm>
            <a:off x="1033272" y="324612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Interview provider sales leaders</a:t>
            </a:r>
            <a:endParaRPr lang="en-US" sz="950" dirty="0"/>
          </a:p>
        </p:txBody>
      </p:sp>
      <p:sp>
        <p:nvSpPr>
          <p:cNvPr id="12" name="Shape 10"/>
          <p:cNvSpPr/>
          <p:nvPr/>
        </p:nvSpPr>
        <p:spPr>
          <a:xfrm>
            <a:off x="850392" y="3593592"/>
            <a:ext cx="91440" cy="91440"/>
          </a:xfrm>
          <a:prstGeom prst="ellipse">
            <a:avLst/>
          </a:prstGeom>
          <a:solidFill>
            <a:srgbClr val="5B80D5"/>
          </a:solidFill>
          <a:ln w="12700">
            <a:solidFill>
              <a:srgbClr val="5B80D5">
                <a:alpha val="0"/>
              </a:srgbClr>
            </a:solidFill>
            <a:prstDash val="solid"/>
          </a:ln>
        </p:spPr>
      </p:sp>
      <p:sp>
        <p:nvSpPr>
          <p:cNvPr id="13" name="Text 11"/>
          <p:cNvSpPr/>
          <p:nvPr/>
        </p:nvSpPr>
        <p:spPr>
          <a:xfrm>
            <a:off x="1033272" y="356616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Observe current research workflow</a:t>
            </a:r>
            <a:endParaRPr lang="en-US" sz="950" dirty="0"/>
          </a:p>
        </p:txBody>
      </p:sp>
      <p:sp>
        <p:nvSpPr>
          <p:cNvPr id="14" name="Shape 12"/>
          <p:cNvSpPr/>
          <p:nvPr/>
        </p:nvSpPr>
        <p:spPr>
          <a:xfrm>
            <a:off x="850392" y="3913632"/>
            <a:ext cx="91440" cy="91440"/>
          </a:xfrm>
          <a:prstGeom prst="ellipse">
            <a:avLst/>
          </a:prstGeom>
          <a:solidFill>
            <a:srgbClr val="5B80D5"/>
          </a:solidFill>
          <a:ln w="12700">
            <a:solidFill>
              <a:srgbClr val="5B80D5">
                <a:alpha val="0"/>
              </a:srgbClr>
            </a:solidFill>
            <a:prstDash val="solid"/>
          </a:ln>
        </p:spPr>
      </p:sp>
      <p:sp>
        <p:nvSpPr>
          <p:cNvPr id="15" name="Text 13"/>
          <p:cNvSpPr/>
          <p:nvPr/>
        </p:nvSpPr>
        <p:spPr>
          <a:xfrm>
            <a:off x="1033272" y="388620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Build 20 signal dossiers by hand</a:t>
            </a:r>
            <a:endParaRPr lang="en-US" sz="950" dirty="0"/>
          </a:p>
        </p:txBody>
      </p:sp>
      <p:sp>
        <p:nvSpPr>
          <p:cNvPr id="16" name="Shape 14"/>
          <p:cNvSpPr/>
          <p:nvPr/>
        </p:nvSpPr>
        <p:spPr>
          <a:xfrm>
            <a:off x="850392" y="4233672"/>
            <a:ext cx="91440" cy="91440"/>
          </a:xfrm>
          <a:prstGeom prst="ellipse">
            <a:avLst/>
          </a:prstGeom>
          <a:solidFill>
            <a:srgbClr val="5B80D5"/>
          </a:solidFill>
          <a:ln w="12700">
            <a:solidFill>
              <a:srgbClr val="5B80D5">
                <a:alpha val="0"/>
              </a:srgbClr>
            </a:solidFill>
            <a:prstDash val="solid"/>
          </a:ln>
        </p:spPr>
      </p:sp>
      <p:sp>
        <p:nvSpPr>
          <p:cNvPr id="17" name="Text 15"/>
          <p:cNvSpPr/>
          <p:nvPr/>
        </p:nvSpPr>
        <p:spPr>
          <a:xfrm>
            <a:off x="1033272" y="420624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Baseline time-to-shortlist + errors</a:t>
            </a:r>
            <a:endParaRPr lang="en-US" sz="950" dirty="0"/>
          </a:p>
        </p:txBody>
      </p:sp>
      <p:sp>
        <p:nvSpPr>
          <p:cNvPr id="18" name="Shape 16"/>
          <p:cNvSpPr/>
          <p:nvPr/>
        </p:nvSpPr>
        <p:spPr>
          <a:xfrm>
            <a:off x="4142232" y="3346704"/>
            <a:ext cx="182880" cy="0"/>
          </a:xfrm>
          <a:prstGeom prst="line">
            <a:avLst/>
          </a:prstGeom>
          <a:noFill/>
          <a:ln w="17780">
            <a:solidFill>
              <a:srgbClr val="00A994"/>
            </a:solidFill>
            <a:prstDash val="solid"/>
            <a:headEnd type="none"/>
            <a:tailEnd type="none"/>
          </a:ln>
        </p:spPr>
      </p:sp>
      <p:sp>
        <p:nvSpPr>
          <p:cNvPr id="19" name="Text 17"/>
          <p:cNvSpPr/>
          <p:nvPr/>
        </p:nvSpPr>
        <p:spPr>
          <a:xfrm>
            <a:off x="4160520" y="3163824"/>
            <a:ext cx="164592" cy="283464"/>
          </a:xfrm>
          <a:prstGeom prst="rect">
            <a:avLst/>
          </a:prstGeom>
          <a:noFill/>
          <a:ln/>
        </p:spPr>
        <p:txBody>
          <a:bodyPr wrap="square" lIns="0" tIns="0" rIns="0" bIns="0" rtlCol="0" anchor="ctr">
            <a:normAutofit/>
          </a:bodyPr>
          <a:lstStyle/>
          <a:p>
            <a:pPr algn="ctr" indent="0" marL="0">
              <a:buNone/>
            </a:pPr>
            <a:r>
              <a:rPr lang="en-US" sz="2100" b="1" dirty="0">
                <a:solidFill>
                  <a:srgbClr val="00A994"/>
                </a:solidFill>
                <a:latin typeface="Aptos" pitchFamily="34" charset="0"/>
                <a:ea typeface="Aptos" pitchFamily="34" charset="-122"/>
                <a:cs typeface="Aptos" pitchFamily="34" charset="-120"/>
              </a:rPr>
              <a:t>›</a:t>
            </a:r>
            <a:endParaRPr lang="en-US" sz="2100" dirty="0"/>
          </a:p>
        </p:txBody>
      </p:sp>
      <p:sp>
        <p:nvSpPr>
          <p:cNvPr id="20" name="Shape 18"/>
          <p:cNvSpPr/>
          <p:nvPr/>
        </p:nvSpPr>
        <p:spPr>
          <a:xfrm>
            <a:off x="4379976" y="1847088"/>
            <a:ext cx="3429000" cy="2999232"/>
          </a:xfrm>
          <a:prstGeom prst="roundRect">
            <a:avLst>
              <a:gd name="adj" fmla="val 3049"/>
            </a:avLst>
          </a:prstGeom>
          <a:solidFill>
            <a:srgbClr val="FFFFFF"/>
          </a:solidFill>
          <a:ln w="8890">
            <a:solidFill>
              <a:srgbClr val="DEE6EC"/>
            </a:solidFill>
            <a:prstDash val="solid"/>
          </a:ln>
        </p:spPr>
      </p:sp>
      <p:sp>
        <p:nvSpPr>
          <p:cNvPr id="21" name="Shape 19"/>
          <p:cNvSpPr/>
          <p:nvPr/>
        </p:nvSpPr>
        <p:spPr>
          <a:xfrm>
            <a:off x="4544568" y="2029968"/>
            <a:ext cx="1243584" cy="237744"/>
          </a:xfrm>
          <a:prstGeom prst="roundRect">
            <a:avLst>
              <a:gd name="adj" fmla="val 38462"/>
            </a:avLst>
          </a:prstGeom>
          <a:solidFill>
            <a:srgbClr val="E2F7F3"/>
          </a:solidFill>
          <a:ln w="10160">
            <a:solidFill>
              <a:srgbClr val="E2F7F3">
                <a:alpha val="0"/>
              </a:srgbClr>
            </a:solidFill>
            <a:prstDash val="solid"/>
          </a:ln>
        </p:spPr>
      </p:sp>
      <p:sp>
        <p:nvSpPr>
          <p:cNvPr id="22" name="Text 20"/>
          <p:cNvSpPr/>
          <p:nvPr/>
        </p:nvSpPr>
        <p:spPr>
          <a:xfrm>
            <a:off x="4608576" y="2048256"/>
            <a:ext cx="1115568"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DAYS 31–60</a:t>
            </a:r>
            <a:endParaRPr lang="en-US" sz="780" dirty="0"/>
          </a:p>
        </p:txBody>
      </p:sp>
      <p:sp>
        <p:nvSpPr>
          <p:cNvPr id="23" name="Text 21"/>
          <p:cNvSpPr/>
          <p:nvPr/>
        </p:nvSpPr>
        <p:spPr>
          <a:xfrm>
            <a:off x="4553712" y="2468880"/>
            <a:ext cx="2852928" cy="301752"/>
          </a:xfrm>
          <a:prstGeom prst="rect">
            <a:avLst/>
          </a:prstGeom>
          <a:noFill/>
          <a:ln/>
        </p:spPr>
        <p:txBody>
          <a:bodyPr wrap="square" lIns="0" tIns="0" rIns="0" bIns="0" rtlCol="0" anchor="ctr">
            <a:normAutofit/>
          </a:bodyPr>
          <a:lstStyle/>
          <a:p>
            <a:pPr algn="l" indent="0" marL="0">
              <a:buNone/>
            </a:pPr>
            <a:r>
              <a:rPr lang="en-US" sz="1700" b="1" dirty="0">
                <a:solidFill>
                  <a:srgbClr val="17283F"/>
                </a:solidFill>
                <a:latin typeface="Aptos Display" pitchFamily="34" charset="0"/>
                <a:ea typeface="Aptos Display" pitchFamily="34" charset="-122"/>
                <a:cs typeface="Aptos Display" pitchFamily="34" charset="-120"/>
              </a:rPr>
              <a:t>Ship the workflow</a:t>
            </a:r>
            <a:endParaRPr lang="en-US" sz="1700" dirty="0"/>
          </a:p>
        </p:txBody>
      </p:sp>
      <p:sp>
        <p:nvSpPr>
          <p:cNvPr id="24" name="Text 22"/>
          <p:cNvSpPr/>
          <p:nvPr/>
        </p:nvSpPr>
        <p:spPr>
          <a:xfrm>
            <a:off x="4553712" y="2862072"/>
            <a:ext cx="2743200" cy="192024"/>
          </a:xfrm>
          <a:prstGeom prst="rect">
            <a:avLst/>
          </a:prstGeom>
          <a:noFill/>
          <a:ln/>
        </p:spPr>
        <p:txBody>
          <a:bodyPr wrap="square" lIns="0" tIns="0" rIns="0" bIns="0" rtlCol="0" anchor="ctr">
            <a:normAutofit/>
          </a:bodyPr>
          <a:lstStyle/>
          <a:p>
            <a:pPr algn="l" indent="0" marL="0">
              <a:buNone/>
            </a:pPr>
            <a:r>
              <a:rPr lang="en-US" sz="1010" b="1" dirty="0">
                <a:solidFill>
                  <a:srgbClr val="00A994"/>
                </a:solidFill>
                <a:latin typeface="Aptos" pitchFamily="34" charset="0"/>
                <a:ea typeface="Aptos" pitchFamily="34" charset="-122"/>
                <a:cs typeface="Aptos" pitchFamily="34" charset="-120"/>
              </a:rPr>
              <a:t>Usable private beta</a:t>
            </a:r>
            <a:endParaRPr lang="en-US" sz="1010" dirty="0"/>
          </a:p>
        </p:txBody>
      </p:sp>
      <p:sp>
        <p:nvSpPr>
          <p:cNvPr id="25" name="Shape 23"/>
          <p:cNvSpPr/>
          <p:nvPr/>
        </p:nvSpPr>
        <p:spPr>
          <a:xfrm>
            <a:off x="4572000" y="3273552"/>
            <a:ext cx="91440" cy="91440"/>
          </a:xfrm>
          <a:prstGeom prst="ellipse">
            <a:avLst/>
          </a:prstGeom>
          <a:solidFill>
            <a:srgbClr val="00A994"/>
          </a:solidFill>
          <a:ln w="12700">
            <a:solidFill>
              <a:srgbClr val="00A994">
                <a:alpha val="0"/>
              </a:srgbClr>
            </a:solidFill>
            <a:prstDash val="solid"/>
          </a:ln>
        </p:spPr>
      </p:sp>
      <p:sp>
        <p:nvSpPr>
          <p:cNvPr id="26" name="Text 24"/>
          <p:cNvSpPr/>
          <p:nvPr/>
        </p:nvSpPr>
        <p:spPr>
          <a:xfrm>
            <a:off x="4754880" y="324612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Entity / site / event schema</a:t>
            </a:r>
            <a:endParaRPr lang="en-US" sz="950" dirty="0"/>
          </a:p>
        </p:txBody>
      </p:sp>
      <p:sp>
        <p:nvSpPr>
          <p:cNvPr id="27" name="Shape 25"/>
          <p:cNvSpPr/>
          <p:nvPr/>
        </p:nvSpPr>
        <p:spPr>
          <a:xfrm>
            <a:off x="4572000" y="3593592"/>
            <a:ext cx="91440" cy="91440"/>
          </a:xfrm>
          <a:prstGeom prst="ellipse">
            <a:avLst/>
          </a:prstGeom>
          <a:solidFill>
            <a:srgbClr val="00A994"/>
          </a:solidFill>
          <a:ln w="12700">
            <a:solidFill>
              <a:srgbClr val="00A994">
                <a:alpha val="0"/>
              </a:srgbClr>
            </a:solidFill>
            <a:prstDash val="solid"/>
          </a:ln>
        </p:spPr>
      </p:sp>
      <p:sp>
        <p:nvSpPr>
          <p:cNvPr id="28" name="Text 26"/>
          <p:cNvSpPr/>
          <p:nvPr/>
        </p:nvSpPr>
        <p:spPr>
          <a:xfrm>
            <a:off x="4754880" y="356616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Signal feed + source lineage</a:t>
            </a:r>
            <a:endParaRPr lang="en-US" sz="950" dirty="0"/>
          </a:p>
        </p:txBody>
      </p:sp>
      <p:sp>
        <p:nvSpPr>
          <p:cNvPr id="29" name="Shape 27"/>
          <p:cNvSpPr/>
          <p:nvPr/>
        </p:nvSpPr>
        <p:spPr>
          <a:xfrm>
            <a:off x="4572000" y="3913632"/>
            <a:ext cx="91440" cy="91440"/>
          </a:xfrm>
          <a:prstGeom prst="ellipse">
            <a:avLst/>
          </a:prstGeom>
          <a:solidFill>
            <a:srgbClr val="00A994"/>
          </a:solidFill>
          <a:ln w="12700">
            <a:solidFill>
              <a:srgbClr val="00A994">
                <a:alpha val="0"/>
              </a:srgbClr>
            </a:solidFill>
            <a:prstDash val="solid"/>
          </a:ln>
        </p:spPr>
      </p:sp>
      <p:sp>
        <p:nvSpPr>
          <p:cNvPr id="30" name="Text 28"/>
          <p:cNvSpPr/>
          <p:nvPr/>
        </p:nvSpPr>
        <p:spPr>
          <a:xfrm>
            <a:off x="4754880" y="388620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Saved search + brief generation</a:t>
            </a:r>
            <a:endParaRPr lang="en-US" sz="950" dirty="0"/>
          </a:p>
        </p:txBody>
      </p:sp>
      <p:sp>
        <p:nvSpPr>
          <p:cNvPr id="31" name="Shape 29"/>
          <p:cNvSpPr/>
          <p:nvPr/>
        </p:nvSpPr>
        <p:spPr>
          <a:xfrm>
            <a:off x="4572000" y="4233672"/>
            <a:ext cx="91440" cy="91440"/>
          </a:xfrm>
          <a:prstGeom prst="ellipse">
            <a:avLst/>
          </a:prstGeom>
          <a:solidFill>
            <a:srgbClr val="00A994"/>
          </a:solidFill>
          <a:ln w="12700">
            <a:solidFill>
              <a:srgbClr val="00A994">
                <a:alpha val="0"/>
              </a:srgbClr>
            </a:solidFill>
            <a:prstDash val="solid"/>
          </a:ln>
        </p:spPr>
      </p:sp>
      <p:sp>
        <p:nvSpPr>
          <p:cNvPr id="32" name="Text 30"/>
          <p:cNvSpPr/>
          <p:nvPr/>
        </p:nvSpPr>
        <p:spPr>
          <a:xfrm>
            <a:off x="4754880" y="420624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Weekly correction / QA review</a:t>
            </a:r>
            <a:endParaRPr lang="en-US" sz="950" dirty="0"/>
          </a:p>
        </p:txBody>
      </p:sp>
      <p:sp>
        <p:nvSpPr>
          <p:cNvPr id="33" name="Shape 31"/>
          <p:cNvSpPr/>
          <p:nvPr/>
        </p:nvSpPr>
        <p:spPr>
          <a:xfrm>
            <a:off x="7863840" y="3346704"/>
            <a:ext cx="182880" cy="0"/>
          </a:xfrm>
          <a:prstGeom prst="line">
            <a:avLst/>
          </a:prstGeom>
          <a:noFill/>
          <a:ln w="17780">
            <a:solidFill>
              <a:srgbClr val="00A994"/>
            </a:solidFill>
            <a:prstDash val="solid"/>
            <a:headEnd type="none"/>
            <a:tailEnd type="none"/>
          </a:ln>
        </p:spPr>
      </p:sp>
      <p:sp>
        <p:nvSpPr>
          <p:cNvPr id="34" name="Text 32"/>
          <p:cNvSpPr/>
          <p:nvPr/>
        </p:nvSpPr>
        <p:spPr>
          <a:xfrm>
            <a:off x="7882128" y="3163824"/>
            <a:ext cx="164592" cy="283464"/>
          </a:xfrm>
          <a:prstGeom prst="rect">
            <a:avLst/>
          </a:prstGeom>
          <a:noFill/>
          <a:ln/>
        </p:spPr>
        <p:txBody>
          <a:bodyPr wrap="square" lIns="0" tIns="0" rIns="0" bIns="0" rtlCol="0" anchor="ctr">
            <a:normAutofit/>
          </a:bodyPr>
          <a:lstStyle/>
          <a:p>
            <a:pPr algn="ctr" indent="0" marL="0">
              <a:buNone/>
            </a:pPr>
            <a:r>
              <a:rPr lang="en-US" sz="2100" b="1" dirty="0">
                <a:solidFill>
                  <a:srgbClr val="00A994"/>
                </a:solidFill>
                <a:latin typeface="Aptos" pitchFamily="34" charset="0"/>
                <a:ea typeface="Aptos" pitchFamily="34" charset="-122"/>
                <a:cs typeface="Aptos" pitchFamily="34" charset="-120"/>
              </a:rPr>
              <a:t>›</a:t>
            </a:r>
            <a:endParaRPr lang="en-US" sz="2100" dirty="0"/>
          </a:p>
        </p:txBody>
      </p:sp>
      <p:sp>
        <p:nvSpPr>
          <p:cNvPr id="35" name="Shape 33"/>
          <p:cNvSpPr/>
          <p:nvPr/>
        </p:nvSpPr>
        <p:spPr>
          <a:xfrm>
            <a:off x="8101584" y="1847088"/>
            <a:ext cx="3429000" cy="2999232"/>
          </a:xfrm>
          <a:prstGeom prst="roundRect">
            <a:avLst>
              <a:gd name="adj" fmla="val 3049"/>
            </a:avLst>
          </a:prstGeom>
          <a:solidFill>
            <a:srgbClr val="FFFFFF"/>
          </a:solidFill>
          <a:ln w="8890">
            <a:solidFill>
              <a:srgbClr val="DEE6EC"/>
            </a:solidFill>
            <a:prstDash val="solid"/>
          </a:ln>
        </p:spPr>
      </p:sp>
      <p:sp>
        <p:nvSpPr>
          <p:cNvPr id="36" name="Shape 34"/>
          <p:cNvSpPr/>
          <p:nvPr/>
        </p:nvSpPr>
        <p:spPr>
          <a:xfrm>
            <a:off x="8266176" y="2029968"/>
            <a:ext cx="1243584" cy="237744"/>
          </a:xfrm>
          <a:prstGeom prst="roundRect">
            <a:avLst>
              <a:gd name="adj" fmla="val 38462"/>
            </a:avLst>
          </a:prstGeom>
          <a:solidFill>
            <a:srgbClr val="FFF2D9"/>
          </a:solidFill>
          <a:ln w="10160">
            <a:solidFill>
              <a:srgbClr val="FFF2D9">
                <a:alpha val="0"/>
              </a:srgbClr>
            </a:solidFill>
            <a:prstDash val="solid"/>
          </a:ln>
        </p:spPr>
      </p:sp>
      <p:sp>
        <p:nvSpPr>
          <p:cNvPr id="37" name="Text 35"/>
          <p:cNvSpPr/>
          <p:nvPr/>
        </p:nvSpPr>
        <p:spPr>
          <a:xfrm>
            <a:off x="8330184" y="2048256"/>
            <a:ext cx="1115568" cy="173736"/>
          </a:xfrm>
          <a:prstGeom prst="rect">
            <a:avLst/>
          </a:prstGeom>
          <a:noFill/>
          <a:ln/>
        </p:spPr>
        <p:txBody>
          <a:bodyPr wrap="square" lIns="0" tIns="0" rIns="0" bIns="0" rtlCol="0" anchor="ctr">
            <a:normAutofit/>
          </a:bodyPr>
          <a:lstStyle/>
          <a:p>
            <a:pPr algn="ctr" indent="0" marL="0">
              <a:buNone/>
            </a:pPr>
            <a:r>
              <a:rPr lang="en-US" sz="780" b="1" dirty="0">
                <a:solidFill>
                  <a:srgbClr val="B87912"/>
                </a:solidFill>
                <a:latin typeface="Aptos" pitchFamily="34" charset="0"/>
                <a:ea typeface="Aptos" pitchFamily="34" charset="-122"/>
                <a:cs typeface="Aptos" pitchFamily="34" charset="-120"/>
              </a:rPr>
              <a:t>DAYS 61–90</a:t>
            </a:r>
            <a:endParaRPr lang="en-US" sz="780" dirty="0"/>
          </a:p>
        </p:txBody>
      </p:sp>
      <p:sp>
        <p:nvSpPr>
          <p:cNvPr id="38" name="Text 36"/>
          <p:cNvSpPr/>
          <p:nvPr/>
        </p:nvSpPr>
        <p:spPr>
          <a:xfrm>
            <a:off x="8275320" y="2468880"/>
            <a:ext cx="2852928" cy="301752"/>
          </a:xfrm>
          <a:prstGeom prst="rect">
            <a:avLst/>
          </a:prstGeom>
          <a:noFill/>
          <a:ln/>
        </p:spPr>
        <p:txBody>
          <a:bodyPr wrap="square" lIns="0" tIns="0" rIns="0" bIns="0" rtlCol="0" anchor="ctr">
            <a:normAutofit/>
          </a:bodyPr>
          <a:lstStyle/>
          <a:p>
            <a:pPr algn="l" indent="0" marL="0">
              <a:buNone/>
            </a:pPr>
            <a:r>
              <a:rPr lang="en-US" sz="1700" b="1" dirty="0">
                <a:solidFill>
                  <a:srgbClr val="17283F"/>
                </a:solidFill>
                <a:latin typeface="Aptos Display" pitchFamily="34" charset="0"/>
                <a:ea typeface="Aptos Display" pitchFamily="34" charset="-122"/>
                <a:cs typeface="Aptos Display" pitchFamily="34" charset="-120"/>
              </a:rPr>
              <a:t>Test willingness to pay</a:t>
            </a:r>
            <a:endParaRPr lang="en-US" sz="1700" dirty="0"/>
          </a:p>
        </p:txBody>
      </p:sp>
      <p:sp>
        <p:nvSpPr>
          <p:cNvPr id="39" name="Text 37"/>
          <p:cNvSpPr/>
          <p:nvPr/>
        </p:nvSpPr>
        <p:spPr>
          <a:xfrm>
            <a:off x="8275320" y="2862072"/>
            <a:ext cx="2743200" cy="192024"/>
          </a:xfrm>
          <a:prstGeom prst="rect">
            <a:avLst/>
          </a:prstGeom>
          <a:noFill/>
          <a:ln/>
        </p:spPr>
        <p:txBody>
          <a:bodyPr wrap="square" lIns="0" tIns="0" rIns="0" bIns="0" rtlCol="0" anchor="ctr">
            <a:normAutofit/>
          </a:bodyPr>
          <a:lstStyle/>
          <a:p>
            <a:pPr algn="l" indent="0" marL="0">
              <a:buNone/>
            </a:pPr>
            <a:r>
              <a:rPr lang="en-US" sz="1010" b="1" dirty="0">
                <a:solidFill>
                  <a:srgbClr val="B87912"/>
                </a:solidFill>
                <a:latin typeface="Aptos" pitchFamily="34" charset="0"/>
                <a:ea typeface="Aptos" pitchFamily="34" charset="-122"/>
                <a:cs typeface="Aptos" pitchFamily="34" charset="-120"/>
              </a:rPr>
              <a:t>Pilot conversion decision</a:t>
            </a:r>
            <a:endParaRPr lang="en-US" sz="1010" dirty="0"/>
          </a:p>
        </p:txBody>
      </p:sp>
      <p:sp>
        <p:nvSpPr>
          <p:cNvPr id="40" name="Shape 38"/>
          <p:cNvSpPr/>
          <p:nvPr/>
        </p:nvSpPr>
        <p:spPr>
          <a:xfrm>
            <a:off x="8293608" y="3273552"/>
            <a:ext cx="91440" cy="91440"/>
          </a:xfrm>
          <a:prstGeom prst="ellipse">
            <a:avLst/>
          </a:prstGeom>
          <a:solidFill>
            <a:srgbClr val="B87912"/>
          </a:solidFill>
          <a:ln w="12700">
            <a:solidFill>
              <a:srgbClr val="B87912">
                <a:alpha val="0"/>
              </a:srgbClr>
            </a:solidFill>
            <a:prstDash val="solid"/>
          </a:ln>
        </p:spPr>
      </p:sp>
      <p:sp>
        <p:nvSpPr>
          <p:cNvPr id="41" name="Text 39"/>
          <p:cNvSpPr/>
          <p:nvPr/>
        </p:nvSpPr>
        <p:spPr>
          <a:xfrm>
            <a:off x="8476488" y="324612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Run 3–5 live account workflows</a:t>
            </a:r>
            <a:endParaRPr lang="en-US" sz="950" dirty="0"/>
          </a:p>
        </p:txBody>
      </p:sp>
      <p:sp>
        <p:nvSpPr>
          <p:cNvPr id="42" name="Shape 40"/>
          <p:cNvSpPr/>
          <p:nvPr/>
        </p:nvSpPr>
        <p:spPr>
          <a:xfrm>
            <a:off x="8293608" y="3593592"/>
            <a:ext cx="91440" cy="91440"/>
          </a:xfrm>
          <a:prstGeom prst="ellipse">
            <a:avLst/>
          </a:prstGeom>
          <a:solidFill>
            <a:srgbClr val="B87912"/>
          </a:solidFill>
          <a:ln w="12700">
            <a:solidFill>
              <a:srgbClr val="B87912">
                <a:alpha val="0"/>
              </a:srgbClr>
            </a:solidFill>
            <a:prstDash val="solid"/>
          </a:ln>
        </p:spPr>
      </p:sp>
      <p:sp>
        <p:nvSpPr>
          <p:cNvPr id="43" name="Text 41"/>
          <p:cNvSpPr/>
          <p:nvPr/>
        </p:nvSpPr>
        <p:spPr>
          <a:xfrm>
            <a:off x="8476488" y="356616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Measure signal-to-meeting conversion</a:t>
            </a:r>
            <a:endParaRPr lang="en-US" sz="950" dirty="0"/>
          </a:p>
        </p:txBody>
      </p:sp>
      <p:sp>
        <p:nvSpPr>
          <p:cNvPr id="44" name="Shape 42"/>
          <p:cNvSpPr/>
          <p:nvPr/>
        </p:nvSpPr>
        <p:spPr>
          <a:xfrm>
            <a:off x="8293608" y="3913632"/>
            <a:ext cx="91440" cy="91440"/>
          </a:xfrm>
          <a:prstGeom prst="ellipse">
            <a:avLst/>
          </a:prstGeom>
          <a:solidFill>
            <a:srgbClr val="B87912"/>
          </a:solidFill>
          <a:ln w="12700">
            <a:solidFill>
              <a:srgbClr val="B87912">
                <a:alpha val="0"/>
              </a:srgbClr>
            </a:solidFill>
            <a:prstDash val="solid"/>
          </a:ln>
        </p:spPr>
      </p:sp>
      <p:sp>
        <p:nvSpPr>
          <p:cNvPr id="45" name="Text 43"/>
          <p:cNvSpPr/>
          <p:nvPr/>
        </p:nvSpPr>
        <p:spPr>
          <a:xfrm>
            <a:off x="8476488" y="388620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Test paid pilot / renewal intent</a:t>
            </a:r>
            <a:endParaRPr lang="en-US" sz="950" dirty="0"/>
          </a:p>
        </p:txBody>
      </p:sp>
      <p:sp>
        <p:nvSpPr>
          <p:cNvPr id="46" name="Shape 44"/>
          <p:cNvSpPr/>
          <p:nvPr/>
        </p:nvSpPr>
        <p:spPr>
          <a:xfrm>
            <a:off x="8293608" y="4233672"/>
            <a:ext cx="91440" cy="91440"/>
          </a:xfrm>
          <a:prstGeom prst="ellipse">
            <a:avLst/>
          </a:prstGeom>
          <a:solidFill>
            <a:srgbClr val="B87912"/>
          </a:solidFill>
          <a:ln w="12700">
            <a:solidFill>
              <a:srgbClr val="B87912">
                <a:alpha val="0"/>
              </a:srgbClr>
            </a:solidFill>
            <a:prstDash val="solid"/>
          </a:ln>
        </p:spPr>
      </p:sp>
      <p:sp>
        <p:nvSpPr>
          <p:cNvPr id="47" name="Text 45"/>
          <p:cNvSpPr/>
          <p:nvPr/>
        </p:nvSpPr>
        <p:spPr>
          <a:xfrm>
            <a:off x="8476488" y="4206240"/>
            <a:ext cx="2743200" cy="201168"/>
          </a:xfrm>
          <a:prstGeom prst="rect">
            <a:avLst/>
          </a:prstGeom>
          <a:noFill/>
          <a:ln/>
        </p:spPr>
        <p:txBody>
          <a:bodyPr wrap="square" lIns="0" tIns="0" rIns="0" bIns="0" rtlCol="0" anchor="ctr">
            <a:normAutofit/>
          </a:bodyPr>
          <a:lstStyle/>
          <a:p>
            <a:pPr algn="l" indent="0" marL="0">
              <a:buNone/>
            </a:pPr>
            <a:r>
              <a:rPr lang="en-US" sz="950" dirty="0">
                <a:solidFill>
                  <a:srgbClr val="42566D"/>
                </a:solidFill>
                <a:latin typeface="Aptos" pitchFamily="34" charset="0"/>
                <a:ea typeface="Aptos" pitchFamily="34" charset="-122"/>
                <a:cs typeface="Aptos" pitchFamily="34" charset="-120"/>
              </a:rPr>
              <a:t>Prioritise city-policy expansion</a:t>
            </a:r>
            <a:endParaRPr lang="en-US" sz="950" dirty="0"/>
          </a:p>
        </p:txBody>
      </p:sp>
      <p:sp>
        <p:nvSpPr>
          <p:cNvPr id="48" name="Text 46"/>
          <p:cNvSpPr/>
          <p:nvPr/>
        </p:nvSpPr>
        <p:spPr>
          <a:xfrm>
            <a:off x="713232" y="5193792"/>
            <a:ext cx="1234440" cy="173736"/>
          </a:xfrm>
          <a:prstGeom prst="rect">
            <a:avLst/>
          </a:prstGeom>
          <a:noFill/>
          <a:ln/>
        </p:spPr>
        <p:txBody>
          <a:bodyPr wrap="square" lIns="0" tIns="0" rIns="0" bIns="0" rtlCol="0" anchor="ctr">
            <a:normAutofit/>
          </a:bodyPr>
          <a:lstStyle/>
          <a:p>
            <a:pPr algn="l" indent="0" marL="0">
              <a:buNone/>
            </a:pPr>
            <a:r>
              <a:rPr lang="en-US" sz="840" b="1" spc="120" kern="0" dirty="0">
                <a:solidFill>
                  <a:srgbClr val="00A994"/>
                </a:solidFill>
                <a:latin typeface="Aptos" pitchFamily="34" charset="0"/>
                <a:ea typeface="Aptos" pitchFamily="34" charset="-122"/>
                <a:cs typeface="Aptos" pitchFamily="34" charset="-120"/>
              </a:rPr>
              <a:t>PILOT METRICS</a:t>
            </a:r>
            <a:endParaRPr lang="en-US" sz="840" dirty="0"/>
          </a:p>
        </p:txBody>
      </p:sp>
      <p:sp>
        <p:nvSpPr>
          <p:cNvPr id="49" name="Text 47"/>
          <p:cNvSpPr/>
          <p:nvPr/>
        </p:nvSpPr>
        <p:spPr>
          <a:xfrm>
            <a:off x="713232" y="5504688"/>
            <a:ext cx="2194560" cy="192024"/>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Coverage</a:t>
            </a:r>
            <a:endParaRPr lang="en-US" sz="1100" dirty="0"/>
          </a:p>
        </p:txBody>
      </p:sp>
      <p:sp>
        <p:nvSpPr>
          <p:cNvPr id="50" name="Text 48"/>
          <p:cNvSpPr/>
          <p:nvPr/>
        </p:nvSpPr>
        <p:spPr>
          <a:xfrm>
            <a:off x="713232" y="5760720"/>
            <a:ext cx="2359152" cy="320040"/>
          </a:xfrm>
          <a:prstGeom prst="rect">
            <a:avLst/>
          </a:prstGeom>
          <a:noFill/>
          <a:ln/>
        </p:spPr>
        <p:txBody>
          <a:bodyPr wrap="square" lIns="0" tIns="0" rIns="0" bIns="0" rtlCol="0" anchor="t">
            <a:normAutofit/>
          </a:bodyPr>
          <a:lstStyle/>
          <a:p>
            <a:pPr algn="l" indent="0" marL="0">
              <a:buNone/>
            </a:pPr>
            <a:r>
              <a:rPr lang="en-US" sz="880" dirty="0">
                <a:solidFill>
                  <a:srgbClr val="718196"/>
                </a:solidFill>
                <a:latin typeface="Aptos" pitchFamily="34" charset="0"/>
                <a:ea typeface="Aptos" pitchFamily="34" charset="-122"/>
                <a:cs typeface="Aptos" pitchFamily="34" charset="-120"/>
              </a:rPr>
              <a:t>% records with source + as-of date</a:t>
            </a:r>
            <a:endParaRPr lang="en-US" sz="880" dirty="0"/>
          </a:p>
        </p:txBody>
      </p:sp>
      <p:sp>
        <p:nvSpPr>
          <p:cNvPr id="51" name="Text 49"/>
          <p:cNvSpPr/>
          <p:nvPr/>
        </p:nvSpPr>
        <p:spPr>
          <a:xfrm>
            <a:off x="3456432" y="5504688"/>
            <a:ext cx="2194560" cy="192024"/>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Precision</a:t>
            </a:r>
            <a:endParaRPr lang="en-US" sz="1100" dirty="0"/>
          </a:p>
        </p:txBody>
      </p:sp>
      <p:sp>
        <p:nvSpPr>
          <p:cNvPr id="52" name="Text 50"/>
          <p:cNvSpPr/>
          <p:nvPr/>
        </p:nvSpPr>
        <p:spPr>
          <a:xfrm>
            <a:off x="3456432" y="5760720"/>
            <a:ext cx="2359152" cy="320040"/>
          </a:xfrm>
          <a:prstGeom prst="rect">
            <a:avLst/>
          </a:prstGeom>
          <a:noFill/>
          <a:ln/>
        </p:spPr>
        <p:txBody>
          <a:bodyPr wrap="square" lIns="0" tIns="0" rIns="0" bIns="0" rtlCol="0" anchor="t">
            <a:normAutofit/>
          </a:bodyPr>
          <a:lstStyle/>
          <a:p>
            <a:pPr algn="l" indent="0" marL="0">
              <a:buNone/>
            </a:pPr>
            <a:r>
              <a:rPr lang="en-US" sz="880" dirty="0">
                <a:solidFill>
                  <a:srgbClr val="718196"/>
                </a:solidFill>
                <a:latin typeface="Aptos" pitchFamily="34" charset="0"/>
                <a:ea typeface="Aptos" pitchFamily="34" charset="-122"/>
                <a:cs typeface="Aptos" pitchFamily="34" charset="-120"/>
              </a:rPr>
              <a:t>% signals confirmed by reviewer</a:t>
            </a:r>
            <a:endParaRPr lang="en-US" sz="880" dirty="0"/>
          </a:p>
        </p:txBody>
      </p:sp>
      <p:sp>
        <p:nvSpPr>
          <p:cNvPr id="53" name="Text 51"/>
          <p:cNvSpPr/>
          <p:nvPr/>
        </p:nvSpPr>
        <p:spPr>
          <a:xfrm>
            <a:off x="6199632" y="5504688"/>
            <a:ext cx="2194560" cy="192024"/>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Freshness</a:t>
            </a:r>
            <a:endParaRPr lang="en-US" sz="1100" dirty="0"/>
          </a:p>
        </p:txBody>
      </p:sp>
      <p:sp>
        <p:nvSpPr>
          <p:cNvPr id="54" name="Text 52"/>
          <p:cNvSpPr/>
          <p:nvPr/>
        </p:nvSpPr>
        <p:spPr>
          <a:xfrm>
            <a:off x="6199632" y="5760720"/>
            <a:ext cx="2359152" cy="320040"/>
          </a:xfrm>
          <a:prstGeom prst="rect">
            <a:avLst/>
          </a:prstGeom>
          <a:noFill/>
          <a:ln/>
        </p:spPr>
        <p:txBody>
          <a:bodyPr wrap="square" lIns="0" tIns="0" rIns="0" bIns="0" rtlCol="0" anchor="t">
            <a:normAutofit/>
          </a:bodyPr>
          <a:lstStyle/>
          <a:p>
            <a:pPr algn="l" indent="0" marL="0">
              <a:buNone/>
            </a:pPr>
            <a:r>
              <a:rPr lang="en-US" sz="880" dirty="0">
                <a:solidFill>
                  <a:srgbClr val="718196"/>
                </a:solidFill>
                <a:latin typeface="Aptos" pitchFamily="34" charset="0"/>
                <a:ea typeface="Aptos" pitchFamily="34" charset="-122"/>
                <a:cs typeface="Aptos" pitchFamily="34" charset="-120"/>
              </a:rPr>
              <a:t>median time from public release to capture</a:t>
            </a:r>
            <a:endParaRPr lang="en-US" sz="880" dirty="0"/>
          </a:p>
        </p:txBody>
      </p:sp>
      <p:sp>
        <p:nvSpPr>
          <p:cNvPr id="55" name="Text 53"/>
          <p:cNvSpPr/>
          <p:nvPr/>
        </p:nvSpPr>
        <p:spPr>
          <a:xfrm>
            <a:off x="8942832" y="5504688"/>
            <a:ext cx="2194560" cy="192024"/>
          </a:xfrm>
          <a:prstGeom prst="rect">
            <a:avLst/>
          </a:prstGeom>
          <a:noFill/>
          <a:ln/>
        </p:spPr>
        <p:txBody>
          <a:bodyPr wrap="square" lIns="0" tIns="0" rIns="0" bIns="0" rtlCol="0" anchor="ctr">
            <a:normAutofit/>
          </a:bodyPr>
          <a:lstStyle/>
          <a:p>
            <a:pPr algn="l" indent="0" marL="0">
              <a:buNone/>
            </a:pPr>
            <a:r>
              <a:rPr lang="en-US" sz="1100" b="1" dirty="0">
                <a:solidFill>
                  <a:srgbClr val="17283F"/>
                </a:solidFill>
                <a:latin typeface="Aptos" pitchFamily="34" charset="0"/>
                <a:ea typeface="Aptos" pitchFamily="34" charset="-122"/>
                <a:cs typeface="Aptos" pitchFamily="34" charset="-120"/>
              </a:rPr>
              <a:t>Value</a:t>
            </a:r>
            <a:endParaRPr lang="en-US" sz="1100" dirty="0"/>
          </a:p>
        </p:txBody>
      </p:sp>
      <p:sp>
        <p:nvSpPr>
          <p:cNvPr id="56" name="Text 54"/>
          <p:cNvSpPr/>
          <p:nvPr/>
        </p:nvSpPr>
        <p:spPr>
          <a:xfrm>
            <a:off x="8942832" y="5760720"/>
            <a:ext cx="2359152" cy="320040"/>
          </a:xfrm>
          <a:prstGeom prst="rect">
            <a:avLst/>
          </a:prstGeom>
          <a:noFill/>
          <a:ln/>
        </p:spPr>
        <p:txBody>
          <a:bodyPr wrap="square" lIns="0" tIns="0" rIns="0" bIns="0" rtlCol="0" anchor="t">
            <a:normAutofit/>
          </a:bodyPr>
          <a:lstStyle/>
          <a:p>
            <a:pPr algn="l" indent="0" marL="0">
              <a:buNone/>
            </a:pPr>
            <a:r>
              <a:rPr lang="en-US" sz="880" dirty="0">
                <a:solidFill>
                  <a:srgbClr val="718196"/>
                </a:solidFill>
                <a:latin typeface="Aptos" pitchFamily="34" charset="0"/>
                <a:ea typeface="Aptos" pitchFamily="34" charset="-122"/>
                <a:cs typeface="Aptos" pitchFamily="34" charset="-120"/>
              </a:rPr>
              <a:t>research time saved + qualified meetings</a:t>
            </a:r>
            <a:endParaRPr lang="en-US" sz="880" dirty="0"/>
          </a:p>
        </p:txBody>
      </p:sp>
      <p:sp>
        <p:nvSpPr>
          <p:cNvPr id="57" name="Text 55"/>
          <p:cNvSpPr/>
          <p:nvPr/>
        </p:nvSpPr>
        <p:spPr>
          <a:xfrm>
            <a:off x="713232" y="6172200"/>
            <a:ext cx="10789920" cy="164592"/>
          </a:xfrm>
          <a:prstGeom prst="rect">
            <a:avLst/>
          </a:prstGeom>
          <a:noFill/>
          <a:ln/>
        </p:spPr>
        <p:txBody>
          <a:bodyPr wrap="square" lIns="0" tIns="0" rIns="0" bIns="0" rtlCol="0" anchor="ctr">
            <a:normAutofit/>
          </a:bodyPr>
          <a:lstStyle/>
          <a:p>
            <a:pPr algn="l" indent="0" marL="0">
              <a:buNone/>
            </a:pPr>
            <a:r>
              <a:rPr lang="en-US" sz="820" i="1" dirty="0">
                <a:solidFill>
                  <a:srgbClr val="718196"/>
                </a:solidFill>
                <a:latin typeface="Aptos" pitchFamily="34" charset="0"/>
                <a:ea typeface="Aptos" pitchFamily="34" charset="-122"/>
                <a:cs typeface="Aptos" pitchFamily="34" charset="-120"/>
              </a:rPr>
              <a:t>Targets should be set after baseline measurement. “90% sourced” or “24-hour refresh” are targets to test—not existing performance claims.</a:t>
            </a:r>
            <a:endParaRPr lang="en-US" sz="82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12 · EXAMPLE WORKFLOW</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One public announcement becomes a qualified action—not another saved link.</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Illustrative walkthrough using a public Protolabs announcement in Hyderabad. The planned scale is not treated as actual hiring.</a:t>
            </a:r>
            <a:endParaRPr lang="en-US" sz="1120" dirty="0"/>
          </a:p>
        </p:txBody>
      </p:sp>
      <p:sp>
        <p:nvSpPr>
          <p:cNvPr id="5" name="Shape 3"/>
          <p:cNvSpPr/>
          <p:nvPr/>
        </p:nvSpPr>
        <p:spPr>
          <a:xfrm>
            <a:off x="658368" y="1828800"/>
            <a:ext cx="2880360" cy="3337560"/>
          </a:xfrm>
          <a:prstGeom prst="roundRect">
            <a:avLst>
              <a:gd name="adj" fmla="val 3175"/>
            </a:avLst>
          </a:prstGeom>
          <a:solidFill>
            <a:srgbClr val="FFFFFF"/>
          </a:solidFill>
          <a:ln w="8890">
            <a:solidFill>
              <a:srgbClr val="DEE6EC"/>
            </a:solidFill>
            <a:prstDash val="solid"/>
          </a:ln>
        </p:spPr>
      </p:sp>
      <p:sp>
        <p:nvSpPr>
          <p:cNvPr id="6" name="Shape 4"/>
          <p:cNvSpPr/>
          <p:nvPr/>
        </p:nvSpPr>
        <p:spPr>
          <a:xfrm>
            <a:off x="841248" y="2029968"/>
            <a:ext cx="1243584" cy="237744"/>
          </a:xfrm>
          <a:prstGeom prst="roundRect">
            <a:avLst>
              <a:gd name="adj" fmla="val 38462"/>
            </a:avLst>
          </a:prstGeom>
          <a:solidFill>
            <a:srgbClr val="EAF0FF"/>
          </a:solidFill>
          <a:ln w="10160">
            <a:solidFill>
              <a:srgbClr val="EAF0FF">
                <a:alpha val="0"/>
              </a:srgbClr>
            </a:solidFill>
            <a:prstDash val="solid"/>
          </a:ln>
        </p:spPr>
      </p:sp>
      <p:sp>
        <p:nvSpPr>
          <p:cNvPr id="7" name="Text 5"/>
          <p:cNvSpPr/>
          <p:nvPr/>
        </p:nvSpPr>
        <p:spPr>
          <a:xfrm>
            <a:off x="905256" y="2048256"/>
            <a:ext cx="1115568" cy="173736"/>
          </a:xfrm>
          <a:prstGeom prst="rect">
            <a:avLst/>
          </a:prstGeom>
          <a:noFill/>
          <a:ln/>
        </p:spPr>
        <p:txBody>
          <a:bodyPr wrap="square" lIns="0" tIns="0" rIns="0" bIns="0" rtlCol="0" anchor="ctr">
            <a:normAutofit/>
          </a:bodyPr>
          <a:lstStyle/>
          <a:p>
            <a:pPr algn="ctr" indent="0" marL="0">
              <a:buNone/>
            </a:pPr>
            <a:r>
              <a:rPr lang="en-US" sz="780" b="1" dirty="0">
                <a:solidFill>
                  <a:srgbClr val="5B80D5"/>
                </a:solidFill>
                <a:latin typeface="Aptos" pitchFamily="34" charset="0"/>
                <a:ea typeface="Aptos" pitchFamily="34" charset="-122"/>
                <a:cs typeface="Aptos" pitchFamily="34" charset="-120"/>
              </a:rPr>
              <a:t>STEP 1 · DETECT</a:t>
            </a:r>
            <a:endParaRPr lang="en-US" sz="780" dirty="0"/>
          </a:p>
        </p:txBody>
      </p:sp>
      <p:sp>
        <p:nvSpPr>
          <p:cNvPr id="8" name="Text 6"/>
          <p:cNvSpPr/>
          <p:nvPr/>
        </p:nvSpPr>
        <p:spPr>
          <a:xfrm>
            <a:off x="841248" y="2523744"/>
            <a:ext cx="2286000" cy="310896"/>
          </a:xfrm>
          <a:prstGeom prst="rect">
            <a:avLst/>
          </a:prstGeom>
          <a:noFill/>
          <a:ln/>
        </p:spPr>
        <p:txBody>
          <a:bodyPr wrap="square" lIns="0" tIns="0" rIns="0" bIns="0" rtlCol="0" anchor="ctr">
            <a:normAutofit/>
          </a:bodyPr>
          <a:lstStyle/>
          <a:p>
            <a:pPr algn="l" indent="0" marL="0">
              <a:buNone/>
            </a:pPr>
            <a:r>
              <a:rPr lang="en-US" sz="2200" b="1" dirty="0">
                <a:solidFill>
                  <a:srgbClr val="17283F"/>
                </a:solidFill>
                <a:latin typeface="Aptos Display" pitchFamily="34" charset="0"/>
                <a:ea typeface="Aptos Display" pitchFamily="34" charset="-122"/>
                <a:cs typeface="Aptos Display" pitchFamily="34" charset="-120"/>
              </a:rPr>
              <a:t>Protolabs</a:t>
            </a:r>
            <a:endParaRPr lang="en-US" sz="2200" dirty="0"/>
          </a:p>
        </p:txBody>
      </p:sp>
      <p:sp>
        <p:nvSpPr>
          <p:cNvPr id="9" name="Text 7"/>
          <p:cNvSpPr/>
          <p:nvPr/>
        </p:nvSpPr>
        <p:spPr>
          <a:xfrm>
            <a:off x="841248" y="2898648"/>
            <a:ext cx="2286000" cy="201168"/>
          </a:xfrm>
          <a:prstGeom prst="rect">
            <a:avLst/>
          </a:prstGeom>
          <a:noFill/>
          <a:ln/>
        </p:spPr>
        <p:txBody>
          <a:bodyPr wrap="square" lIns="0" tIns="0" rIns="0" bIns="0" rtlCol="0" anchor="ctr">
            <a:normAutofit/>
          </a:bodyPr>
          <a:lstStyle/>
          <a:p>
            <a:pPr algn="l" indent="0" marL="0">
              <a:buNone/>
            </a:pPr>
            <a:r>
              <a:rPr lang="en-US" sz="1100" b="1" dirty="0">
                <a:solidFill>
                  <a:srgbClr val="00A994"/>
                </a:solidFill>
                <a:latin typeface="Aptos" pitchFamily="34" charset="0"/>
                <a:ea typeface="Aptos" pitchFamily="34" charset="-122"/>
                <a:cs typeface="Aptos" pitchFamily="34" charset="-120"/>
              </a:rPr>
              <a:t>Planned Hyderabad GCC</a:t>
            </a:r>
            <a:endParaRPr lang="en-US" sz="1100" dirty="0"/>
          </a:p>
        </p:txBody>
      </p:sp>
      <p:sp>
        <p:nvSpPr>
          <p:cNvPr id="10" name="Text 8"/>
          <p:cNvSpPr/>
          <p:nvPr/>
        </p:nvSpPr>
        <p:spPr>
          <a:xfrm>
            <a:off x="841248" y="3246120"/>
            <a:ext cx="2331720" cy="219456"/>
          </a:xfrm>
          <a:prstGeom prst="rect">
            <a:avLst/>
          </a:prstGeom>
          <a:noFill/>
          <a:ln/>
        </p:spPr>
        <p:txBody>
          <a:bodyPr wrap="square" lIns="0" tIns="0" rIns="0" bIns="0" rtlCol="0" anchor="ctr">
            <a:normAutofit/>
          </a:bodyPr>
          <a:lstStyle/>
          <a:p>
            <a:pPr algn="l" indent="0" marL="0">
              <a:buNone/>
            </a:pPr>
            <a:r>
              <a:rPr lang="en-US" sz="1050" b="1" dirty="0">
                <a:solidFill>
                  <a:srgbClr val="17283F"/>
                </a:solidFill>
                <a:latin typeface="Aptos" pitchFamily="34" charset="0"/>
                <a:ea typeface="Aptos" pitchFamily="34" charset="-122"/>
                <a:cs typeface="Aptos" pitchFamily="34" charset="-120"/>
              </a:rPr>
              <a:t>200–300 employees (planned)</a:t>
            </a:r>
            <a:endParaRPr lang="en-US" sz="1050" dirty="0"/>
          </a:p>
        </p:txBody>
      </p:sp>
      <p:sp>
        <p:nvSpPr>
          <p:cNvPr id="11" name="Text 9"/>
          <p:cNvSpPr/>
          <p:nvPr/>
        </p:nvSpPr>
        <p:spPr>
          <a:xfrm>
            <a:off x="841248" y="3621024"/>
            <a:ext cx="2331720" cy="429768"/>
          </a:xfrm>
          <a:prstGeom prst="rect">
            <a:avLst/>
          </a:prstGeom>
          <a:noFill/>
          <a:ln/>
        </p:spPr>
        <p:txBody>
          <a:bodyPr wrap="square" lIns="0" tIns="0" rIns="0" bIns="0" rtlCol="0" anchor="ctr">
            <a:normAutofit/>
          </a:bodyPr>
          <a:lstStyle/>
          <a:p>
            <a:pPr algn="l" indent="0" marL="0">
              <a:buNone/>
            </a:pPr>
            <a:r>
              <a:rPr lang="en-US" sz="900" dirty="0">
                <a:solidFill>
                  <a:srgbClr val="718196"/>
                </a:solidFill>
                <a:latin typeface="Aptos" pitchFamily="34" charset="0"/>
                <a:ea typeface="Aptos" pitchFamily="34" charset="-122"/>
                <a:cs typeface="Aptos" pitchFamily="34" charset="-120"/>
              </a:rPr>
              <a:t>Public source: Invest Telangana</a:t>
            </a:r>
            <a:endParaRPr lang="en-US" sz="900" dirty="0"/>
          </a:p>
          <a:p>
            <a:pPr algn="l" indent="0" marL="0">
              <a:buNone/>
            </a:pPr>
            <a:r>
              <a:rPr lang="en-US" sz="900" dirty="0">
                <a:solidFill>
                  <a:srgbClr val="718196"/>
                </a:solidFill>
                <a:latin typeface="Aptos" pitchFamily="34" charset="0"/>
                <a:ea typeface="Aptos" pitchFamily="34" charset="-122"/>
                <a:cs typeface="Aptos" pitchFamily="34" charset="-120"/>
              </a:rPr>
              <a:t>Published 16 Apr 2026</a:t>
            </a:r>
            <a:endParaRPr lang="en-US" sz="900" dirty="0"/>
          </a:p>
        </p:txBody>
      </p:sp>
      <p:sp>
        <p:nvSpPr>
          <p:cNvPr id="12" name="Shape 10"/>
          <p:cNvSpPr/>
          <p:nvPr/>
        </p:nvSpPr>
        <p:spPr>
          <a:xfrm>
            <a:off x="841248" y="4224528"/>
            <a:ext cx="2514600" cy="0"/>
          </a:xfrm>
          <a:prstGeom prst="line">
            <a:avLst/>
          </a:prstGeom>
          <a:noFill/>
          <a:ln w="8890">
            <a:solidFill>
              <a:srgbClr val="DEE6EC"/>
            </a:solidFill>
            <a:prstDash val="solid"/>
            <a:headEnd type="none"/>
            <a:tailEnd type="none"/>
          </a:ln>
        </p:spPr>
      </p:sp>
      <p:sp>
        <p:nvSpPr>
          <p:cNvPr id="13" name="Text 11"/>
          <p:cNvSpPr/>
          <p:nvPr/>
        </p:nvSpPr>
        <p:spPr>
          <a:xfrm>
            <a:off x="841248" y="4407408"/>
            <a:ext cx="2350008" cy="502920"/>
          </a:xfrm>
          <a:prstGeom prst="rect">
            <a:avLst/>
          </a:prstGeom>
          <a:noFill/>
          <a:ln/>
        </p:spPr>
        <p:txBody>
          <a:bodyPr wrap="square" lIns="0" tIns="0" rIns="0" bIns="0" rtlCol="0" anchor="t">
            <a:normAutofit/>
          </a:bodyPr>
          <a:lstStyle/>
          <a:p>
            <a:pPr algn="l" indent="0" marL="0">
              <a:buNone/>
            </a:pPr>
            <a:r>
              <a:rPr lang="en-US" sz="1000" dirty="0">
                <a:solidFill>
                  <a:srgbClr val="42566D"/>
                </a:solidFill>
                <a:latin typeface="Aptos" pitchFamily="34" charset="0"/>
                <a:ea typeface="Aptos" pitchFamily="34" charset="-122"/>
                <a:cs typeface="Aptos" pitchFamily="34" charset="-120"/>
              </a:rPr>
              <a:t>Capture URL + date + excerpt; normalise company, city, sector, event type and plan status.</a:t>
            </a:r>
            <a:endParaRPr lang="en-US" sz="1000" dirty="0"/>
          </a:p>
        </p:txBody>
      </p:sp>
      <p:sp>
        <p:nvSpPr>
          <p:cNvPr id="14" name="Text 12">
            <a:hlinkClick r:id="rId1" tooltip=""/>
          </p:cNvPr>
          <p:cNvSpPr/>
          <p:nvPr/>
        </p:nvSpPr>
        <p:spPr>
          <a:xfrm>
            <a:off x="841248" y="4910328"/>
            <a:ext cx="914400" cy="146304"/>
          </a:xfrm>
          <a:prstGeom prst="rect">
            <a:avLst/>
          </a:prstGeom>
          <a:noFill/>
          <a:ln/>
        </p:spPr>
        <p:txBody>
          <a:bodyPr wrap="square" lIns="0" tIns="0" rIns="0" bIns="0" rtlCol="0" anchor="ctr">
            <a:normAutofit/>
          </a:bodyPr>
          <a:lstStyle/>
          <a:p>
            <a:pPr algn="l" indent="0" marL="0">
              <a:buNone/>
            </a:pPr>
            <a:r>
              <a:rPr lang="en-US" sz="820" b="1" u="sng" dirty="0">
                <a:solidFill>
                  <a:srgbClr val="00A994"/>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SOURCE ↗</a:t>
            </a:r>
            <a:endParaRPr lang="en-US" sz="820" dirty="0"/>
          </a:p>
        </p:txBody>
      </p:sp>
      <p:sp>
        <p:nvSpPr>
          <p:cNvPr id="15" name="Shape 13"/>
          <p:cNvSpPr/>
          <p:nvPr/>
        </p:nvSpPr>
        <p:spPr>
          <a:xfrm>
            <a:off x="3675888" y="3383280"/>
            <a:ext cx="493776" cy="0"/>
          </a:xfrm>
          <a:prstGeom prst="line">
            <a:avLst/>
          </a:prstGeom>
          <a:noFill/>
          <a:ln w="19050">
            <a:solidFill>
              <a:srgbClr val="00A994"/>
            </a:solidFill>
            <a:prstDash val="solid"/>
            <a:headEnd type="none"/>
            <a:tailEnd type="none"/>
          </a:ln>
        </p:spPr>
      </p:sp>
      <p:sp>
        <p:nvSpPr>
          <p:cNvPr id="16" name="Text 14"/>
          <p:cNvSpPr/>
          <p:nvPr/>
        </p:nvSpPr>
        <p:spPr>
          <a:xfrm>
            <a:off x="3858768" y="3163824"/>
            <a:ext cx="182880" cy="292608"/>
          </a:xfrm>
          <a:prstGeom prst="rect">
            <a:avLst/>
          </a:prstGeom>
          <a:noFill/>
          <a:ln/>
        </p:spPr>
        <p:txBody>
          <a:bodyPr wrap="square" lIns="0" tIns="0" rIns="0" bIns="0" rtlCol="0" anchor="ctr">
            <a:normAutofit/>
          </a:bodyPr>
          <a:lstStyle/>
          <a:p>
            <a:pPr algn="ctr" indent="0" marL="0">
              <a:buNone/>
            </a:pPr>
            <a:r>
              <a:rPr lang="en-US" sz="2400" b="1" dirty="0">
                <a:solidFill>
                  <a:srgbClr val="00A994"/>
                </a:solidFill>
                <a:latin typeface="Aptos" pitchFamily="34" charset="0"/>
                <a:ea typeface="Aptos" pitchFamily="34" charset="-122"/>
                <a:cs typeface="Aptos" pitchFamily="34" charset="-120"/>
              </a:rPr>
              <a:t>›</a:t>
            </a:r>
            <a:endParaRPr lang="en-US" sz="2400" dirty="0"/>
          </a:p>
        </p:txBody>
      </p:sp>
      <p:sp>
        <p:nvSpPr>
          <p:cNvPr id="17" name="Shape 15"/>
          <p:cNvSpPr/>
          <p:nvPr/>
        </p:nvSpPr>
        <p:spPr>
          <a:xfrm>
            <a:off x="4261104" y="1828800"/>
            <a:ext cx="3182112" cy="3337560"/>
          </a:xfrm>
          <a:prstGeom prst="roundRect">
            <a:avLst>
              <a:gd name="adj" fmla="val 2874"/>
            </a:avLst>
          </a:prstGeom>
          <a:solidFill>
            <a:srgbClr val="F0F8F7"/>
          </a:solidFill>
          <a:ln w="8890">
            <a:solidFill>
              <a:srgbClr val="D3EAE5"/>
            </a:solidFill>
            <a:prstDash val="solid"/>
          </a:ln>
        </p:spPr>
      </p:sp>
      <p:sp>
        <p:nvSpPr>
          <p:cNvPr id="18" name="Shape 16"/>
          <p:cNvSpPr/>
          <p:nvPr/>
        </p:nvSpPr>
        <p:spPr>
          <a:xfrm>
            <a:off x="4462272" y="2029968"/>
            <a:ext cx="1243584" cy="237744"/>
          </a:xfrm>
          <a:prstGeom prst="roundRect">
            <a:avLst>
              <a:gd name="adj" fmla="val 38462"/>
            </a:avLst>
          </a:prstGeom>
          <a:solidFill>
            <a:srgbClr val="E2F7F3"/>
          </a:solidFill>
          <a:ln w="10160">
            <a:solidFill>
              <a:srgbClr val="E2F7F3">
                <a:alpha val="0"/>
              </a:srgbClr>
            </a:solidFill>
            <a:prstDash val="solid"/>
          </a:ln>
        </p:spPr>
      </p:sp>
      <p:sp>
        <p:nvSpPr>
          <p:cNvPr id="19" name="Text 17"/>
          <p:cNvSpPr/>
          <p:nvPr/>
        </p:nvSpPr>
        <p:spPr>
          <a:xfrm>
            <a:off x="4526280" y="2048256"/>
            <a:ext cx="1115568" cy="173736"/>
          </a:xfrm>
          <a:prstGeom prst="rect">
            <a:avLst/>
          </a:prstGeom>
          <a:noFill/>
          <a:ln/>
        </p:spPr>
        <p:txBody>
          <a:bodyPr wrap="square" lIns="0" tIns="0" rIns="0" bIns="0" rtlCol="0" anchor="ctr">
            <a:normAutofit/>
          </a:bodyPr>
          <a:lstStyle/>
          <a:p>
            <a:pPr algn="ctr" indent="0" marL="0">
              <a:buNone/>
            </a:pPr>
            <a:r>
              <a:rPr lang="en-US" sz="780" b="1" dirty="0">
                <a:solidFill>
                  <a:srgbClr val="00A994"/>
                </a:solidFill>
                <a:latin typeface="Aptos" pitchFamily="34" charset="0"/>
                <a:ea typeface="Aptos" pitchFamily="34" charset="-122"/>
                <a:cs typeface="Aptos" pitchFamily="34" charset="-120"/>
              </a:rPr>
              <a:t>STEP 2 · VERIFY</a:t>
            </a:r>
            <a:endParaRPr lang="en-US" sz="780" dirty="0"/>
          </a:p>
        </p:txBody>
      </p:sp>
      <p:sp>
        <p:nvSpPr>
          <p:cNvPr id="20" name="Text 18"/>
          <p:cNvSpPr/>
          <p:nvPr/>
        </p:nvSpPr>
        <p:spPr>
          <a:xfrm>
            <a:off x="4462272" y="2523744"/>
            <a:ext cx="2697480" cy="283464"/>
          </a:xfrm>
          <a:prstGeom prst="rect">
            <a:avLst/>
          </a:prstGeom>
          <a:noFill/>
          <a:ln/>
        </p:spPr>
        <p:txBody>
          <a:bodyPr wrap="square" lIns="0" tIns="0" rIns="0" bIns="0" rtlCol="0" anchor="ctr">
            <a:normAutofit/>
          </a:bodyPr>
          <a:lstStyle/>
          <a:p>
            <a:pPr algn="l" indent="0" marL="0">
              <a:buNone/>
            </a:pPr>
            <a:r>
              <a:rPr lang="en-US" sz="1600" b="1" dirty="0">
                <a:solidFill>
                  <a:srgbClr val="17283F"/>
                </a:solidFill>
                <a:latin typeface="Aptos Display" pitchFamily="34" charset="0"/>
                <a:ea typeface="Aptos Display" pitchFamily="34" charset="-122"/>
                <a:cs typeface="Aptos Display" pitchFamily="34" charset="-120"/>
              </a:rPr>
              <a:t>What the evidence says</a:t>
            </a:r>
            <a:endParaRPr lang="en-US" sz="1600" dirty="0"/>
          </a:p>
        </p:txBody>
      </p:sp>
      <p:sp>
        <p:nvSpPr>
          <p:cNvPr id="21" name="Text 19"/>
          <p:cNvSpPr/>
          <p:nvPr/>
        </p:nvSpPr>
        <p:spPr>
          <a:xfrm>
            <a:off x="4480560" y="2999232"/>
            <a:ext cx="1005840" cy="155448"/>
          </a:xfrm>
          <a:prstGeom prst="rect">
            <a:avLst/>
          </a:prstGeom>
          <a:noFill/>
          <a:ln/>
        </p:spPr>
        <p:txBody>
          <a:bodyPr wrap="square" lIns="0" tIns="0" rIns="0" bIns="0" rtlCol="0" anchor="ctr">
            <a:normAutofit/>
          </a:bodyPr>
          <a:lstStyle/>
          <a:p>
            <a:pPr algn="l" indent="0" marL="0">
              <a:buNone/>
            </a:pPr>
            <a:r>
              <a:rPr lang="en-US" sz="760" b="1" spc="60" kern="0" dirty="0">
                <a:solidFill>
                  <a:srgbClr val="718196"/>
                </a:solidFill>
                <a:latin typeface="Aptos" pitchFamily="34" charset="0"/>
                <a:ea typeface="Aptos" pitchFamily="34" charset="-122"/>
                <a:cs typeface="Aptos" pitchFamily="34" charset="-120"/>
              </a:rPr>
              <a:t>KNOWN</a:t>
            </a:r>
            <a:endParaRPr lang="en-US" sz="760" dirty="0"/>
          </a:p>
        </p:txBody>
      </p:sp>
      <p:sp>
        <p:nvSpPr>
          <p:cNvPr id="22" name="Text 20"/>
          <p:cNvSpPr/>
          <p:nvPr/>
        </p:nvSpPr>
        <p:spPr>
          <a:xfrm>
            <a:off x="5504688" y="2999232"/>
            <a:ext cx="1719072" cy="228600"/>
          </a:xfrm>
          <a:prstGeom prst="rect">
            <a:avLst/>
          </a:prstGeom>
          <a:noFill/>
          <a:ln/>
        </p:spPr>
        <p:txBody>
          <a:bodyPr wrap="square" lIns="0" tIns="0" rIns="0" bIns="0" rtlCol="0" anchor="ctr">
            <a:normAutofit/>
          </a:bodyPr>
          <a:lstStyle/>
          <a:p>
            <a:pPr algn="l" indent="0" marL="0">
              <a:buNone/>
            </a:pPr>
            <a:r>
              <a:rPr lang="en-US" sz="920" b="1" dirty="0">
                <a:solidFill>
                  <a:srgbClr val="17283F"/>
                </a:solidFill>
                <a:latin typeface="Aptos" pitchFamily="34" charset="0"/>
                <a:ea typeface="Aptos" pitchFamily="34" charset="-122"/>
                <a:cs typeface="Aptos" pitchFamily="34" charset="-120"/>
              </a:rPr>
              <a:t>A planned GCC in Hyderabad</a:t>
            </a:r>
            <a:endParaRPr lang="en-US" sz="920" dirty="0"/>
          </a:p>
        </p:txBody>
      </p:sp>
      <p:sp>
        <p:nvSpPr>
          <p:cNvPr id="23" name="Text 21"/>
          <p:cNvSpPr/>
          <p:nvPr/>
        </p:nvSpPr>
        <p:spPr>
          <a:xfrm>
            <a:off x="4480560" y="3410712"/>
            <a:ext cx="1005840" cy="155448"/>
          </a:xfrm>
          <a:prstGeom prst="rect">
            <a:avLst/>
          </a:prstGeom>
          <a:noFill/>
          <a:ln/>
        </p:spPr>
        <p:txBody>
          <a:bodyPr wrap="square" lIns="0" tIns="0" rIns="0" bIns="0" rtlCol="0" anchor="ctr">
            <a:normAutofit/>
          </a:bodyPr>
          <a:lstStyle/>
          <a:p>
            <a:pPr algn="l" indent="0" marL="0">
              <a:buNone/>
            </a:pPr>
            <a:r>
              <a:rPr lang="en-US" sz="760" b="1" spc="60" kern="0" dirty="0">
                <a:solidFill>
                  <a:srgbClr val="718196"/>
                </a:solidFill>
                <a:latin typeface="Aptos" pitchFamily="34" charset="0"/>
                <a:ea typeface="Aptos" pitchFamily="34" charset="-122"/>
                <a:cs typeface="Aptos" pitchFamily="34" charset="-120"/>
              </a:rPr>
              <a:t>REPORTED SCALE</a:t>
            </a:r>
            <a:endParaRPr lang="en-US" sz="760" dirty="0"/>
          </a:p>
        </p:txBody>
      </p:sp>
      <p:sp>
        <p:nvSpPr>
          <p:cNvPr id="24" name="Text 22"/>
          <p:cNvSpPr/>
          <p:nvPr/>
        </p:nvSpPr>
        <p:spPr>
          <a:xfrm>
            <a:off x="5504688" y="3410712"/>
            <a:ext cx="1719072" cy="228600"/>
          </a:xfrm>
          <a:prstGeom prst="rect">
            <a:avLst/>
          </a:prstGeom>
          <a:noFill/>
          <a:ln/>
        </p:spPr>
        <p:txBody>
          <a:bodyPr wrap="square" lIns="0" tIns="0" rIns="0" bIns="0" rtlCol="0" anchor="ctr">
            <a:normAutofit/>
          </a:bodyPr>
          <a:lstStyle/>
          <a:p>
            <a:pPr algn="l" indent="0" marL="0">
              <a:buNone/>
            </a:pPr>
            <a:r>
              <a:rPr lang="en-US" sz="920" dirty="0">
                <a:solidFill>
                  <a:srgbClr val="17283F"/>
                </a:solidFill>
                <a:latin typeface="Aptos" pitchFamily="34" charset="0"/>
                <a:ea typeface="Aptos" pitchFamily="34" charset="-122"/>
                <a:cs typeface="Aptos" pitchFamily="34" charset="-120"/>
              </a:rPr>
              <a:t>200–300 employees</a:t>
            </a:r>
            <a:endParaRPr lang="en-US" sz="920" dirty="0"/>
          </a:p>
        </p:txBody>
      </p:sp>
      <p:sp>
        <p:nvSpPr>
          <p:cNvPr id="25" name="Text 23"/>
          <p:cNvSpPr/>
          <p:nvPr/>
        </p:nvSpPr>
        <p:spPr>
          <a:xfrm>
            <a:off x="4480560" y="3822192"/>
            <a:ext cx="1005840" cy="155448"/>
          </a:xfrm>
          <a:prstGeom prst="rect">
            <a:avLst/>
          </a:prstGeom>
          <a:noFill/>
          <a:ln/>
        </p:spPr>
        <p:txBody>
          <a:bodyPr wrap="square" lIns="0" tIns="0" rIns="0" bIns="0" rtlCol="0" anchor="ctr">
            <a:normAutofit/>
          </a:bodyPr>
          <a:lstStyle/>
          <a:p>
            <a:pPr algn="l" indent="0" marL="0">
              <a:buNone/>
            </a:pPr>
            <a:r>
              <a:rPr lang="en-US" sz="760" b="1" spc="60" kern="0" dirty="0">
                <a:solidFill>
                  <a:srgbClr val="718196"/>
                </a:solidFill>
                <a:latin typeface="Aptos" pitchFamily="34" charset="0"/>
                <a:ea typeface="Aptos" pitchFamily="34" charset="-122"/>
                <a:cs typeface="Aptos" pitchFamily="34" charset="-120"/>
              </a:rPr>
              <a:t>SOURCE TYPE</a:t>
            </a:r>
            <a:endParaRPr lang="en-US" sz="760" dirty="0"/>
          </a:p>
        </p:txBody>
      </p:sp>
      <p:sp>
        <p:nvSpPr>
          <p:cNvPr id="26" name="Text 24"/>
          <p:cNvSpPr/>
          <p:nvPr/>
        </p:nvSpPr>
        <p:spPr>
          <a:xfrm>
            <a:off x="5504688" y="3822192"/>
            <a:ext cx="1719072" cy="228600"/>
          </a:xfrm>
          <a:prstGeom prst="rect">
            <a:avLst/>
          </a:prstGeom>
          <a:noFill/>
          <a:ln/>
        </p:spPr>
        <p:txBody>
          <a:bodyPr wrap="square" lIns="0" tIns="0" rIns="0" bIns="0" rtlCol="0" anchor="ctr">
            <a:normAutofit/>
          </a:bodyPr>
          <a:lstStyle/>
          <a:p>
            <a:pPr algn="l" indent="0" marL="0">
              <a:buNone/>
            </a:pPr>
            <a:r>
              <a:rPr lang="en-US" sz="920" dirty="0">
                <a:solidFill>
                  <a:srgbClr val="17283F"/>
                </a:solidFill>
                <a:latin typeface="Aptos" pitchFamily="34" charset="0"/>
                <a:ea typeface="Aptos" pitchFamily="34" charset="-122"/>
                <a:cs typeface="Aptos" pitchFamily="34" charset="-120"/>
              </a:rPr>
              <a:t>State investment agency</a:t>
            </a:r>
            <a:endParaRPr lang="en-US" sz="920" dirty="0"/>
          </a:p>
        </p:txBody>
      </p:sp>
      <p:sp>
        <p:nvSpPr>
          <p:cNvPr id="27" name="Text 25"/>
          <p:cNvSpPr/>
          <p:nvPr/>
        </p:nvSpPr>
        <p:spPr>
          <a:xfrm>
            <a:off x="4480560" y="4233672"/>
            <a:ext cx="1005840" cy="155448"/>
          </a:xfrm>
          <a:prstGeom prst="rect">
            <a:avLst/>
          </a:prstGeom>
          <a:noFill/>
          <a:ln/>
        </p:spPr>
        <p:txBody>
          <a:bodyPr wrap="square" lIns="0" tIns="0" rIns="0" bIns="0" rtlCol="0" anchor="ctr">
            <a:normAutofit/>
          </a:bodyPr>
          <a:lstStyle/>
          <a:p>
            <a:pPr algn="l" indent="0" marL="0">
              <a:buNone/>
            </a:pPr>
            <a:r>
              <a:rPr lang="en-US" sz="760" b="1" spc="60" kern="0" dirty="0">
                <a:solidFill>
                  <a:srgbClr val="718196"/>
                </a:solidFill>
                <a:latin typeface="Aptos" pitchFamily="34" charset="0"/>
                <a:ea typeface="Aptos" pitchFamily="34" charset="-122"/>
                <a:cs typeface="Aptos" pitchFamily="34" charset="-120"/>
              </a:rPr>
              <a:t>UNKNOWN</a:t>
            </a:r>
            <a:endParaRPr lang="en-US" sz="760" dirty="0"/>
          </a:p>
        </p:txBody>
      </p:sp>
      <p:sp>
        <p:nvSpPr>
          <p:cNvPr id="28" name="Text 26"/>
          <p:cNvSpPr/>
          <p:nvPr/>
        </p:nvSpPr>
        <p:spPr>
          <a:xfrm>
            <a:off x="5504688" y="4233672"/>
            <a:ext cx="1719072" cy="228600"/>
          </a:xfrm>
          <a:prstGeom prst="rect">
            <a:avLst/>
          </a:prstGeom>
          <a:noFill/>
          <a:ln/>
        </p:spPr>
        <p:txBody>
          <a:bodyPr wrap="square" lIns="0" tIns="0" rIns="0" bIns="0" rtlCol="0" anchor="ctr">
            <a:normAutofit/>
          </a:bodyPr>
          <a:lstStyle/>
          <a:p>
            <a:pPr algn="l" indent="0" marL="0">
              <a:buNone/>
            </a:pPr>
            <a:r>
              <a:rPr lang="en-US" sz="920" dirty="0">
                <a:solidFill>
                  <a:srgbClr val="17283F"/>
                </a:solidFill>
                <a:latin typeface="Aptos" pitchFamily="34" charset="0"/>
                <a:ea typeface="Aptos" pitchFamily="34" charset="-122"/>
                <a:cs typeface="Aptos" pitchFamily="34" charset="-120"/>
              </a:rPr>
              <a:t>Launch date, role mix, realised headcount</a:t>
            </a:r>
            <a:endParaRPr lang="en-US" sz="920" dirty="0"/>
          </a:p>
        </p:txBody>
      </p:sp>
      <p:sp>
        <p:nvSpPr>
          <p:cNvPr id="29" name="Text 27"/>
          <p:cNvSpPr/>
          <p:nvPr/>
        </p:nvSpPr>
        <p:spPr>
          <a:xfrm>
            <a:off x="4480560" y="4736592"/>
            <a:ext cx="2697480" cy="173736"/>
          </a:xfrm>
          <a:prstGeom prst="rect">
            <a:avLst/>
          </a:prstGeom>
          <a:noFill/>
          <a:ln/>
        </p:spPr>
        <p:txBody>
          <a:bodyPr wrap="square" lIns="0" tIns="0" rIns="0" bIns="0" rtlCol="0" anchor="ctr">
            <a:normAutofit/>
          </a:bodyPr>
          <a:lstStyle/>
          <a:p>
            <a:pPr algn="l" indent="0" marL="0">
              <a:buNone/>
            </a:pPr>
            <a:r>
              <a:rPr lang="en-US" sz="900" b="1" dirty="0">
                <a:solidFill>
                  <a:srgbClr val="B87912"/>
                </a:solidFill>
                <a:latin typeface="Aptos" pitchFamily="34" charset="0"/>
                <a:ea typeface="Aptos" pitchFamily="34" charset="-122"/>
                <a:cs typeface="Aptos" pitchFamily="34" charset="-120"/>
              </a:rPr>
              <a:t>Do not overstate a plan as an operating fact.</a:t>
            </a:r>
            <a:endParaRPr lang="en-US" sz="900" dirty="0"/>
          </a:p>
        </p:txBody>
      </p:sp>
      <p:sp>
        <p:nvSpPr>
          <p:cNvPr id="30" name="Shape 28"/>
          <p:cNvSpPr/>
          <p:nvPr/>
        </p:nvSpPr>
        <p:spPr>
          <a:xfrm>
            <a:off x="7552944" y="3383280"/>
            <a:ext cx="475488" cy="0"/>
          </a:xfrm>
          <a:prstGeom prst="line">
            <a:avLst/>
          </a:prstGeom>
          <a:noFill/>
          <a:ln w="19050">
            <a:solidFill>
              <a:srgbClr val="00A994"/>
            </a:solidFill>
            <a:prstDash val="solid"/>
            <a:headEnd type="none"/>
            <a:tailEnd type="none"/>
          </a:ln>
        </p:spPr>
      </p:sp>
      <p:sp>
        <p:nvSpPr>
          <p:cNvPr id="31" name="Text 29"/>
          <p:cNvSpPr/>
          <p:nvPr/>
        </p:nvSpPr>
        <p:spPr>
          <a:xfrm>
            <a:off x="7726680" y="3163824"/>
            <a:ext cx="182880" cy="292608"/>
          </a:xfrm>
          <a:prstGeom prst="rect">
            <a:avLst/>
          </a:prstGeom>
          <a:noFill/>
          <a:ln/>
        </p:spPr>
        <p:txBody>
          <a:bodyPr wrap="square" lIns="0" tIns="0" rIns="0" bIns="0" rtlCol="0" anchor="ctr">
            <a:normAutofit/>
          </a:bodyPr>
          <a:lstStyle/>
          <a:p>
            <a:pPr algn="ctr" indent="0" marL="0">
              <a:buNone/>
            </a:pPr>
            <a:r>
              <a:rPr lang="en-US" sz="2400" b="1" dirty="0">
                <a:solidFill>
                  <a:srgbClr val="00A994"/>
                </a:solidFill>
                <a:latin typeface="Aptos" pitchFamily="34" charset="0"/>
                <a:ea typeface="Aptos" pitchFamily="34" charset="-122"/>
                <a:cs typeface="Aptos" pitchFamily="34" charset="-120"/>
              </a:rPr>
              <a:t>›</a:t>
            </a:r>
            <a:endParaRPr lang="en-US" sz="2400" dirty="0"/>
          </a:p>
        </p:txBody>
      </p:sp>
      <p:sp>
        <p:nvSpPr>
          <p:cNvPr id="32" name="Shape 30"/>
          <p:cNvSpPr/>
          <p:nvPr/>
        </p:nvSpPr>
        <p:spPr>
          <a:xfrm>
            <a:off x="8119872" y="1828800"/>
            <a:ext cx="3456432" cy="3337560"/>
          </a:xfrm>
          <a:prstGeom prst="roundRect">
            <a:avLst>
              <a:gd name="adj" fmla="val 2740"/>
            </a:avLst>
          </a:prstGeom>
          <a:solidFill>
            <a:srgbClr val="101D31"/>
          </a:solidFill>
          <a:ln w="8890">
            <a:solidFill>
              <a:srgbClr val="101D31"/>
            </a:solidFill>
            <a:prstDash val="solid"/>
          </a:ln>
        </p:spPr>
      </p:sp>
      <p:sp>
        <p:nvSpPr>
          <p:cNvPr id="33" name="Shape 31"/>
          <p:cNvSpPr/>
          <p:nvPr/>
        </p:nvSpPr>
        <p:spPr>
          <a:xfrm>
            <a:off x="8321040" y="2029968"/>
            <a:ext cx="1024128" cy="237744"/>
          </a:xfrm>
          <a:prstGeom prst="roundRect">
            <a:avLst>
              <a:gd name="adj" fmla="val 38462"/>
            </a:avLst>
          </a:prstGeom>
          <a:solidFill>
            <a:srgbClr val="2C4A5D"/>
          </a:solidFill>
          <a:ln w="10160">
            <a:solidFill>
              <a:srgbClr val="2C4A5D">
                <a:alpha val="0"/>
              </a:srgbClr>
            </a:solidFill>
            <a:prstDash val="solid"/>
          </a:ln>
        </p:spPr>
      </p:sp>
      <p:sp>
        <p:nvSpPr>
          <p:cNvPr id="34" name="Text 32"/>
          <p:cNvSpPr/>
          <p:nvPr/>
        </p:nvSpPr>
        <p:spPr>
          <a:xfrm>
            <a:off x="8385048" y="2048256"/>
            <a:ext cx="896112" cy="173736"/>
          </a:xfrm>
          <a:prstGeom prst="rect">
            <a:avLst/>
          </a:prstGeom>
          <a:noFill/>
          <a:ln/>
        </p:spPr>
        <p:txBody>
          <a:bodyPr wrap="square" lIns="0" tIns="0" rIns="0" bIns="0" rtlCol="0" anchor="ctr">
            <a:normAutofit/>
          </a:bodyPr>
          <a:lstStyle/>
          <a:p>
            <a:pPr algn="ctr" indent="0" marL="0">
              <a:buNone/>
            </a:pPr>
            <a:r>
              <a:rPr lang="en-US" sz="780" b="1" dirty="0">
                <a:solidFill>
                  <a:srgbClr val="9BEEDE"/>
                </a:solidFill>
                <a:latin typeface="Aptos" pitchFamily="34" charset="0"/>
                <a:ea typeface="Aptos" pitchFamily="34" charset="-122"/>
                <a:cs typeface="Aptos" pitchFamily="34" charset="-120"/>
              </a:rPr>
              <a:t>STEP 3 · ACT</a:t>
            </a:r>
            <a:endParaRPr lang="en-US" sz="780" dirty="0"/>
          </a:p>
        </p:txBody>
      </p:sp>
      <p:sp>
        <p:nvSpPr>
          <p:cNvPr id="35" name="Text 33"/>
          <p:cNvSpPr/>
          <p:nvPr/>
        </p:nvSpPr>
        <p:spPr>
          <a:xfrm>
            <a:off x="8321040" y="2523744"/>
            <a:ext cx="2798064" cy="283464"/>
          </a:xfrm>
          <a:prstGeom prst="rect">
            <a:avLst/>
          </a:prstGeom>
          <a:noFill/>
          <a:ln/>
        </p:spPr>
        <p:txBody>
          <a:bodyPr wrap="square" lIns="0" tIns="0" rIns="0" bIns="0" rtlCol="0" anchor="ctr">
            <a:normAutofit/>
          </a:bodyPr>
          <a:lstStyle/>
          <a:p>
            <a:pPr algn="l" indent="0" marL="0">
              <a:buNone/>
            </a:pPr>
            <a:r>
              <a:rPr lang="en-US" sz="1600" b="1" dirty="0">
                <a:solidFill>
                  <a:srgbClr val="FFFFFF"/>
                </a:solidFill>
                <a:latin typeface="Aptos Display" pitchFamily="34" charset="0"/>
                <a:ea typeface="Aptos Display" pitchFamily="34" charset="-122"/>
                <a:cs typeface="Aptos Display" pitchFamily="34" charset="-120"/>
              </a:rPr>
              <a:t>A provider-ready brief</a:t>
            </a:r>
            <a:endParaRPr lang="en-US" sz="1600" dirty="0"/>
          </a:p>
        </p:txBody>
      </p:sp>
      <p:sp>
        <p:nvSpPr>
          <p:cNvPr id="36" name="Text 34"/>
          <p:cNvSpPr/>
          <p:nvPr/>
        </p:nvSpPr>
        <p:spPr>
          <a:xfrm>
            <a:off x="8321040" y="2962656"/>
            <a:ext cx="2560320" cy="182880"/>
          </a:xfrm>
          <a:prstGeom prst="rect">
            <a:avLst/>
          </a:prstGeom>
          <a:noFill/>
          <a:ln/>
        </p:spPr>
        <p:txBody>
          <a:bodyPr wrap="square" lIns="0" tIns="0" rIns="0" bIns="0" rtlCol="0" anchor="ctr">
            <a:normAutofit/>
          </a:bodyPr>
          <a:lstStyle/>
          <a:p>
            <a:pPr algn="l" indent="0" marL="0">
              <a:buNone/>
            </a:pPr>
            <a:r>
              <a:rPr lang="en-US" sz="960" b="1" dirty="0">
                <a:solidFill>
                  <a:srgbClr val="6DDBCA"/>
                </a:solidFill>
                <a:latin typeface="Aptos" pitchFamily="34" charset="0"/>
                <a:ea typeface="Aptos" pitchFamily="34" charset="-122"/>
                <a:cs typeface="Aptos" pitchFamily="34" charset="-120"/>
              </a:rPr>
              <a:t>Potential needs to investigate</a:t>
            </a:r>
            <a:endParaRPr lang="en-US" sz="960" dirty="0"/>
          </a:p>
        </p:txBody>
      </p:sp>
      <p:sp>
        <p:nvSpPr>
          <p:cNvPr id="37" name="Shape 35"/>
          <p:cNvSpPr/>
          <p:nvPr/>
        </p:nvSpPr>
        <p:spPr>
          <a:xfrm>
            <a:off x="8339328" y="3319272"/>
            <a:ext cx="91440" cy="91440"/>
          </a:xfrm>
          <a:prstGeom prst="ellipse">
            <a:avLst/>
          </a:prstGeom>
          <a:solidFill>
            <a:srgbClr val="6DDBCA"/>
          </a:solidFill>
          <a:ln w="12700">
            <a:solidFill>
              <a:srgbClr val="6DDBCA">
                <a:alpha val="0"/>
              </a:srgbClr>
            </a:solidFill>
            <a:prstDash val="solid"/>
          </a:ln>
        </p:spPr>
      </p:sp>
      <p:sp>
        <p:nvSpPr>
          <p:cNvPr id="38" name="Text 36"/>
          <p:cNvSpPr/>
          <p:nvPr/>
        </p:nvSpPr>
        <p:spPr>
          <a:xfrm>
            <a:off x="8531352" y="3282696"/>
            <a:ext cx="2734056" cy="219456"/>
          </a:xfrm>
          <a:prstGeom prst="rect">
            <a:avLst/>
          </a:prstGeom>
          <a:noFill/>
          <a:ln/>
        </p:spPr>
        <p:txBody>
          <a:bodyPr wrap="square" lIns="0" tIns="0" rIns="0" bIns="0" rtlCol="0" anchor="ctr">
            <a:normAutofit/>
          </a:bodyPr>
          <a:lstStyle/>
          <a:p>
            <a:pPr algn="l" indent="0" marL="0">
              <a:buNone/>
            </a:pPr>
            <a:r>
              <a:rPr lang="en-US" sz="940" dirty="0">
                <a:solidFill>
                  <a:srgbClr val="E2EBF2"/>
                </a:solidFill>
                <a:latin typeface="Aptos" pitchFamily="34" charset="0"/>
                <a:ea typeface="Aptos" pitchFamily="34" charset="-122"/>
                <a:cs typeface="Aptos" pitchFamily="34" charset="-120"/>
              </a:rPr>
              <a:t>Engineering talent / specialist recruiting</a:t>
            </a:r>
            <a:endParaRPr lang="en-US" sz="940" dirty="0"/>
          </a:p>
        </p:txBody>
      </p:sp>
      <p:sp>
        <p:nvSpPr>
          <p:cNvPr id="39" name="Shape 37"/>
          <p:cNvSpPr/>
          <p:nvPr/>
        </p:nvSpPr>
        <p:spPr>
          <a:xfrm>
            <a:off x="8339328" y="3666744"/>
            <a:ext cx="91440" cy="91440"/>
          </a:xfrm>
          <a:prstGeom prst="ellipse">
            <a:avLst/>
          </a:prstGeom>
          <a:solidFill>
            <a:srgbClr val="6DDBCA"/>
          </a:solidFill>
          <a:ln w="12700">
            <a:solidFill>
              <a:srgbClr val="6DDBCA">
                <a:alpha val="0"/>
              </a:srgbClr>
            </a:solidFill>
            <a:prstDash val="solid"/>
          </a:ln>
        </p:spPr>
      </p:sp>
      <p:sp>
        <p:nvSpPr>
          <p:cNvPr id="40" name="Text 38"/>
          <p:cNvSpPr/>
          <p:nvPr/>
        </p:nvSpPr>
        <p:spPr>
          <a:xfrm>
            <a:off x="8531352" y="3630168"/>
            <a:ext cx="2734056" cy="219456"/>
          </a:xfrm>
          <a:prstGeom prst="rect">
            <a:avLst/>
          </a:prstGeom>
          <a:noFill/>
          <a:ln/>
        </p:spPr>
        <p:txBody>
          <a:bodyPr wrap="square" lIns="0" tIns="0" rIns="0" bIns="0" rtlCol="0" anchor="ctr">
            <a:normAutofit/>
          </a:bodyPr>
          <a:lstStyle/>
          <a:p>
            <a:pPr algn="l" indent="0" marL="0">
              <a:buNone/>
            </a:pPr>
            <a:r>
              <a:rPr lang="en-US" sz="940" dirty="0">
                <a:solidFill>
                  <a:srgbClr val="E2EBF2"/>
                </a:solidFill>
                <a:latin typeface="Aptos" pitchFamily="34" charset="0"/>
                <a:ea typeface="Aptos" pitchFamily="34" charset="-122"/>
                <a:cs typeface="Aptos" pitchFamily="34" charset="-120"/>
              </a:rPr>
              <a:t>Office and workspace options</a:t>
            </a:r>
            <a:endParaRPr lang="en-US" sz="940" dirty="0"/>
          </a:p>
        </p:txBody>
      </p:sp>
      <p:sp>
        <p:nvSpPr>
          <p:cNvPr id="41" name="Shape 39"/>
          <p:cNvSpPr/>
          <p:nvPr/>
        </p:nvSpPr>
        <p:spPr>
          <a:xfrm>
            <a:off x="8339328" y="4014216"/>
            <a:ext cx="91440" cy="91440"/>
          </a:xfrm>
          <a:prstGeom prst="ellipse">
            <a:avLst/>
          </a:prstGeom>
          <a:solidFill>
            <a:srgbClr val="6DDBCA"/>
          </a:solidFill>
          <a:ln w="12700">
            <a:solidFill>
              <a:srgbClr val="6DDBCA">
                <a:alpha val="0"/>
              </a:srgbClr>
            </a:solidFill>
            <a:prstDash val="solid"/>
          </a:ln>
        </p:spPr>
      </p:sp>
      <p:sp>
        <p:nvSpPr>
          <p:cNvPr id="42" name="Text 40"/>
          <p:cNvSpPr/>
          <p:nvPr/>
        </p:nvSpPr>
        <p:spPr>
          <a:xfrm>
            <a:off x="8531352" y="3977640"/>
            <a:ext cx="2734056" cy="219456"/>
          </a:xfrm>
          <a:prstGeom prst="rect">
            <a:avLst/>
          </a:prstGeom>
          <a:noFill/>
          <a:ln/>
        </p:spPr>
        <p:txBody>
          <a:bodyPr wrap="square" lIns="0" tIns="0" rIns="0" bIns="0" rtlCol="0" anchor="ctr">
            <a:normAutofit/>
          </a:bodyPr>
          <a:lstStyle/>
          <a:p>
            <a:pPr algn="l" indent="0" marL="0">
              <a:buNone/>
            </a:pPr>
            <a:r>
              <a:rPr lang="en-US" sz="940" dirty="0">
                <a:solidFill>
                  <a:srgbClr val="E2EBF2"/>
                </a:solidFill>
                <a:latin typeface="Aptos" pitchFamily="34" charset="0"/>
                <a:ea typeface="Aptos" pitchFamily="34" charset="-122"/>
                <a:cs typeface="Aptos" pitchFamily="34" charset="-120"/>
              </a:rPr>
              <a:t>Payroll, compliance and entity setup</a:t>
            </a:r>
            <a:endParaRPr lang="en-US" sz="940" dirty="0"/>
          </a:p>
        </p:txBody>
      </p:sp>
      <p:sp>
        <p:nvSpPr>
          <p:cNvPr id="43" name="Shape 41"/>
          <p:cNvSpPr/>
          <p:nvPr/>
        </p:nvSpPr>
        <p:spPr>
          <a:xfrm>
            <a:off x="8321040" y="4498848"/>
            <a:ext cx="2971800" cy="0"/>
          </a:xfrm>
          <a:prstGeom prst="line">
            <a:avLst/>
          </a:prstGeom>
          <a:noFill/>
          <a:ln w="8890">
            <a:solidFill>
              <a:srgbClr val="365268"/>
            </a:solidFill>
            <a:prstDash val="solid"/>
            <a:headEnd type="none"/>
            <a:tailEnd type="none"/>
          </a:ln>
        </p:spPr>
      </p:sp>
      <p:sp>
        <p:nvSpPr>
          <p:cNvPr id="44" name="Text 42"/>
          <p:cNvSpPr/>
          <p:nvPr/>
        </p:nvSpPr>
        <p:spPr>
          <a:xfrm>
            <a:off x="8321040" y="4645152"/>
            <a:ext cx="868680" cy="146304"/>
          </a:xfrm>
          <a:prstGeom prst="rect">
            <a:avLst/>
          </a:prstGeom>
          <a:noFill/>
          <a:ln/>
        </p:spPr>
        <p:txBody>
          <a:bodyPr wrap="square" lIns="0" tIns="0" rIns="0" bIns="0" rtlCol="0" anchor="ctr">
            <a:normAutofit/>
          </a:bodyPr>
          <a:lstStyle/>
          <a:p>
            <a:pPr algn="l" indent="0" marL="0">
              <a:buNone/>
            </a:pPr>
            <a:r>
              <a:rPr lang="en-US" sz="760" b="1" dirty="0">
                <a:solidFill>
                  <a:srgbClr val="9FB4C7"/>
                </a:solidFill>
                <a:latin typeface="Aptos" pitchFamily="34" charset="0"/>
                <a:ea typeface="Aptos" pitchFamily="34" charset="-122"/>
                <a:cs typeface="Aptos" pitchFamily="34" charset="-120"/>
              </a:rPr>
              <a:t>Next action</a:t>
            </a:r>
            <a:endParaRPr lang="en-US" sz="760" dirty="0"/>
          </a:p>
        </p:txBody>
      </p:sp>
      <p:sp>
        <p:nvSpPr>
          <p:cNvPr id="45" name="Text 43"/>
          <p:cNvSpPr/>
          <p:nvPr/>
        </p:nvSpPr>
        <p:spPr>
          <a:xfrm>
            <a:off x="9253728" y="4626864"/>
            <a:ext cx="2057400" cy="219456"/>
          </a:xfrm>
          <a:prstGeom prst="rect">
            <a:avLst/>
          </a:prstGeom>
          <a:noFill/>
          <a:ln/>
        </p:spPr>
        <p:txBody>
          <a:bodyPr wrap="square" lIns="0" tIns="0" rIns="0" bIns="0" rtlCol="0" anchor="ctr">
            <a:normAutofit/>
          </a:bodyPr>
          <a:lstStyle/>
          <a:p>
            <a:pPr algn="l" indent="0" marL="0">
              <a:buNone/>
            </a:pPr>
            <a:r>
              <a:rPr lang="en-US" sz="950" b="1" dirty="0">
                <a:solidFill>
                  <a:srgbClr val="FFFFFF"/>
                </a:solidFill>
                <a:latin typeface="Aptos" pitchFamily="34" charset="0"/>
                <a:ea typeface="Aptos" pitchFamily="34" charset="-122"/>
                <a:cs typeface="Aptos" pitchFamily="34" charset="-120"/>
              </a:rPr>
              <a:t>Confirm status + roles before outreach.</a:t>
            </a:r>
            <a:endParaRPr lang="en-US" sz="950" dirty="0"/>
          </a:p>
        </p:txBody>
      </p:sp>
      <p:sp>
        <p:nvSpPr>
          <p:cNvPr id="46" name="Shape 44"/>
          <p:cNvSpPr/>
          <p:nvPr/>
        </p:nvSpPr>
        <p:spPr>
          <a:xfrm>
            <a:off x="667512" y="5504688"/>
            <a:ext cx="10927080" cy="438912"/>
          </a:xfrm>
          <a:prstGeom prst="roundRect">
            <a:avLst>
              <a:gd name="adj" fmla="val 20833"/>
            </a:avLst>
          </a:prstGeom>
          <a:solidFill>
            <a:srgbClr val="E2F7F3"/>
          </a:solidFill>
          <a:ln w="8890">
            <a:solidFill>
              <a:srgbClr val="D1EEE7"/>
            </a:solidFill>
            <a:prstDash val="solid"/>
          </a:ln>
        </p:spPr>
      </p:sp>
      <p:sp>
        <p:nvSpPr>
          <p:cNvPr id="47" name="Text 45"/>
          <p:cNvSpPr/>
          <p:nvPr/>
        </p:nvSpPr>
        <p:spPr>
          <a:xfrm>
            <a:off x="868680" y="5641848"/>
            <a:ext cx="1325880" cy="137160"/>
          </a:xfrm>
          <a:prstGeom prst="rect">
            <a:avLst/>
          </a:prstGeom>
          <a:noFill/>
          <a:ln/>
        </p:spPr>
        <p:txBody>
          <a:bodyPr wrap="square" lIns="0" tIns="0" rIns="0" bIns="0" rtlCol="0" anchor="ctr">
            <a:normAutofit/>
          </a:bodyPr>
          <a:lstStyle/>
          <a:p>
            <a:pPr algn="l" indent="0" marL="0">
              <a:buNone/>
            </a:pPr>
            <a:r>
              <a:rPr lang="en-US" sz="810" b="1" spc="100" kern="0" dirty="0">
                <a:solidFill>
                  <a:srgbClr val="00A994"/>
                </a:solidFill>
                <a:latin typeface="Aptos" pitchFamily="34" charset="0"/>
                <a:ea typeface="Aptos" pitchFamily="34" charset="-122"/>
                <a:cs typeface="Aptos" pitchFamily="34" charset="-120"/>
              </a:rPr>
              <a:t>VALUE HYPOTHESIS</a:t>
            </a:r>
            <a:endParaRPr lang="en-US" sz="810" dirty="0"/>
          </a:p>
        </p:txBody>
      </p:sp>
      <p:sp>
        <p:nvSpPr>
          <p:cNvPr id="48" name="Text 46"/>
          <p:cNvSpPr/>
          <p:nvPr/>
        </p:nvSpPr>
        <p:spPr>
          <a:xfrm>
            <a:off x="2395728" y="5596128"/>
            <a:ext cx="8759952" cy="201168"/>
          </a:xfrm>
          <a:prstGeom prst="rect">
            <a:avLst/>
          </a:prstGeom>
          <a:noFill/>
          <a:ln/>
        </p:spPr>
        <p:txBody>
          <a:bodyPr wrap="square" lIns="0" tIns="0" rIns="0" bIns="0" rtlCol="0" anchor="ctr">
            <a:normAutofit/>
          </a:bodyPr>
          <a:lstStyle/>
          <a:p>
            <a:pPr algn="l" indent="0" marL="0">
              <a:buNone/>
            </a:pPr>
            <a:r>
              <a:rPr lang="en-US" sz="1070" b="1" dirty="0">
                <a:solidFill>
                  <a:srgbClr val="17283F"/>
                </a:solidFill>
                <a:latin typeface="Aptos" pitchFamily="34" charset="0"/>
                <a:ea typeface="Aptos" pitchFamily="34" charset="-122"/>
                <a:cs typeface="Aptos" pitchFamily="34" charset="-120"/>
              </a:rPr>
              <a:t>Better timing + relevant outreach + lower research effort. Measure it against current CRM / manual research.</a:t>
            </a:r>
            <a:endParaRPr lang="en-US" sz="107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10896"/>
            <a:ext cx="7772400" cy="173736"/>
          </a:xfrm>
          <a:prstGeom prst="rect">
            <a:avLst/>
          </a:prstGeom>
          <a:noFill/>
          <a:ln/>
        </p:spPr>
        <p:txBody>
          <a:bodyPr wrap="square" lIns="0" tIns="0" rIns="0" bIns="0" rtlCol="0" anchor="ctr">
            <a:normAutofit/>
          </a:bodyPr>
          <a:lstStyle/>
          <a:p>
            <a:pPr algn="l" indent="0" marL="0">
              <a:buNone/>
            </a:pPr>
            <a:r>
              <a:rPr lang="en-US" sz="830" b="1" spc="190" kern="0" dirty="0">
                <a:solidFill>
                  <a:srgbClr val="00A994"/>
                </a:solidFill>
                <a:latin typeface="Aptos" pitchFamily="34" charset="0"/>
                <a:ea typeface="Aptos" pitchFamily="34" charset="-122"/>
                <a:cs typeface="Aptos" pitchFamily="34" charset="-120"/>
              </a:rPr>
              <a:t>APPENDIX · SOURCE REGISTER</a:t>
            </a:r>
            <a:endParaRPr lang="en-US" sz="830" dirty="0"/>
          </a:p>
        </p:txBody>
      </p:sp>
      <p:sp>
        <p:nvSpPr>
          <p:cNvPr id="3" name="Text 1"/>
          <p:cNvSpPr/>
          <p:nvPr/>
        </p:nvSpPr>
        <p:spPr>
          <a:xfrm>
            <a:off x="566928" y="603504"/>
            <a:ext cx="10972800" cy="457200"/>
          </a:xfrm>
          <a:prstGeom prst="rect">
            <a:avLst/>
          </a:prstGeom>
          <a:noFill/>
          <a:ln/>
        </p:spPr>
        <p:txBody>
          <a:bodyPr wrap="square" lIns="0" tIns="0" rIns="0" bIns="0" rtlCol="0" anchor="ctr">
            <a:normAutofit/>
          </a:bodyPr>
          <a:lstStyle/>
          <a:p>
            <a:pPr algn="l" indent="0" marL="0">
              <a:buNone/>
            </a:pPr>
            <a:r>
              <a:rPr lang="en-US" sz="2500" b="1" dirty="0">
                <a:solidFill>
                  <a:srgbClr val="17283F"/>
                </a:solidFill>
                <a:latin typeface="Aptos Display" pitchFamily="34" charset="0"/>
                <a:ea typeface="Aptos Display" pitchFamily="34" charset="-122"/>
                <a:cs typeface="Aptos Display" pitchFamily="34" charset="-120"/>
              </a:rPr>
              <a:t>Claims are only as useful as their provenance.</a:t>
            </a:r>
            <a:endParaRPr lang="en-US" sz="2500" dirty="0"/>
          </a:p>
        </p:txBody>
      </p:sp>
      <p:sp>
        <p:nvSpPr>
          <p:cNvPr id="4" name="Text 2"/>
          <p:cNvSpPr/>
          <p:nvPr/>
        </p:nvSpPr>
        <p:spPr>
          <a:xfrm>
            <a:off x="585216" y="1078992"/>
            <a:ext cx="10835640" cy="338328"/>
          </a:xfrm>
          <a:prstGeom prst="rect">
            <a:avLst/>
          </a:prstGeom>
          <a:noFill/>
          <a:ln/>
        </p:spPr>
        <p:txBody>
          <a:bodyPr wrap="square" lIns="0" tIns="0" rIns="0" bIns="0" rtlCol="0" anchor="ctr">
            <a:normAutofit/>
          </a:bodyPr>
          <a:lstStyle/>
          <a:p>
            <a:pPr algn="l" indent="0" marL="0">
              <a:buNone/>
            </a:pPr>
            <a:r>
              <a:rPr lang="en-US" sz="1120" dirty="0">
                <a:solidFill>
                  <a:srgbClr val="718196"/>
                </a:solidFill>
                <a:latin typeface="Aptos" pitchFamily="34" charset="0"/>
                <a:ea typeface="Aptos" pitchFamily="34" charset="-122"/>
                <a:cs typeface="Aptos" pitchFamily="34" charset="-120"/>
              </a:rPr>
              <a:t>Selected sources used in the market thesis, competitive landscape and prototype signal feed. All links are clickable.</a:t>
            </a:r>
            <a:endParaRPr lang="en-US" sz="1120" dirty="0"/>
          </a:p>
        </p:txBody>
      </p:sp>
      <p:sp>
        <p:nvSpPr>
          <p:cNvPr id="5" name="Shape 3"/>
          <p:cNvSpPr/>
          <p:nvPr/>
        </p:nvSpPr>
        <p:spPr>
          <a:xfrm>
            <a:off x="658368" y="1709928"/>
            <a:ext cx="228600" cy="228600"/>
          </a:xfrm>
          <a:prstGeom prst="ellipse">
            <a:avLst/>
          </a:prstGeom>
          <a:solidFill>
            <a:srgbClr val="E2F7F3"/>
          </a:solidFill>
          <a:ln w="12700">
            <a:solidFill>
              <a:srgbClr val="E2F7F3">
                <a:alpha val="0"/>
              </a:srgbClr>
            </a:solidFill>
            <a:prstDash val="solid"/>
          </a:ln>
        </p:spPr>
      </p:sp>
      <p:sp>
        <p:nvSpPr>
          <p:cNvPr id="6" name="Text 4"/>
          <p:cNvSpPr/>
          <p:nvPr/>
        </p:nvSpPr>
        <p:spPr>
          <a:xfrm>
            <a:off x="658368" y="1723644"/>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S1</a:t>
            </a:r>
            <a:endParaRPr lang="en-US" sz="720" dirty="0"/>
          </a:p>
        </p:txBody>
      </p:sp>
      <p:sp>
        <p:nvSpPr>
          <p:cNvPr id="7" name="Text 5">
            <a:hlinkClick r:id="rId1" tooltip=""/>
          </p:cNvPr>
          <p:cNvSpPr/>
          <p:nvPr/>
        </p:nvSpPr>
        <p:spPr>
          <a:xfrm>
            <a:off x="987552" y="1645920"/>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Nasscom–Zinnov, GCC Landscape in India 2026</a:t>
            </a:r>
            <a:endParaRPr lang="en-US" sz="910" dirty="0"/>
          </a:p>
        </p:txBody>
      </p:sp>
      <p:sp>
        <p:nvSpPr>
          <p:cNvPr id="8" name="Text 6"/>
          <p:cNvSpPr/>
          <p:nvPr/>
        </p:nvSpPr>
        <p:spPr>
          <a:xfrm>
            <a:off x="987552" y="1856232"/>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2,117 GCCs; 3,728 units; $98.4B revenue; 2.36M professionals.</a:t>
            </a:r>
            <a:endParaRPr lang="en-US" sz="770" dirty="0"/>
          </a:p>
        </p:txBody>
      </p:sp>
      <p:sp>
        <p:nvSpPr>
          <p:cNvPr id="9" name="Shape 7"/>
          <p:cNvSpPr/>
          <p:nvPr/>
        </p:nvSpPr>
        <p:spPr>
          <a:xfrm>
            <a:off x="658368" y="2295144"/>
            <a:ext cx="228600" cy="228600"/>
          </a:xfrm>
          <a:prstGeom prst="ellipse">
            <a:avLst/>
          </a:prstGeom>
          <a:solidFill>
            <a:srgbClr val="E2F7F3"/>
          </a:solidFill>
          <a:ln w="12700">
            <a:solidFill>
              <a:srgbClr val="E2F7F3">
                <a:alpha val="0"/>
              </a:srgbClr>
            </a:solidFill>
            <a:prstDash val="solid"/>
          </a:ln>
        </p:spPr>
      </p:sp>
      <p:sp>
        <p:nvSpPr>
          <p:cNvPr id="10" name="Text 8"/>
          <p:cNvSpPr/>
          <p:nvPr/>
        </p:nvSpPr>
        <p:spPr>
          <a:xfrm>
            <a:off x="658368" y="2308860"/>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S2</a:t>
            </a:r>
            <a:endParaRPr lang="en-US" sz="720" dirty="0"/>
          </a:p>
        </p:txBody>
      </p:sp>
      <p:sp>
        <p:nvSpPr>
          <p:cNvPr id="11" name="Text 9">
            <a:hlinkClick r:id="rId2" tooltip=""/>
          </p:cNvPr>
          <p:cNvSpPr/>
          <p:nvPr/>
        </p:nvSpPr>
        <p:spPr>
          <a:xfrm>
            <a:off x="987552" y="2231136"/>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2" invalidUrl="" action="" tgtFrame="" tooltip="" history="1" highlightClick="0" endSnd="0">
                  <a:extLst>
                    <a:ext uri="{A12FA001-AC4F-418D-AE19-62706E023703}">
                      <ahyp:hlinkClr xmlns:ahyp="http://schemas.microsoft.com/office/drawing/2018/hyperlinkcolor" val="tx"/>
                    </a:ext>
                  </a:extLst>
                </a:hlinkClick>
              </a:rPr>
              <a:t>JLL, India GCC expansion hits record 31 million sq. ft. (17 Feb 2026)</a:t>
            </a:r>
            <a:endParaRPr lang="en-US" sz="910" dirty="0"/>
          </a:p>
        </p:txBody>
      </p:sp>
      <p:sp>
        <p:nvSpPr>
          <p:cNvPr id="12" name="Text 10"/>
          <p:cNvSpPr/>
          <p:nvPr/>
        </p:nvSpPr>
        <p:spPr>
          <a:xfrm>
            <a:off x="987552" y="2441448"/>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2025 GCC leasing, city specialisation and tier-II observations.</a:t>
            </a:r>
            <a:endParaRPr lang="en-US" sz="770" dirty="0"/>
          </a:p>
        </p:txBody>
      </p:sp>
      <p:sp>
        <p:nvSpPr>
          <p:cNvPr id="13" name="Shape 11"/>
          <p:cNvSpPr/>
          <p:nvPr/>
        </p:nvSpPr>
        <p:spPr>
          <a:xfrm>
            <a:off x="658368" y="2880360"/>
            <a:ext cx="228600" cy="228600"/>
          </a:xfrm>
          <a:prstGeom prst="ellipse">
            <a:avLst/>
          </a:prstGeom>
          <a:solidFill>
            <a:srgbClr val="E2F7F3"/>
          </a:solidFill>
          <a:ln w="12700">
            <a:solidFill>
              <a:srgbClr val="E2F7F3">
                <a:alpha val="0"/>
              </a:srgbClr>
            </a:solidFill>
            <a:prstDash val="solid"/>
          </a:ln>
        </p:spPr>
      </p:sp>
      <p:sp>
        <p:nvSpPr>
          <p:cNvPr id="14" name="Text 12"/>
          <p:cNvSpPr/>
          <p:nvPr/>
        </p:nvSpPr>
        <p:spPr>
          <a:xfrm>
            <a:off x="658368" y="2894076"/>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S3</a:t>
            </a:r>
            <a:endParaRPr lang="en-US" sz="720" dirty="0"/>
          </a:p>
        </p:txBody>
      </p:sp>
      <p:sp>
        <p:nvSpPr>
          <p:cNvPr id="15" name="Text 13">
            <a:hlinkClick r:id="rId3" tooltip=""/>
          </p:cNvPr>
          <p:cNvSpPr/>
          <p:nvPr/>
        </p:nvSpPr>
        <p:spPr>
          <a:xfrm>
            <a:off x="987552" y="2816352"/>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3" invalidUrl="" action="" tgtFrame="" tooltip="" history="1" highlightClick="0" endSnd="0">
                  <a:extLst>
                    <a:ext uri="{A12FA001-AC4F-418D-AE19-62706E023703}">
                      <ahyp:hlinkClr xmlns:ahyp="http://schemas.microsoft.com/office/drawing/2018/hyperlinkcolor" val="tx"/>
                    </a:ext>
                  </a:extLst>
                </a:hlinkClick>
              </a:rPr>
              <a:t>JLL, India office market 83.3 million sq. ft. in 2025 (15 Jan 2026)</a:t>
            </a:r>
            <a:endParaRPr lang="en-US" sz="910" dirty="0"/>
          </a:p>
        </p:txBody>
      </p:sp>
      <p:sp>
        <p:nvSpPr>
          <p:cNvPr id="16" name="Text 14"/>
          <p:cNvSpPr/>
          <p:nvPr/>
        </p:nvSpPr>
        <p:spPr>
          <a:xfrm>
            <a:off x="987552" y="3026664"/>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Whole-market leasing; keep separate from GCC-only leasing.</a:t>
            </a:r>
            <a:endParaRPr lang="en-US" sz="770" dirty="0"/>
          </a:p>
        </p:txBody>
      </p:sp>
      <p:sp>
        <p:nvSpPr>
          <p:cNvPr id="17" name="Shape 15"/>
          <p:cNvSpPr/>
          <p:nvPr/>
        </p:nvSpPr>
        <p:spPr>
          <a:xfrm>
            <a:off x="658368" y="3465576"/>
            <a:ext cx="228600" cy="228600"/>
          </a:xfrm>
          <a:prstGeom prst="ellipse">
            <a:avLst/>
          </a:prstGeom>
          <a:solidFill>
            <a:srgbClr val="E2F7F3"/>
          </a:solidFill>
          <a:ln w="12700">
            <a:solidFill>
              <a:srgbClr val="E2F7F3">
                <a:alpha val="0"/>
              </a:srgbClr>
            </a:solidFill>
            <a:prstDash val="solid"/>
          </a:ln>
        </p:spPr>
      </p:sp>
      <p:sp>
        <p:nvSpPr>
          <p:cNvPr id="18" name="Text 16"/>
          <p:cNvSpPr/>
          <p:nvPr/>
        </p:nvSpPr>
        <p:spPr>
          <a:xfrm>
            <a:off x="658368" y="3479292"/>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S4</a:t>
            </a:r>
            <a:endParaRPr lang="en-US" sz="720" dirty="0"/>
          </a:p>
        </p:txBody>
      </p:sp>
      <p:sp>
        <p:nvSpPr>
          <p:cNvPr id="19" name="Text 17">
            <a:hlinkClick r:id="rId4" tooltip=""/>
          </p:cNvPr>
          <p:cNvSpPr/>
          <p:nvPr/>
        </p:nvSpPr>
        <p:spPr>
          <a:xfrm>
            <a:off x="987552" y="3401568"/>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4" invalidUrl="" action="" tgtFrame="" tooltip="" history="1" highlightClick="0" endSnd="0">
                  <a:extLst>
                    <a:ext uri="{A12FA001-AC4F-418D-AE19-62706E023703}">
                      <ahyp:hlinkClr xmlns:ahyp="http://schemas.microsoft.com/office/drawing/2018/hyperlinkcolor" val="tx"/>
                    </a:ext>
                  </a:extLst>
                </a:hlinkClick>
              </a:rPr>
              <a:t>KPMG India, GCCs in India: Key Tax Insights (25 Sep 2025)</a:t>
            </a:r>
            <a:endParaRPr lang="en-US" sz="910" dirty="0"/>
          </a:p>
        </p:txBody>
      </p:sp>
      <p:sp>
        <p:nvSpPr>
          <p:cNvPr id="20" name="Text 18"/>
          <p:cNvSpPr/>
          <p:nvPr/>
        </p:nvSpPr>
        <p:spPr>
          <a:xfrm>
            <a:off x="987552" y="3611880"/>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FY2024 baseline and tax/regulatory context.</a:t>
            </a:r>
            <a:endParaRPr lang="en-US" sz="770" dirty="0"/>
          </a:p>
        </p:txBody>
      </p:sp>
      <p:sp>
        <p:nvSpPr>
          <p:cNvPr id="21" name="Shape 19"/>
          <p:cNvSpPr/>
          <p:nvPr/>
        </p:nvSpPr>
        <p:spPr>
          <a:xfrm>
            <a:off x="658368" y="4050792"/>
            <a:ext cx="228600" cy="228600"/>
          </a:xfrm>
          <a:prstGeom prst="ellipse">
            <a:avLst/>
          </a:prstGeom>
          <a:solidFill>
            <a:srgbClr val="E2F7F3"/>
          </a:solidFill>
          <a:ln w="12700">
            <a:solidFill>
              <a:srgbClr val="E2F7F3">
                <a:alpha val="0"/>
              </a:srgbClr>
            </a:solidFill>
            <a:prstDash val="solid"/>
          </a:ln>
        </p:spPr>
      </p:sp>
      <p:sp>
        <p:nvSpPr>
          <p:cNvPr id="22" name="Text 20"/>
          <p:cNvSpPr/>
          <p:nvPr/>
        </p:nvSpPr>
        <p:spPr>
          <a:xfrm>
            <a:off x="658368" y="4064508"/>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S5</a:t>
            </a:r>
            <a:endParaRPr lang="en-US" sz="720" dirty="0"/>
          </a:p>
        </p:txBody>
      </p:sp>
      <p:sp>
        <p:nvSpPr>
          <p:cNvPr id="23" name="Text 21">
            <a:hlinkClick r:id="rId5" tooltip=""/>
          </p:cNvPr>
          <p:cNvSpPr/>
          <p:nvPr/>
        </p:nvSpPr>
        <p:spPr>
          <a:xfrm>
            <a:off x="987552" y="3986784"/>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5" invalidUrl="" action="" tgtFrame="" tooltip="" history="1" highlightClick="0" endSnd="0">
                  <a:extLst>
                    <a:ext uri="{A12FA001-AC4F-418D-AE19-62706E023703}">
                      <ahyp:hlinkClr xmlns:ahyp="http://schemas.microsoft.com/office/drawing/2018/hyperlinkcolor" val="tx"/>
                    </a:ext>
                  </a:extLst>
                </a:hlinkClick>
              </a:rPr>
              <a:t>CBRE India, GCC leasing crosses 29 mn sq. ft. in CY2024 (6 Jan 2025)</a:t>
            </a:r>
            <a:endParaRPr lang="en-US" sz="910" dirty="0"/>
          </a:p>
        </p:txBody>
      </p:sp>
      <p:sp>
        <p:nvSpPr>
          <p:cNvPr id="24" name="Text 22"/>
          <p:cNvSpPr/>
          <p:nvPr/>
        </p:nvSpPr>
        <p:spPr>
          <a:xfrm>
            <a:off x="987552" y="4197096"/>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GCC leasing and Q4 city split; different time period from JLL FY2025.</a:t>
            </a:r>
            <a:endParaRPr lang="en-US" sz="770" dirty="0"/>
          </a:p>
        </p:txBody>
      </p:sp>
      <p:sp>
        <p:nvSpPr>
          <p:cNvPr id="25" name="Shape 23"/>
          <p:cNvSpPr/>
          <p:nvPr/>
        </p:nvSpPr>
        <p:spPr>
          <a:xfrm>
            <a:off x="658368" y="4636008"/>
            <a:ext cx="228600" cy="228600"/>
          </a:xfrm>
          <a:prstGeom prst="ellipse">
            <a:avLst/>
          </a:prstGeom>
          <a:solidFill>
            <a:srgbClr val="E2F7F3"/>
          </a:solidFill>
          <a:ln w="12700">
            <a:solidFill>
              <a:srgbClr val="E2F7F3">
                <a:alpha val="0"/>
              </a:srgbClr>
            </a:solidFill>
            <a:prstDash val="solid"/>
          </a:ln>
        </p:spPr>
      </p:sp>
      <p:sp>
        <p:nvSpPr>
          <p:cNvPr id="26" name="Text 24"/>
          <p:cNvSpPr/>
          <p:nvPr/>
        </p:nvSpPr>
        <p:spPr>
          <a:xfrm>
            <a:off x="658368" y="4649724"/>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S6</a:t>
            </a:r>
            <a:endParaRPr lang="en-US" sz="720" dirty="0"/>
          </a:p>
        </p:txBody>
      </p:sp>
      <p:sp>
        <p:nvSpPr>
          <p:cNvPr id="27" name="Text 25">
            <a:hlinkClick r:id="rId6" tooltip=""/>
          </p:cNvPr>
          <p:cNvSpPr/>
          <p:nvPr/>
        </p:nvSpPr>
        <p:spPr>
          <a:xfrm>
            <a:off x="987552" y="4572000"/>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6" invalidUrl="" action="" tgtFrame="" tooltip="" history="1" highlightClick="0" endSnd="0">
                  <a:extLst>
                    <a:ext uri="{A12FA001-AC4F-418D-AE19-62706E023703}">
                      <ahyp:hlinkClr xmlns:ahyp="http://schemas.microsoft.com/office/drawing/2018/hyperlinkcolor" val="tx"/>
                    </a:ext>
                  </a:extLst>
                </a:hlinkClick>
              </a:rPr>
              <a:t>Gujarat Government, GCC Policy 2025–30</a:t>
            </a:r>
            <a:endParaRPr lang="en-US" sz="910" dirty="0"/>
          </a:p>
        </p:txBody>
      </p:sp>
      <p:sp>
        <p:nvSpPr>
          <p:cNvPr id="28" name="Text 26"/>
          <p:cNvSpPr/>
          <p:nvPr/>
        </p:nvSpPr>
        <p:spPr>
          <a:xfrm>
            <a:off x="987552" y="4782312"/>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Official policy landing page; eligibility needs policy-level verification.</a:t>
            </a:r>
            <a:endParaRPr lang="en-US" sz="770" dirty="0"/>
          </a:p>
        </p:txBody>
      </p:sp>
      <p:sp>
        <p:nvSpPr>
          <p:cNvPr id="29" name="Shape 27"/>
          <p:cNvSpPr/>
          <p:nvPr/>
        </p:nvSpPr>
        <p:spPr>
          <a:xfrm>
            <a:off x="658368" y="5221224"/>
            <a:ext cx="228600" cy="228600"/>
          </a:xfrm>
          <a:prstGeom prst="ellipse">
            <a:avLst/>
          </a:prstGeom>
          <a:solidFill>
            <a:srgbClr val="E2F7F3"/>
          </a:solidFill>
          <a:ln w="12700">
            <a:solidFill>
              <a:srgbClr val="E2F7F3">
                <a:alpha val="0"/>
              </a:srgbClr>
            </a:solidFill>
            <a:prstDash val="solid"/>
          </a:ln>
        </p:spPr>
      </p:sp>
      <p:sp>
        <p:nvSpPr>
          <p:cNvPr id="30" name="Text 28"/>
          <p:cNvSpPr/>
          <p:nvPr/>
        </p:nvSpPr>
        <p:spPr>
          <a:xfrm>
            <a:off x="658368" y="5234940"/>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S7</a:t>
            </a:r>
            <a:endParaRPr lang="en-US" sz="720" dirty="0"/>
          </a:p>
        </p:txBody>
      </p:sp>
      <p:sp>
        <p:nvSpPr>
          <p:cNvPr id="31" name="Text 29">
            <a:hlinkClick r:id="rId7" tooltip=""/>
          </p:cNvPr>
          <p:cNvSpPr/>
          <p:nvPr/>
        </p:nvSpPr>
        <p:spPr>
          <a:xfrm>
            <a:off x="987552" y="5157216"/>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7" invalidUrl="" action="" tgtFrame="" tooltip="" history="1" highlightClick="0" endSnd="0">
                  <a:extLst>
                    <a:ext uri="{A12FA001-AC4F-418D-AE19-62706E023703}">
                      <ahyp:hlinkClr xmlns:ahyp="http://schemas.microsoft.com/office/drawing/2018/hyperlinkcolor" val="tx"/>
                    </a:ext>
                  </a:extLst>
                </a:hlinkClick>
              </a:rPr>
              <a:t>Invest Telangana, Protolabs planned GCC (16 Apr 2026)</a:t>
            </a:r>
            <a:endParaRPr lang="en-US" sz="910" dirty="0"/>
          </a:p>
        </p:txBody>
      </p:sp>
      <p:sp>
        <p:nvSpPr>
          <p:cNvPr id="32" name="Text 30"/>
          <p:cNvSpPr/>
          <p:nvPr/>
        </p:nvSpPr>
        <p:spPr>
          <a:xfrm>
            <a:off x="987552" y="5367528"/>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Signal-feed example; 200–300 employee scale reported as planned.</a:t>
            </a:r>
            <a:endParaRPr lang="en-US" sz="770" dirty="0"/>
          </a:p>
        </p:txBody>
      </p:sp>
      <p:sp>
        <p:nvSpPr>
          <p:cNvPr id="33" name="Shape 31"/>
          <p:cNvSpPr/>
          <p:nvPr/>
        </p:nvSpPr>
        <p:spPr>
          <a:xfrm>
            <a:off x="6236208" y="1709928"/>
            <a:ext cx="228600" cy="228600"/>
          </a:xfrm>
          <a:prstGeom prst="ellipse">
            <a:avLst/>
          </a:prstGeom>
          <a:solidFill>
            <a:srgbClr val="E2F7F3"/>
          </a:solidFill>
          <a:ln w="12700">
            <a:solidFill>
              <a:srgbClr val="E2F7F3">
                <a:alpha val="0"/>
              </a:srgbClr>
            </a:solidFill>
            <a:prstDash val="solid"/>
          </a:ln>
        </p:spPr>
      </p:sp>
      <p:sp>
        <p:nvSpPr>
          <p:cNvPr id="34" name="Text 32"/>
          <p:cNvSpPr/>
          <p:nvPr/>
        </p:nvSpPr>
        <p:spPr>
          <a:xfrm>
            <a:off x="6236208" y="1723644"/>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S8</a:t>
            </a:r>
            <a:endParaRPr lang="en-US" sz="720" dirty="0"/>
          </a:p>
        </p:txBody>
      </p:sp>
      <p:sp>
        <p:nvSpPr>
          <p:cNvPr id="35" name="Text 33">
            <a:hlinkClick r:id="rId8" tooltip=""/>
          </p:cNvPr>
          <p:cNvSpPr/>
          <p:nvPr/>
        </p:nvSpPr>
        <p:spPr>
          <a:xfrm>
            <a:off x="6565392" y="1645920"/>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8" invalidUrl="" action="" tgtFrame="" tooltip="" history="1" highlightClick="0" endSnd="0">
                  <a:extLst>
                    <a:ext uri="{A12FA001-AC4F-418D-AE19-62706E023703}">
                      <ahyp:hlinkClr xmlns:ahyp="http://schemas.microsoft.com/office/drawing/2018/hyperlinkcolor" val="tx"/>
                    </a:ext>
                  </a:extLst>
                </a:hlinkClick>
              </a:rPr>
              <a:t>The Times of India, Hyderabad GCC announcements at BioAsia (17 Feb 2026)</a:t>
            </a:r>
            <a:endParaRPr lang="en-US" sz="910" dirty="0"/>
          </a:p>
        </p:txBody>
      </p:sp>
      <p:sp>
        <p:nvSpPr>
          <p:cNvPr id="36" name="Text 34"/>
          <p:cNvSpPr/>
          <p:nvPr/>
        </p:nvSpPr>
        <p:spPr>
          <a:xfrm>
            <a:off x="6565392" y="1856232"/>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Opella / Tredence plans; future footprint and hiring are not realised outcomes.</a:t>
            </a:r>
            <a:endParaRPr lang="en-US" sz="770" dirty="0"/>
          </a:p>
        </p:txBody>
      </p:sp>
      <p:sp>
        <p:nvSpPr>
          <p:cNvPr id="37" name="Shape 35"/>
          <p:cNvSpPr/>
          <p:nvPr/>
        </p:nvSpPr>
        <p:spPr>
          <a:xfrm>
            <a:off x="6236208" y="2295144"/>
            <a:ext cx="228600" cy="228600"/>
          </a:xfrm>
          <a:prstGeom prst="ellipse">
            <a:avLst/>
          </a:prstGeom>
          <a:solidFill>
            <a:srgbClr val="E2F7F3"/>
          </a:solidFill>
          <a:ln w="12700">
            <a:solidFill>
              <a:srgbClr val="E2F7F3">
                <a:alpha val="0"/>
              </a:srgbClr>
            </a:solidFill>
            <a:prstDash val="solid"/>
          </a:ln>
        </p:spPr>
      </p:sp>
      <p:sp>
        <p:nvSpPr>
          <p:cNvPr id="38" name="Text 36"/>
          <p:cNvSpPr/>
          <p:nvPr/>
        </p:nvSpPr>
        <p:spPr>
          <a:xfrm>
            <a:off x="6236208" y="2308860"/>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S9</a:t>
            </a:r>
            <a:endParaRPr lang="en-US" sz="720" dirty="0"/>
          </a:p>
        </p:txBody>
      </p:sp>
      <p:sp>
        <p:nvSpPr>
          <p:cNvPr id="39" name="Text 37">
            <a:hlinkClick r:id="rId9" tooltip=""/>
          </p:cNvPr>
          <p:cNvSpPr/>
          <p:nvPr/>
        </p:nvSpPr>
        <p:spPr>
          <a:xfrm>
            <a:off x="6565392" y="2231136"/>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9" invalidUrl="" action="" tgtFrame="" tooltip="" history="1" highlightClick="0" endSnd="0">
                  <a:extLst>
                    <a:ext uri="{A12FA001-AC4F-418D-AE19-62706E023703}">
                      <ahyp:hlinkClr xmlns:ahyp="http://schemas.microsoft.com/office/drawing/2018/hyperlinkcolor" val="tx"/>
                    </a:ext>
                  </a:extLst>
                </a:hlinkClick>
              </a:rPr>
              <a:t>Cognizant, Citizens Financial Group Hyderabad GCC announcement (15 Apr 2025)</a:t>
            </a:r>
            <a:endParaRPr lang="en-US" sz="910" dirty="0"/>
          </a:p>
        </p:txBody>
      </p:sp>
      <p:sp>
        <p:nvSpPr>
          <p:cNvPr id="40" name="Text 38"/>
          <p:cNvSpPr/>
          <p:nvPr/>
        </p:nvSpPr>
        <p:spPr>
          <a:xfrm>
            <a:off x="6565392" y="2441448"/>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Company newsroom source for an announced/ launched BFSI technology centre.</a:t>
            </a:r>
            <a:endParaRPr lang="en-US" sz="770" dirty="0"/>
          </a:p>
        </p:txBody>
      </p:sp>
      <p:sp>
        <p:nvSpPr>
          <p:cNvPr id="41" name="Shape 39"/>
          <p:cNvSpPr/>
          <p:nvPr/>
        </p:nvSpPr>
        <p:spPr>
          <a:xfrm>
            <a:off x="6236208" y="2880360"/>
            <a:ext cx="228600" cy="228600"/>
          </a:xfrm>
          <a:prstGeom prst="ellipse">
            <a:avLst/>
          </a:prstGeom>
          <a:solidFill>
            <a:srgbClr val="E2F7F3"/>
          </a:solidFill>
          <a:ln w="12700">
            <a:solidFill>
              <a:srgbClr val="E2F7F3">
                <a:alpha val="0"/>
              </a:srgbClr>
            </a:solidFill>
            <a:prstDash val="solid"/>
          </a:ln>
        </p:spPr>
      </p:sp>
      <p:sp>
        <p:nvSpPr>
          <p:cNvPr id="42" name="Text 40"/>
          <p:cNvSpPr/>
          <p:nvPr/>
        </p:nvSpPr>
        <p:spPr>
          <a:xfrm>
            <a:off x="6236208" y="2894076"/>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S10</a:t>
            </a:r>
            <a:endParaRPr lang="en-US" sz="720" dirty="0"/>
          </a:p>
        </p:txBody>
      </p:sp>
      <p:sp>
        <p:nvSpPr>
          <p:cNvPr id="43" name="Text 41">
            <a:hlinkClick r:id="rId10" tooltip=""/>
          </p:cNvPr>
          <p:cNvSpPr/>
          <p:nvPr/>
        </p:nvSpPr>
        <p:spPr>
          <a:xfrm>
            <a:off x="6565392" y="2816352"/>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Bamboo Reports, GCC GTM intelligence</a:t>
            </a:r>
            <a:endParaRPr lang="en-US" sz="910" dirty="0"/>
          </a:p>
        </p:txBody>
      </p:sp>
      <p:sp>
        <p:nvSpPr>
          <p:cNvPr id="44" name="Text 42"/>
          <p:cNvSpPr/>
          <p:nvPr/>
        </p:nvSpPr>
        <p:spPr>
          <a:xfrm>
            <a:off x="6565392" y="3026664"/>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Direct category competitor: account intelligence and sales workflows.</a:t>
            </a:r>
            <a:endParaRPr lang="en-US" sz="770" dirty="0"/>
          </a:p>
        </p:txBody>
      </p:sp>
      <p:sp>
        <p:nvSpPr>
          <p:cNvPr id="45" name="Shape 43"/>
          <p:cNvSpPr/>
          <p:nvPr/>
        </p:nvSpPr>
        <p:spPr>
          <a:xfrm>
            <a:off x="6236208" y="3465576"/>
            <a:ext cx="228600" cy="228600"/>
          </a:xfrm>
          <a:prstGeom prst="ellipse">
            <a:avLst/>
          </a:prstGeom>
          <a:solidFill>
            <a:srgbClr val="E2F7F3"/>
          </a:solidFill>
          <a:ln w="12700">
            <a:solidFill>
              <a:srgbClr val="E2F7F3">
                <a:alpha val="0"/>
              </a:srgbClr>
            </a:solidFill>
            <a:prstDash val="solid"/>
          </a:ln>
        </p:spPr>
      </p:sp>
      <p:sp>
        <p:nvSpPr>
          <p:cNvPr id="46" name="Text 44"/>
          <p:cNvSpPr/>
          <p:nvPr/>
        </p:nvSpPr>
        <p:spPr>
          <a:xfrm>
            <a:off x="6236208" y="3479292"/>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S11</a:t>
            </a:r>
            <a:endParaRPr lang="en-US" sz="720" dirty="0"/>
          </a:p>
        </p:txBody>
      </p:sp>
      <p:sp>
        <p:nvSpPr>
          <p:cNvPr id="47" name="Text 45">
            <a:hlinkClick r:id="rId11" tooltip=""/>
          </p:cNvPr>
          <p:cNvSpPr/>
          <p:nvPr/>
        </p:nvSpPr>
        <p:spPr>
          <a:xfrm>
            <a:off x="6565392" y="3401568"/>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GCC Index, product and methodology positioning</a:t>
            </a:r>
            <a:endParaRPr lang="en-US" sz="910" dirty="0"/>
          </a:p>
        </p:txBody>
      </p:sp>
      <p:sp>
        <p:nvSpPr>
          <p:cNvPr id="48" name="Text 46"/>
          <p:cNvSpPr/>
          <p:nvPr/>
        </p:nvSpPr>
        <p:spPr>
          <a:xfrm>
            <a:off x="6565392" y="3611880"/>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Direct category competitor: public-event capture and real-time intelligence claims.</a:t>
            </a:r>
            <a:endParaRPr lang="en-US" sz="770" dirty="0"/>
          </a:p>
        </p:txBody>
      </p:sp>
      <p:sp>
        <p:nvSpPr>
          <p:cNvPr id="49" name="Shape 47"/>
          <p:cNvSpPr/>
          <p:nvPr/>
        </p:nvSpPr>
        <p:spPr>
          <a:xfrm>
            <a:off x="6236208" y="4050792"/>
            <a:ext cx="228600" cy="228600"/>
          </a:xfrm>
          <a:prstGeom prst="ellipse">
            <a:avLst/>
          </a:prstGeom>
          <a:solidFill>
            <a:srgbClr val="E2F7F3"/>
          </a:solidFill>
          <a:ln w="12700">
            <a:solidFill>
              <a:srgbClr val="E2F7F3">
                <a:alpha val="0"/>
              </a:srgbClr>
            </a:solidFill>
            <a:prstDash val="solid"/>
          </a:ln>
        </p:spPr>
      </p:sp>
      <p:sp>
        <p:nvSpPr>
          <p:cNvPr id="50" name="Text 48"/>
          <p:cNvSpPr/>
          <p:nvPr/>
        </p:nvSpPr>
        <p:spPr>
          <a:xfrm>
            <a:off x="6236208" y="4064508"/>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S12</a:t>
            </a:r>
            <a:endParaRPr lang="en-US" sz="720" dirty="0"/>
          </a:p>
        </p:txBody>
      </p:sp>
      <p:sp>
        <p:nvSpPr>
          <p:cNvPr id="51" name="Text 49">
            <a:hlinkClick r:id="rId12" tooltip=""/>
          </p:cNvPr>
          <p:cNvSpPr/>
          <p:nvPr/>
        </p:nvSpPr>
        <p:spPr>
          <a:xfrm>
            <a:off x="6565392" y="3986784"/>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Sansovi GCC, directory and intelligence platform</a:t>
            </a:r>
            <a:endParaRPr lang="en-US" sz="910" dirty="0"/>
          </a:p>
        </p:txBody>
      </p:sp>
      <p:sp>
        <p:nvSpPr>
          <p:cNvPr id="52" name="Text 50"/>
          <p:cNvSpPr/>
          <p:nvPr/>
        </p:nvSpPr>
        <p:spPr>
          <a:xfrm>
            <a:off x="6565392" y="4197096"/>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Direct category competitor: GCC directory, profiles and vertical intelligence.</a:t>
            </a:r>
            <a:endParaRPr lang="en-US" sz="770" dirty="0"/>
          </a:p>
        </p:txBody>
      </p:sp>
      <p:sp>
        <p:nvSpPr>
          <p:cNvPr id="53" name="Shape 51"/>
          <p:cNvSpPr/>
          <p:nvPr/>
        </p:nvSpPr>
        <p:spPr>
          <a:xfrm>
            <a:off x="6236208" y="4636008"/>
            <a:ext cx="228600" cy="228600"/>
          </a:xfrm>
          <a:prstGeom prst="ellipse">
            <a:avLst/>
          </a:prstGeom>
          <a:solidFill>
            <a:srgbClr val="E2F7F3"/>
          </a:solidFill>
          <a:ln w="12700">
            <a:solidFill>
              <a:srgbClr val="E2F7F3">
                <a:alpha val="0"/>
              </a:srgbClr>
            </a:solidFill>
            <a:prstDash val="solid"/>
          </a:ln>
        </p:spPr>
      </p:sp>
      <p:sp>
        <p:nvSpPr>
          <p:cNvPr id="54" name="Text 52"/>
          <p:cNvSpPr/>
          <p:nvPr/>
        </p:nvSpPr>
        <p:spPr>
          <a:xfrm>
            <a:off x="6236208" y="4649724"/>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S13</a:t>
            </a:r>
            <a:endParaRPr lang="en-US" sz="720" dirty="0"/>
          </a:p>
        </p:txBody>
      </p:sp>
      <p:sp>
        <p:nvSpPr>
          <p:cNvPr id="55" name="Text 53">
            <a:hlinkClick r:id="rId13" tooltip=""/>
          </p:cNvPr>
          <p:cNvSpPr/>
          <p:nvPr/>
        </p:nvSpPr>
        <p:spPr>
          <a:xfrm>
            <a:off x="6565392" y="4572000"/>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ANSR, GCC setup and operations</a:t>
            </a:r>
            <a:endParaRPr lang="en-US" sz="910" dirty="0"/>
          </a:p>
        </p:txBody>
      </p:sp>
      <p:sp>
        <p:nvSpPr>
          <p:cNvPr id="56" name="Text 54"/>
          <p:cNvSpPr/>
          <p:nvPr/>
        </p:nvSpPr>
        <p:spPr>
          <a:xfrm>
            <a:off x="6565392" y="4782312"/>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Provider profile: GCC-as-a-Service, BOT and lifecycle operations.</a:t>
            </a:r>
            <a:endParaRPr lang="en-US" sz="770" dirty="0"/>
          </a:p>
        </p:txBody>
      </p:sp>
      <p:sp>
        <p:nvSpPr>
          <p:cNvPr id="57" name="Shape 55"/>
          <p:cNvSpPr/>
          <p:nvPr/>
        </p:nvSpPr>
        <p:spPr>
          <a:xfrm>
            <a:off x="6236208" y="5221224"/>
            <a:ext cx="228600" cy="228600"/>
          </a:xfrm>
          <a:prstGeom prst="ellipse">
            <a:avLst/>
          </a:prstGeom>
          <a:solidFill>
            <a:srgbClr val="E2F7F3"/>
          </a:solidFill>
          <a:ln w="12700">
            <a:solidFill>
              <a:srgbClr val="E2F7F3">
                <a:alpha val="0"/>
              </a:srgbClr>
            </a:solidFill>
            <a:prstDash val="solid"/>
          </a:ln>
        </p:spPr>
      </p:sp>
      <p:sp>
        <p:nvSpPr>
          <p:cNvPr id="58" name="Text 56"/>
          <p:cNvSpPr/>
          <p:nvPr/>
        </p:nvSpPr>
        <p:spPr>
          <a:xfrm>
            <a:off x="6236208" y="5234940"/>
            <a:ext cx="228600" cy="137160"/>
          </a:xfrm>
          <a:prstGeom prst="rect">
            <a:avLst/>
          </a:prstGeom>
          <a:noFill/>
          <a:ln/>
        </p:spPr>
        <p:txBody>
          <a:bodyPr wrap="square" lIns="0" tIns="0" rIns="0" bIns="0" rtlCol="0" anchor="ctr">
            <a:normAutofit/>
          </a:bodyPr>
          <a:lstStyle/>
          <a:p>
            <a:pPr algn="ctr" indent="0" marL="0">
              <a:buNone/>
            </a:pPr>
            <a:r>
              <a:rPr lang="en-US" sz="720" b="1" dirty="0">
                <a:solidFill>
                  <a:srgbClr val="00A994"/>
                </a:solidFill>
                <a:latin typeface="Aptos" pitchFamily="34" charset="0"/>
                <a:ea typeface="Aptos" pitchFamily="34" charset="-122"/>
                <a:cs typeface="Aptos" pitchFamily="34" charset="-120"/>
              </a:rPr>
              <a:t>S14</a:t>
            </a:r>
            <a:endParaRPr lang="en-US" sz="720" dirty="0"/>
          </a:p>
        </p:txBody>
      </p:sp>
      <p:sp>
        <p:nvSpPr>
          <p:cNvPr id="59" name="Text 57">
            <a:hlinkClick r:id="rId14" tooltip=""/>
          </p:cNvPr>
          <p:cNvSpPr/>
          <p:nvPr/>
        </p:nvSpPr>
        <p:spPr>
          <a:xfrm>
            <a:off x="6565392" y="5157216"/>
            <a:ext cx="4800600" cy="182880"/>
          </a:xfrm>
          <a:prstGeom prst="rect">
            <a:avLst/>
          </a:prstGeom>
          <a:noFill/>
          <a:ln/>
        </p:spPr>
        <p:txBody>
          <a:bodyPr wrap="square" lIns="0" tIns="0" rIns="0" bIns="0" rtlCol="0" anchor="ctr">
            <a:normAutofit/>
          </a:bodyPr>
          <a:lstStyle/>
          <a:p>
            <a:pPr algn="l" indent="0" marL="0">
              <a:buNone/>
            </a:pPr>
            <a:r>
              <a:rPr lang="en-US" sz="910" b="1" u="sng" dirty="0">
                <a:solidFill>
                  <a:srgbClr val="17283F"/>
                </a:solidFill>
                <a:latin typeface="Aptos" pitchFamily="34" charset="0"/>
                <a:ea typeface="Aptos" pitchFamily="34" charset="-122"/>
                <a:cs typeface="Apto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Mercer, GCC Pay benchmarking</a:t>
            </a:r>
            <a:endParaRPr lang="en-US" sz="910" dirty="0"/>
          </a:p>
        </p:txBody>
      </p:sp>
      <p:sp>
        <p:nvSpPr>
          <p:cNvPr id="60" name="Text 58"/>
          <p:cNvSpPr/>
          <p:nvPr/>
        </p:nvSpPr>
        <p:spPr>
          <a:xfrm>
            <a:off x="6565392" y="5367528"/>
            <a:ext cx="4800600" cy="274320"/>
          </a:xfrm>
          <a:prstGeom prst="rect">
            <a:avLst/>
          </a:prstGeom>
          <a:noFill/>
          <a:ln/>
        </p:spPr>
        <p:txBody>
          <a:bodyPr wrap="square" lIns="0" tIns="0" rIns="0" bIns="0" rtlCol="0" anchor="t">
            <a:normAutofit/>
          </a:bodyPr>
          <a:lstStyle/>
          <a:p>
            <a:pPr algn="l" indent="0" marL="0">
              <a:buNone/>
            </a:pPr>
            <a:r>
              <a:rPr lang="en-US" sz="770" dirty="0">
                <a:solidFill>
                  <a:srgbClr val="718196"/>
                </a:solidFill>
                <a:latin typeface="Aptos" pitchFamily="34" charset="0"/>
                <a:ea typeface="Aptos" pitchFamily="34" charset="-122"/>
                <a:cs typeface="Aptos" pitchFamily="34" charset="-120"/>
              </a:rPr>
              <a:t>Specialist compensation benchmarking capability.</a:t>
            </a:r>
            <a:endParaRPr lang="en-US" sz="770" dirty="0"/>
          </a:p>
        </p:txBody>
      </p:sp>
      <p:sp>
        <p:nvSpPr>
          <p:cNvPr id="61" name="Shape 59"/>
          <p:cNvSpPr/>
          <p:nvPr/>
        </p:nvSpPr>
        <p:spPr>
          <a:xfrm>
            <a:off x="685800" y="5916168"/>
            <a:ext cx="10817352" cy="0"/>
          </a:xfrm>
          <a:prstGeom prst="line">
            <a:avLst/>
          </a:prstGeom>
          <a:noFill/>
          <a:ln w="8890">
            <a:solidFill>
              <a:srgbClr val="DEE6EC"/>
            </a:solidFill>
            <a:prstDash val="solid"/>
            <a:headEnd type="none"/>
            <a:tailEnd type="none"/>
          </a:ln>
        </p:spPr>
      </p:sp>
      <p:sp>
        <p:nvSpPr>
          <p:cNvPr id="62" name="Text 60"/>
          <p:cNvSpPr/>
          <p:nvPr/>
        </p:nvSpPr>
        <p:spPr>
          <a:xfrm>
            <a:off x="704088" y="6016752"/>
            <a:ext cx="10744200" cy="310896"/>
          </a:xfrm>
          <a:prstGeom prst="rect">
            <a:avLst/>
          </a:prstGeom>
          <a:noFill/>
          <a:ln/>
        </p:spPr>
        <p:txBody>
          <a:bodyPr wrap="square" lIns="0" tIns="0" rIns="0" bIns="0" rtlCol="0" anchor="ctr">
            <a:normAutofit/>
          </a:bodyPr>
          <a:lstStyle/>
          <a:p>
            <a:pPr algn="l" indent="0" marL="0">
              <a:buNone/>
            </a:pPr>
            <a:r>
              <a:rPr lang="en-US" sz="800" i="1" dirty="0">
                <a:solidFill>
                  <a:srgbClr val="718196"/>
                </a:solidFill>
                <a:latin typeface="Aptos" pitchFamily="34" charset="0"/>
                <a:ea typeface="Aptos" pitchFamily="34" charset="-122"/>
                <a:cs typeface="Aptos" pitchFamily="34" charset="-120"/>
              </a:rPr>
              <a:t>Caveats: vendor capabilities and counts are vendor-published claims; press releases can describe plans rather than completed activity. GCC companies ≠ GCC units ≠ physical offices ≠ leasing volume. Market shares are tied to source definitions and publication dates.</a:t>
            </a:r>
            <a:endParaRPr lang="en-US" sz="800" dirty="0"/>
          </a:p>
        </p:txBody>
      </p:sp>
      <p:sp>
        <p:nvSpPr>
          <p:cNvPr id="25" name="Slide Number Placeholder 0"/>
          <p:cNvSpPr>
            <a:spLocks noGrp="1"/>
          </p:cNvSpPr>
          <p:nvPr>
            <p:ph type="sldNum" sz="quarter" idx="4294967295"/>
          </p:nvPr>
        </p:nvSpPr>
        <p:spPr>
          <a:xfrm>
            <a:off x="11292840" y="6556248"/>
            <a:ext cx="800000" cy="300000"/>
          </a:xfrm>
          <a:prstGeom prst="rect">
            <a:avLst/>
          </a:prstGeom>
          <a:extLst>
            <a:ext uri="{C572A759-6A51-4108-AA02-DFA0A04FC94B}">
              <ma14:wrappingTextBoxFlag xmlns:ma14="http://schemas.microsoft.com/office/mac/drawingml/2011/main" val="0"/>
            </a:ext>
          </a:extLst>
        </p:spPr>
        <p:txBody>
          <a:bodyPr/>
          <a:lstStyle>
            <a:lvl1pPr>
              <a:defRPr sz="750">
                <a:solidFill>
                  <a:srgbClr val="728195"/>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GCC Atlas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GCC Atlas — From fragmented signals to confident decisions</dc:title>
  <dc:subject>Evidence-led intelligence for India’s GCC ecosystem</dc:subject>
  <dc:creator>GCC Atlas</dc:creator>
  <cp:lastModifiedBy>GCC Atlas</cp:lastModifiedBy>
  <cp:revision>1</cp:revision>
  <dcterms:created xsi:type="dcterms:W3CDTF">2026-10-21T05:53:03Z</dcterms:created>
  <dcterms:modified xsi:type="dcterms:W3CDTF">2026-10-21T05:53:03Z</dcterms:modified>
</cp:coreProperties>
</file>